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12" r:id="rId3"/>
    <p:sldId id="321" r:id="rId4"/>
    <p:sldId id="313" r:id="rId5"/>
    <p:sldId id="314" r:id="rId6"/>
    <p:sldId id="315" r:id="rId7"/>
    <p:sldId id="272" r:id="rId8"/>
    <p:sldId id="322" r:id="rId9"/>
    <p:sldId id="273" r:id="rId10"/>
    <p:sldId id="323" r:id="rId11"/>
    <p:sldId id="260" r:id="rId12"/>
    <p:sldId id="262" r:id="rId13"/>
    <p:sldId id="263" r:id="rId14"/>
    <p:sldId id="264" r:id="rId15"/>
    <p:sldId id="267" r:id="rId16"/>
    <p:sldId id="268" r:id="rId17"/>
    <p:sldId id="265" r:id="rId18"/>
    <p:sldId id="271" r:id="rId19"/>
    <p:sldId id="270" r:id="rId20"/>
    <p:sldId id="266" r:id="rId21"/>
    <p:sldId id="324" r:id="rId22"/>
    <p:sldId id="280" r:id="rId23"/>
    <p:sldId id="325" r:id="rId24"/>
    <p:sldId id="282" r:id="rId25"/>
    <p:sldId id="288" r:id="rId26"/>
    <p:sldId id="289" r:id="rId27"/>
    <p:sldId id="290" r:id="rId28"/>
    <p:sldId id="286" r:id="rId29"/>
    <p:sldId id="261" r:id="rId30"/>
    <p:sldId id="31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 showGuide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45BF5-E078-F541-A3CC-F289E98F39D2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EBADE-1AE4-C741-870D-22D65B0C6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2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F1F7C-FD86-E74B-B7DD-1F55C88E90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6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BF6C-3FD6-B540-A9FE-83CBB7B95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FF1C6-BE8A-3F4B-ADCC-16885C400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419C-E312-3948-A346-E534733C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D2EA0-86B1-A444-8C21-4A6F5A93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F84B9-EE5F-3741-9A3E-20989C7B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0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7DBD-7EF3-9B4F-B8E0-68DAEEB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F3337-D595-5149-A9EE-3B02DDB3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2DFEE-57F6-BD45-BA20-5858E9695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5407-C060-144E-8E1B-11F63D5F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0E8B5-9692-2C4F-A753-5A7A394E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60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9492-C207-D940-ABEB-18F28F92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A195D-4695-114C-A004-A5713928B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605B4-89F2-B942-A0BD-9880B43D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492F-8055-EA4F-A079-9BB4CF21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7C01A-37EA-C84A-B9A2-CF512744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4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2AF9-624B-FD4C-9006-3FC2BF23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45AD4-A9B2-BC4D-8A90-7722C3E0C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8FD94-5D54-C940-BA83-D81ED4446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C94E8-3892-E544-BBD2-E9DC18A3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C8661-EB1B-3944-B50F-A08203F39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22383-AE04-1340-984C-CCFD9A09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3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7F92-F00E-4D40-A3AC-39C10192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E7510-BCF7-4743-8FE3-BCB577979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B7987-AF1A-FD41-91F5-B74D92D9F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AF59DC-3530-D342-AEB0-8D47BC80F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1F2FC-8387-DC4E-AAA2-EDFCC48FB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259E9-6691-064B-ACAD-378C1E90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6A94AE-A788-3544-A76E-360B273E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DCB9C-E82B-9C46-90EA-E78981C35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2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FE417-6E73-C548-BAD2-B7CAD62DF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5B25E-12CC-6E41-897B-E6764D04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A4EE-03BC-0345-B195-934BBB41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68CAC-2062-834E-91D4-3F00FBDF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2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5EDBA-716F-7D4A-AD0F-247217664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BED75-1760-E942-BDE3-6F70A991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763F-42E5-0541-8C8B-63F013CC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4242A-E2CF-0C4D-96E3-38518C03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D8CF-CA3E-0549-BBFA-33AFE7709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19A43-2418-F94E-A718-2013AB61A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8F2D5-39FB-044B-BBA3-430A0523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E0EFD-4B24-514C-8E5D-82EABB80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C5DC-0826-8044-9299-A84834A2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D037-B64E-3B4D-B06E-23548BA1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9EC46-8621-7141-BF77-2F4231420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3C15F-364D-8D41-A04A-40B8C87E8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8D971-A7C9-6748-915D-83303B7E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109A8-E4CC-F540-98D0-7D211974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BB9A1-721B-3F47-9638-8BCF5177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0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2797-81F1-F84B-A65F-CC54D8BF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F3618-DC93-9041-BD51-E2DA3CA20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60A27-A291-7B4C-9B78-C876A383A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8702-D9D8-B54C-B0EB-15A19C2F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B45F3-F940-684F-AB70-5A6CA806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12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4CCB9-B762-9A45-92CC-36BA8FD63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9775E-E666-9A47-A196-1046C5FB1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F4E01-E389-A54F-A286-42976BE5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1D66F-B575-9947-82FB-0937715BE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554CE-7452-9447-8D1F-AAC95864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8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B485B-031A-9642-8C76-79420990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DD796-9674-0C4E-B4DE-D5FF3C5B6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439E4-87AC-5A46-AE88-F99CD3937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38E4A-27CB-8D47-B1C9-51CCF3A946A1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61259-B3D7-4848-ABEC-9B9E1AEBF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0A2A0-E148-A846-9F09-BBFFDEE7E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1973F-416B-2448-95F7-4DEA19A2A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2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002B-458B-464F-9664-B59F93710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83174"/>
            <a:ext cx="12192000" cy="1330036"/>
          </a:xfrm>
        </p:spPr>
        <p:txBody>
          <a:bodyPr>
            <a:noAutofit/>
          </a:bodyPr>
          <a:lstStyle/>
          <a:p>
            <a:r>
              <a:rPr lang="en-US" sz="4800" dirty="0"/>
              <a:t>Introduction to the </a:t>
            </a:r>
            <a:r>
              <a:rPr lang="en-US" sz="4800" b="1" dirty="0">
                <a:solidFill>
                  <a:srgbClr val="C00000"/>
                </a:solidFill>
              </a:rPr>
              <a:t>TTU Climate Cen</a:t>
            </a:r>
            <a:r>
              <a:rPr lang="en-US" sz="4800" dirty="0">
                <a:solidFill>
                  <a:srgbClr val="C00000"/>
                </a:solidFill>
              </a:rPr>
              <a:t>ter </a:t>
            </a:r>
            <a:r>
              <a:rPr lang="en-US" sz="4800" dirty="0"/>
              <a:t>and the </a:t>
            </a:r>
            <a:r>
              <a:rPr lang="en-US" sz="4800" b="1" dirty="0">
                <a:solidFill>
                  <a:srgbClr val="C00000"/>
                </a:solidFill>
              </a:rPr>
              <a:t>National Climate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B33A2-B3F6-8945-9DD1-98809C740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3054" y="2149841"/>
            <a:ext cx="9144000" cy="15168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Nick Smith</a:t>
            </a:r>
          </a:p>
          <a:p>
            <a:r>
              <a:rPr lang="en-US" dirty="0" err="1"/>
              <a:t>Assc</a:t>
            </a:r>
            <a:r>
              <a:rPr lang="en-US" dirty="0"/>
              <a:t>. Prof., Department of Biological Sciences, TTU</a:t>
            </a:r>
          </a:p>
          <a:p>
            <a:r>
              <a:rPr lang="en-US" dirty="0"/>
              <a:t>Director, Climate Center, TTU</a:t>
            </a:r>
          </a:p>
          <a:p>
            <a:r>
              <a:rPr lang="en-US" dirty="0" err="1"/>
              <a:t>nick.smith@ttu.edu</a:t>
            </a:r>
            <a:endParaRPr lang="en-US" dirty="0"/>
          </a:p>
        </p:txBody>
      </p:sp>
      <p:pic>
        <p:nvPicPr>
          <p:cNvPr id="8" name="Picture 7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BCDF18C4-B930-4FBA-7B0B-C3DBC3017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338"/>
          <a:stretch>
            <a:fillRect/>
          </a:stretch>
        </p:blipFill>
        <p:spPr>
          <a:xfrm>
            <a:off x="2207172" y="3803305"/>
            <a:ext cx="2813291" cy="2853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6DD170-8905-89CA-A64F-ED07EAC43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74346"/>
            <a:ext cx="47879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4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83AE-3D6A-0941-B5B8-6EFF504A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29A58-479D-BD41-A8F5-4A67C18B8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TTU Climate Center</a:t>
            </a:r>
            <a:endParaRPr lang="en-US" sz="3600" dirty="0">
              <a:solidFill>
                <a:srgbClr val="CC4A07"/>
              </a:solidFill>
            </a:endParaRP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Who we are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What we do</a:t>
            </a:r>
          </a:p>
          <a:p>
            <a:r>
              <a:rPr lang="en-US" sz="4000" dirty="0"/>
              <a:t>National Climate Assessment (NCA5)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What is the NCA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NCA5 Ch. 26: Southern Great Plains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F156A-BFB4-1049-92FD-8BFF4EF7F46D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F41AB5D0-FD31-0691-9DC5-83E5A2615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338"/>
          <a:stretch>
            <a:fillRect/>
          </a:stretch>
        </p:blipFill>
        <p:spPr>
          <a:xfrm>
            <a:off x="8744606" y="1147861"/>
            <a:ext cx="2813291" cy="2853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1A3539-26FE-0715-91CD-28B886F25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494" y="4975756"/>
            <a:ext cx="3379514" cy="12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5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7312-E57F-ED4A-0D86-5D8702EF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87E1-B270-3892-ED78-B8F01928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25041-466E-48AA-3821-F6EA4E6F3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TTU Climate Center</a:t>
            </a:r>
            <a:endParaRPr lang="en-US" sz="3600" dirty="0">
              <a:solidFill>
                <a:srgbClr val="CC4A07"/>
              </a:solidFill>
            </a:endParaRP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Who we are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What we do</a:t>
            </a:r>
          </a:p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National Climate Assessment (NCA5)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What is the NCA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NCA5 Ch. 26: Southern Great Plains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B2BED-08E6-6D6A-A23B-C084D586B641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B82919E0-1C34-9CCC-50D6-9D5161816D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338"/>
          <a:stretch>
            <a:fillRect/>
          </a:stretch>
        </p:blipFill>
        <p:spPr>
          <a:xfrm>
            <a:off x="8744606" y="1147861"/>
            <a:ext cx="2813291" cy="28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9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3C1-9301-234D-94D5-3CC433DA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TTU Climate Center: </a:t>
            </a:r>
            <a:r>
              <a:rPr lang="en-US" dirty="0">
                <a:solidFill>
                  <a:srgbClr val="C00000"/>
                </a:solidFill>
              </a:rPr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875F-8DD0-314B-BFD0-B6FF6263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90688"/>
            <a:ext cx="5257800" cy="4351338"/>
          </a:xfrm>
        </p:spPr>
        <p:txBody>
          <a:bodyPr/>
          <a:lstStyle/>
          <a:p>
            <a:r>
              <a:rPr lang="en-US" dirty="0"/>
              <a:t>Member of USGS-funded Climate Adaptation Science Centers (CASCs)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BA178-0676-EC4B-9C06-056FDC701F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66"/>
          <a:stretch/>
        </p:blipFill>
        <p:spPr>
          <a:xfrm>
            <a:off x="0" y="1690688"/>
            <a:ext cx="6096000" cy="4905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AC68E-2B65-D245-B247-2FBA0EAA552E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8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D59FEDAE-38A2-4F27-CF6A-7E3FDEB8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338"/>
          <a:stretch>
            <a:fillRect/>
          </a:stretch>
        </p:blipFill>
        <p:spPr>
          <a:xfrm>
            <a:off x="9378709" y="4004567"/>
            <a:ext cx="2813291" cy="28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3C1-9301-234D-94D5-3CC433DA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TTU Climate Center: </a:t>
            </a:r>
            <a:r>
              <a:rPr lang="en-US" dirty="0">
                <a:solidFill>
                  <a:srgbClr val="C00000"/>
                </a:solidFill>
              </a:rPr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875F-8DD0-314B-BFD0-B6FF6263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90688"/>
            <a:ext cx="5257800" cy="4351338"/>
          </a:xfrm>
        </p:spPr>
        <p:txBody>
          <a:bodyPr/>
          <a:lstStyle/>
          <a:p>
            <a:r>
              <a:rPr lang="en-US" dirty="0"/>
              <a:t>Consortium institution of the South Central CASC (SC-CASC)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BA178-0676-EC4B-9C06-056FDC701F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30" t="56793" r="33135"/>
          <a:stretch/>
        </p:blipFill>
        <p:spPr>
          <a:xfrm>
            <a:off x="1596787" y="1482539"/>
            <a:ext cx="3466531" cy="4938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AC68E-2B65-D245-B247-2FBA0EAA552E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8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9DFE744A-439C-CF63-1BC7-09A0D082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338"/>
          <a:stretch>
            <a:fillRect/>
          </a:stretch>
        </p:blipFill>
        <p:spPr>
          <a:xfrm>
            <a:off x="9378709" y="4004567"/>
            <a:ext cx="2813291" cy="28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70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3C1-9301-234D-94D5-3CC433DA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TTU Climate Center: </a:t>
            </a:r>
            <a:r>
              <a:rPr lang="en-US" dirty="0">
                <a:solidFill>
                  <a:srgbClr val="C00000"/>
                </a:solidFill>
              </a:rPr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875F-8DD0-314B-BFD0-B6FF62635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662" y="1690688"/>
            <a:ext cx="6109138" cy="23138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SC-CASC: 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Provide decision makers </a:t>
            </a:r>
            <a:r>
              <a:rPr lang="en-US" sz="2200" dirty="0"/>
              <a:t>with the science, tools, and information they need to address the impacts of climate variability and change 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Transform how climate science is conducted </a:t>
            </a:r>
            <a:r>
              <a:rPr lang="en-US" sz="2200" dirty="0"/>
              <a:t>and applied in the south-central US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Support big thinking</a:t>
            </a:r>
            <a:r>
              <a:rPr lang="en-US" sz="2200" dirty="0"/>
              <a:t>, including multi-institutional and stakeholder-driven approaches to assessing the impact of climate on natural and cultural resources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BA178-0676-EC4B-9C06-056FDC701F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430" t="56793" r="33135"/>
          <a:stretch/>
        </p:blipFill>
        <p:spPr>
          <a:xfrm>
            <a:off x="1596787" y="1482539"/>
            <a:ext cx="3466531" cy="4938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AC68E-2B65-D245-B247-2FBA0EAA552E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8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58F79476-E29A-9917-B985-7FD0ED666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338"/>
          <a:stretch>
            <a:fillRect/>
          </a:stretch>
        </p:blipFill>
        <p:spPr>
          <a:xfrm>
            <a:off x="9378709" y="4004567"/>
            <a:ext cx="2813291" cy="28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3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C3C1-AAE9-3A48-A1D9-38EA8F85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TTU Climate Center: </a:t>
            </a:r>
            <a:r>
              <a:rPr lang="en-US" dirty="0">
                <a:solidFill>
                  <a:srgbClr val="C00000"/>
                </a:solidFill>
              </a:rPr>
              <a:t>Who we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DDACE-CD54-DA41-9F3E-FA02D917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19699" cy="4351338"/>
          </a:xfrm>
        </p:spPr>
        <p:txBody>
          <a:bodyPr/>
          <a:lstStyle/>
          <a:p>
            <a:r>
              <a:rPr lang="en-US" dirty="0"/>
              <a:t>&gt;100 active members</a:t>
            </a:r>
          </a:p>
          <a:p>
            <a:pPr lvl="1"/>
            <a:r>
              <a:rPr lang="en-US" dirty="0"/>
              <a:t>Faculty, students and postdocs</a:t>
            </a:r>
          </a:p>
          <a:p>
            <a:r>
              <a:rPr lang="en-US" dirty="0"/>
              <a:t>12 TTU Colleges</a:t>
            </a:r>
          </a:p>
          <a:p>
            <a:r>
              <a:rPr lang="en-US" dirty="0"/>
              <a:t>36 TTU Departments</a:t>
            </a:r>
          </a:p>
          <a:p>
            <a:r>
              <a:rPr lang="en-US" dirty="0"/>
              <a:t>Open to anyone interested in, passionate about, or doing climate-related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8AB60-24F5-EB43-B928-F9020F623176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E80C77EE-7982-35C4-BBD1-63B76CE9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338"/>
          <a:stretch>
            <a:fillRect/>
          </a:stretch>
        </p:blipFill>
        <p:spPr>
          <a:xfrm>
            <a:off x="9378709" y="4004567"/>
            <a:ext cx="2813291" cy="28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5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8282-2FB4-FA7A-6992-824BF0E7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A7A1-599F-349E-D370-E08A97F4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ECDEE-156E-3BE8-2EB9-9F3BCCC06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TTU Climate Center</a:t>
            </a:r>
            <a:endParaRPr lang="en-US" sz="3600" dirty="0">
              <a:solidFill>
                <a:srgbClr val="CC4A07"/>
              </a:solidFill>
            </a:endParaRP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Who we are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What we do</a:t>
            </a:r>
          </a:p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National Climate Assessment (NCA5)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What is the NCA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NCA5 Ch. 26: Southern Great Plains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A5417-E84D-B39C-F528-7E91642B1B04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17BDA2ED-8D12-F36E-8631-4EA422E7F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338"/>
          <a:stretch>
            <a:fillRect/>
          </a:stretch>
        </p:blipFill>
        <p:spPr>
          <a:xfrm>
            <a:off x="8744606" y="1147861"/>
            <a:ext cx="2813291" cy="285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9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C3C1-AAE9-3A48-A1D9-38EA8F85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TTU Climate Center: </a:t>
            </a:r>
            <a:r>
              <a:rPr lang="en-US" dirty="0">
                <a:solidFill>
                  <a:srgbClr val="C00000"/>
                </a:solidFill>
              </a:rPr>
              <a:t>What we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DDACE-CD54-DA41-9F3E-FA02D9178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19699" cy="4351338"/>
          </a:xfrm>
        </p:spPr>
        <p:txBody>
          <a:bodyPr/>
          <a:lstStyle/>
          <a:p>
            <a:r>
              <a:rPr lang="en-US" dirty="0"/>
              <a:t>Serve as regional hub for climate change</a:t>
            </a:r>
          </a:p>
          <a:p>
            <a:r>
              <a:rPr lang="en-US" dirty="0"/>
              <a:t>Work with community members and stakeholders</a:t>
            </a:r>
          </a:p>
          <a:p>
            <a:r>
              <a:rPr lang="en-US" dirty="0"/>
              <a:t>All areas of research that intersect with climate</a:t>
            </a:r>
          </a:p>
          <a:p>
            <a:r>
              <a:rPr lang="en-US" dirty="0"/>
              <a:t>Monthly research and outreach meetings</a:t>
            </a:r>
          </a:p>
          <a:p>
            <a:r>
              <a:rPr lang="en-US" dirty="0"/>
              <a:t>Events</a:t>
            </a:r>
          </a:p>
          <a:p>
            <a:pPr lvl="1"/>
            <a:r>
              <a:rPr lang="en-US" dirty="0"/>
              <a:t>Informational events on and off campus</a:t>
            </a:r>
          </a:p>
          <a:p>
            <a:pPr lvl="1"/>
            <a:r>
              <a:rPr lang="en-US" dirty="0"/>
              <a:t>Science by the Glass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8AB60-24F5-EB43-B928-F9020F623176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75665C-47D2-1C4C-A30F-435CA67A5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762226"/>
            <a:ext cx="2735088" cy="1709430"/>
          </a:xfrm>
          <a:prstGeom prst="rect">
            <a:avLst/>
          </a:prstGeom>
        </p:spPr>
      </p:pic>
      <p:pic>
        <p:nvPicPr>
          <p:cNvPr id="9" name="Picture 8" descr="A black background with red and white letters&#10;&#10;AI-generated content may be incorrect.">
            <a:extLst>
              <a:ext uri="{FF2B5EF4-FFF2-40B4-BE49-F238E27FC236}">
                <a16:creationId xmlns:a16="http://schemas.microsoft.com/office/drawing/2014/main" id="{0239F5DF-257C-0B94-F9AC-23DCA08EC2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338"/>
          <a:stretch>
            <a:fillRect/>
          </a:stretch>
        </p:blipFill>
        <p:spPr>
          <a:xfrm>
            <a:off x="9378709" y="4004567"/>
            <a:ext cx="2813291" cy="2853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40AB6E-5B95-7641-549D-BBC679555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899" y="847906"/>
            <a:ext cx="2410106" cy="30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1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9380-DF91-957C-178C-87665E076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E22C-9BEC-969D-7CEE-81E5DCD8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8140-0CF9-1822-C99A-88EBFBA9B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TTU Climate Center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Who we are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What we do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Where we are going</a:t>
            </a:r>
          </a:p>
          <a:p>
            <a:r>
              <a:rPr lang="en-US" sz="4000" dirty="0"/>
              <a:t>National Climate Assessment (NCA5)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What is the NCA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NCA5 Ch. 26: Southern Great Plains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22E4C-A0D5-3C66-BE24-BA3D6A6855ED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E7A81C-C9CC-0124-83C2-140E815BF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494" y="4975756"/>
            <a:ext cx="3379514" cy="12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9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F877-DA47-2845-ABAC-9D6DEBE1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NCA?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2C140-F477-934E-AA97-604F56DE9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 government report</a:t>
            </a:r>
          </a:p>
          <a:p>
            <a:pPr lvl="1"/>
            <a:r>
              <a:rPr lang="en-US" dirty="0"/>
              <a:t>Congressionally mandated and overseen by multiple agencies</a:t>
            </a:r>
          </a:p>
          <a:p>
            <a:pPr lvl="1"/>
            <a:r>
              <a:rPr lang="en-US" dirty="0"/>
              <a:t>Delivered to congress and the president</a:t>
            </a:r>
          </a:p>
          <a:p>
            <a:r>
              <a:rPr lang="en-US" dirty="0"/>
              <a:t>Climate change impacts, risks, and responses for USA</a:t>
            </a:r>
          </a:p>
          <a:p>
            <a:r>
              <a:rPr lang="en-US" dirty="0"/>
              <a:t>Provides scientific foundation for decision making</a:t>
            </a:r>
          </a:p>
          <a:p>
            <a:r>
              <a:rPr lang="en-US" dirty="0"/>
              <a:t>Policy relevant, but policy neutral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F93C9-F3FC-274D-87B4-12A07C2D0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9915D5-1FEC-6F4E-8A86-97A0F85EB833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D9DD7-EE76-AF4B-ADE6-E1BE642156E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1179" y="4678061"/>
            <a:ext cx="3236574" cy="19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64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NCA? </a:t>
            </a:r>
            <a:r>
              <a:rPr lang="en-US" dirty="0">
                <a:solidFill>
                  <a:srgbClr val="7030A0"/>
                </a:solidFill>
              </a:rPr>
              <a:t>Mandate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 of the Global Change Research Act of 1990</a:t>
            </a:r>
          </a:p>
          <a:p>
            <a:r>
              <a:rPr lang="en-US" dirty="0"/>
              <a:t>Every 4 years a report that “</a:t>
            </a:r>
            <a:r>
              <a:rPr lang="en-US" dirty="0">
                <a:solidFill>
                  <a:srgbClr val="7030A0"/>
                </a:solidFill>
              </a:rPr>
              <a:t>analyzes the effects of global change on </a:t>
            </a:r>
            <a:r>
              <a:rPr lang="en-US" dirty="0"/>
              <a:t>the natural environment, agriculture, energy production and use, land and water resources, transportation, human health and welfare, human social systems, and biological diversity; </a:t>
            </a:r>
            <a:r>
              <a:rPr lang="en-US" dirty="0">
                <a:solidFill>
                  <a:srgbClr val="7030A0"/>
                </a:solidFill>
              </a:rPr>
              <a:t>and analyzes current trends in global change</a:t>
            </a:r>
            <a:r>
              <a:rPr lang="en-US" dirty="0"/>
              <a:t>, both human-induced and natural, and </a:t>
            </a:r>
            <a:r>
              <a:rPr lang="en-US" dirty="0">
                <a:solidFill>
                  <a:srgbClr val="7030A0"/>
                </a:solidFill>
              </a:rPr>
              <a:t>projects major trends </a:t>
            </a:r>
            <a:r>
              <a:rPr lang="en-US" dirty="0"/>
              <a:t>for the subsequent 25 to 100 years”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EC5CD-3402-8E4C-841D-F8638130400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0772" y="4822536"/>
            <a:ext cx="2350527" cy="2049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F44839-2CE5-D4E2-4369-2985176A6B17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437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NCA? </a:t>
            </a:r>
            <a:r>
              <a:rPr lang="en-US" dirty="0">
                <a:solidFill>
                  <a:srgbClr val="7030A0"/>
                </a:solidFill>
              </a:rPr>
              <a:t>Review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Reviewed by:</a:t>
            </a:r>
          </a:p>
          <a:p>
            <a:pPr lvl="1"/>
            <a:r>
              <a:rPr lang="en-US" dirty="0"/>
              <a:t>Federal government experts</a:t>
            </a:r>
          </a:p>
          <a:p>
            <a:pPr lvl="1"/>
            <a:r>
              <a:rPr lang="en-US" dirty="0"/>
              <a:t>External experts</a:t>
            </a:r>
          </a:p>
          <a:p>
            <a:pPr lvl="1"/>
            <a:r>
              <a:rPr lang="en-US" dirty="0"/>
              <a:t>General public</a:t>
            </a:r>
          </a:p>
          <a:p>
            <a:pPr lvl="1"/>
            <a:r>
              <a:rPr lang="en-US" dirty="0"/>
              <a:t>External reviewers from NASEM</a:t>
            </a:r>
          </a:p>
          <a:p>
            <a:r>
              <a:rPr lang="en-US" dirty="0"/>
              <a:t>Review by each group multiple times throughout the process</a:t>
            </a:r>
          </a:p>
          <a:p>
            <a:r>
              <a:rPr lang="en-US" dirty="0"/>
              <a:t>All reviews responded 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83829-D0D2-4F49-A3FF-68FD1D13906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4084" y="1090672"/>
            <a:ext cx="3634072" cy="27206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7035A-B08B-15C7-C5E3-06600BB9D858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78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NCA? </a:t>
            </a:r>
            <a:r>
              <a:rPr lang="en-US" dirty="0">
                <a:solidFill>
                  <a:srgbClr val="7030A0"/>
                </a:solidFill>
              </a:rPr>
              <a:t>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Audience: decision makers</a:t>
            </a:r>
          </a:p>
          <a:p>
            <a:pPr lvl="1"/>
            <a:r>
              <a:rPr lang="en-US" dirty="0"/>
              <a:t>national, state, local, and Tribal governments, city planners, public health officials, adaptation specialists, nurses, farmers, business owners, community organizers, researchers, water utilities, ecosystem managers, educators, students, the media, and concerned individuals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38AB3-CBA4-9648-AD4B-839C56FF73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677" y="3845355"/>
            <a:ext cx="4705928" cy="2647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6FBDEF-41DE-DC49-0049-2B844F1C1C20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303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NCA? </a:t>
            </a:r>
            <a:r>
              <a:rPr lang="en-US" dirty="0">
                <a:solidFill>
                  <a:srgbClr val="7030A0"/>
                </a:solidFill>
              </a:rPr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chapter has list of key messages</a:t>
            </a:r>
          </a:p>
          <a:p>
            <a:pPr lvl="1"/>
            <a:r>
              <a:rPr lang="en-US" dirty="0"/>
              <a:t>Conclusions based on authors’ expert judgment and synthesis of the assessed information sources</a:t>
            </a:r>
          </a:p>
          <a:p>
            <a:pPr lvl="1"/>
            <a:r>
              <a:rPr lang="en-US" dirty="0"/>
              <a:t>Often present findings in the context of risks to natural and/or human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F49595-9544-2243-A63C-FBC62FEC273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1059" y="3648828"/>
            <a:ext cx="2410536" cy="3214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05E659-3DBD-C4DD-9BED-FA4214B3BE82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923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NCA? </a:t>
            </a:r>
            <a:r>
              <a:rPr lang="en-US" dirty="0">
                <a:solidFill>
                  <a:srgbClr val="7030A0"/>
                </a:solidFill>
              </a:rPr>
              <a:t>Confidence and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Calibrated terms in key messages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Confidence</a:t>
            </a:r>
            <a:r>
              <a:rPr lang="en-US" dirty="0"/>
              <a:t>: based on the type, amount, quality, strength, and consistency of evidence; the skill, range, and consistency of methods to detect, evaluate, attribute, and interpret climate trends; and the degree of agreement across scientific information sources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Likelihood</a:t>
            </a:r>
            <a:r>
              <a:rPr lang="en-US" dirty="0"/>
              <a:t>: based on measures of certainty expressed probabilistically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D851C-F155-CD41-A2EF-16D8FE3374E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0880" y="4097472"/>
            <a:ext cx="3620732" cy="24183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0EA759-5E1D-120D-FAFB-4CE090E3C930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474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NCA? </a:t>
            </a:r>
            <a:r>
              <a:rPr lang="en-US" dirty="0">
                <a:solidFill>
                  <a:srgbClr val="7030A0"/>
                </a:solidFill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categories of chapters</a:t>
            </a:r>
          </a:p>
          <a:p>
            <a:pPr lvl="1"/>
            <a:r>
              <a:rPr lang="en-US" dirty="0"/>
              <a:t>Overview chapter (Ch. 1)</a:t>
            </a:r>
          </a:p>
          <a:p>
            <a:pPr lvl="1"/>
            <a:r>
              <a:rPr lang="en-US" dirty="0"/>
              <a:t>Physical science chapters (Ch. 2-3)</a:t>
            </a:r>
          </a:p>
          <a:p>
            <a:pPr lvl="1"/>
            <a:r>
              <a:rPr lang="en-US" dirty="0"/>
              <a:t>National topics chapters (Ch. 4-20)</a:t>
            </a:r>
          </a:p>
          <a:p>
            <a:pPr lvl="1"/>
            <a:r>
              <a:rPr lang="en-US" dirty="0"/>
              <a:t>Regional chapters (Ch. 21-30)</a:t>
            </a:r>
          </a:p>
          <a:p>
            <a:pPr lvl="1"/>
            <a:r>
              <a:rPr lang="en-US" dirty="0"/>
              <a:t>Response chapters (Ch. 31-32)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2E8C07-1B41-6244-AAB2-4567656AB8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3265" y="1194054"/>
            <a:ext cx="3915710" cy="3043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602C7C-B628-8554-1C64-F63071627121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99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643FB2-879E-8A4A-9972-80539172F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279"/>
            <a:ext cx="12192000" cy="6005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4F449D-AFE9-EB95-9D08-767AD35A3D37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754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CD96-5532-1742-B780-A9E27668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NCA5? </a:t>
            </a:r>
            <a:r>
              <a:rPr lang="en-US" dirty="0">
                <a:solidFill>
                  <a:srgbClr val="7030A0"/>
                </a:solidFill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57C76-51ED-C14D-A68B-3CC8D32BF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categories of chapters</a:t>
            </a:r>
          </a:p>
          <a:p>
            <a:pPr lvl="1"/>
            <a:r>
              <a:rPr lang="en-US" dirty="0"/>
              <a:t>Overview chapter (Ch. 1)</a:t>
            </a:r>
          </a:p>
          <a:p>
            <a:pPr lvl="1"/>
            <a:r>
              <a:rPr lang="en-US" dirty="0"/>
              <a:t>Physical science chapters (Ch. 2-3)</a:t>
            </a:r>
          </a:p>
          <a:p>
            <a:pPr lvl="1"/>
            <a:r>
              <a:rPr lang="en-US" dirty="0"/>
              <a:t>National topics chapters (Ch. 4-20)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Regional chapters (Ch. 21-30)</a:t>
            </a:r>
          </a:p>
          <a:p>
            <a:pPr lvl="1"/>
            <a:r>
              <a:rPr lang="en-US" dirty="0"/>
              <a:t>Response chapters (Ch. 31-32)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978BC-2713-1B48-91FF-A0B0308D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41" y="4822536"/>
            <a:ext cx="47879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25C3B-F318-E24B-A92A-43D623AB42B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6407" y="1478252"/>
            <a:ext cx="3666234" cy="2693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2B532F-34C2-DECB-4360-1A89BE34AECD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259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52A043-DB88-3C4B-A02F-E090B47F2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67" y="0"/>
            <a:ext cx="867186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A909A3-442B-C979-F145-CDE53E58BFFC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223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5D01-8589-1328-1CED-5B644E86A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6A62-08BB-03D1-F1C9-0449995C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935E3-C3A8-1F26-739F-C2EAC31E5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TTU Climate Center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Who we are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What we do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Where we are going</a:t>
            </a:r>
          </a:p>
          <a:p>
            <a:r>
              <a:rPr lang="en-US" sz="4000" dirty="0"/>
              <a:t>National Climate Assessment (NCA5)</a:t>
            </a:r>
          </a:p>
          <a:p>
            <a:pPr lvl="1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What is the NCA</a:t>
            </a:r>
          </a:p>
          <a:p>
            <a:pPr lvl="1"/>
            <a:r>
              <a:rPr lang="en-US" sz="3600" dirty="0">
                <a:solidFill>
                  <a:srgbClr val="C00000"/>
                </a:solidFill>
              </a:rPr>
              <a:t>NCA5 Ch. 26: Southern Great Plains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04FC7-939A-2EAF-C208-14D8A056B4DE}"/>
              </a:ext>
            </a:extLst>
          </p:cNvPr>
          <p:cNvSpPr txBox="1"/>
          <p:nvPr/>
        </p:nvSpPr>
        <p:spPr>
          <a:xfrm>
            <a:off x="0" y="6471656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214A92-A27E-ED8D-31D8-74BFAEA63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494" y="4975756"/>
            <a:ext cx="3379514" cy="12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73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8D2E59-1430-BC41-B072-F540E07F7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794"/>
            <a:ext cx="12192000" cy="426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71D797-5CAF-988C-D433-46C544AFBCC1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503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3345-B1A2-A940-211A-FF38C6BD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Health-related Key Messages from NCA5 SGP chapter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F282-105C-C34B-0876-CCEA7C097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Climate change is putting us at risk from climate hazards that </a:t>
            </a:r>
            <a:r>
              <a:rPr lang="en-US" dirty="0">
                <a:solidFill>
                  <a:srgbClr val="C00000"/>
                </a:solidFill>
              </a:rPr>
              <a:t>degrade our health and well-being</a:t>
            </a:r>
            <a:r>
              <a:rPr lang="en-US" dirty="0"/>
              <a:t> (high confidence).</a:t>
            </a:r>
          </a:p>
          <a:p>
            <a:r>
              <a:rPr lang="en-US" dirty="0"/>
              <a:t>Climate change is expected to </a:t>
            </a:r>
            <a:r>
              <a:rPr lang="en-US" dirty="0">
                <a:solidFill>
                  <a:srgbClr val="C00000"/>
                </a:solidFill>
              </a:rPr>
              <a:t>increase heat-related illness and death</a:t>
            </a:r>
            <a:r>
              <a:rPr lang="en-US" dirty="0"/>
              <a:t> (very likely, high confidence).</a:t>
            </a:r>
          </a:p>
          <a:p>
            <a:r>
              <a:rPr lang="en-US" dirty="0"/>
              <a:t>Climate change will </a:t>
            </a:r>
            <a:r>
              <a:rPr lang="en-US" dirty="0">
                <a:solidFill>
                  <a:srgbClr val="C00000"/>
                </a:solidFill>
              </a:rPr>
              <a:t>compound existing burdens</a:t>
            </a:r>
            <a:r>
              <a:rPr lang="en-US" dirty="0"/>
              <a:t>, with the greatest impact on people with the fewest resources to prepare and adapt (very high confidence).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institutions that serve our communities have been challenged </a:t>
            </a:r>
            <a:r>
              <a:rPr lang="en-US" dirty="0"/>
              <a:t>to respond and adapt (medium confidence).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7BFEC-ED18-597C-B3F7-A760851F8E6D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543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1B3576-3E8A-2B40-B64C-E09B399C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-1"/>
            <a:ext cx="9144001" cy="6858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7975B1-B618-1568-D7DA-419E05DE685F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504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3097B5-472E-0147-A443-63BF46AC8E1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3011" y="0"/>
            <a:ext cx="894597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119F68-96F1-7CC4-7AF9-83F653CFD13D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455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529016-73E2-6C4E-B421-2246FFD040D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0102" y="0"/>
            <a:ext cx="899179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BD301A-EF20-967F-DDF0-28C7E1753C80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164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8ABC74-A62E-5743-8D3B-C16DFB43BE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5877" y="0"/>
            <a:ext cx="896024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4D71D7-0BC0-8AB6-115C-721CDBA7F672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7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0A81EA-06B5-BE4B-8131-4C0F03E1B0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188" y="0"/>
            <a:ext cx="917162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4464A-CE5E-BF01-5115-F2074A343C12}"/>
              </a:ext>
            </a:extLst>
          </p:cNvPr>
          <p:cNvSpPr txBox="1"/>
          <p:nvPr/>
        </p:nvSpPr>
        <p:spPr>
          <a:xfrm>
            <a:off x="0" y="6500648"/>
            <a:ext cx="204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nick.smith@ttu.edu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803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286A9F-332D-1744-8881-B29242EF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079" y="365124"/>
            <a:ext cx="4950921" cy="64928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322C69-5CBD-E240-87F4-F05A6649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437" y="726739"/>
            <a:ext cx="3657600" cy="365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D9F59-F14F-6B43-BC3E-858319F88EC4}"/>
              </a:ext>
            </a:extLst>
          </p:cNvPr>
          <p:cNvSpPr txBox="1"/>
          <p:nvPr/>
        </p:nvSpPr>
        <p:spPr>
          <a:xfrm>
            <a:off x="7367289" y="4543667"/>
            <a:ext cx="3317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 Limón, 24</a:t>
            </a:r>
            <a:r>
              <a:rPr lang="en-US" baseline="30000" dirty="0"/>
              <a:t>th</a:t>
            </a:r>
            <a:r>
              <a:rPr lang="en-US" dirty="0"/>
              <a:t> US Poet Laureate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575D9-EEE9-5244-8B13-AED108E5815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6459" y="5403909"/>
            <a:ext cx="5450006" cy="143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8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1004" y="19484"/>
            <a:ext cx="9630770" cy="6838516"/>
          </a:xfrm>
          <a:prstGeom prst="rect">
            <a:avLst/>
          </a:prstGeom>
        </p:spPr>
      </p:pic>
      <p:sp>
        <p:nvSpPr>
          <p:cNvPr id="4" name="Oval Callout 3"/>
          <p:cNvSpPr/>
          <p:nvPr/>
        </p:nvSpPr>
        <p:spPr>
          <a:xfrm>
            <a:off x="7812741" y="2286000"/>
            <a:ext cx="2070847" cy="1452282"/>
          </a:xfrm>
          <a:prstGeom prst="wedgeEllipseCallout">
            <a:avLst>
              <a:gd name="adj1" fmla="val -76028"/>
              <a:gd name="adj2" fmla="val 8472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rgbClr val="C00000"/>
                </a:solidFill>
              </a:rPr>
              <a:t>Thanks!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F0BB1-5183-D24C-9A32-AECF3E7CDD10}"/>
              </a:ext>
            </a:extLst>
          </p:cNvPr>
          <p:cNvSpPr txBox="1"/>
          <p:nvPr/>
        </p:nvSpPr>
        <p:spPr>
          <a:xfrm>
            <a:off x="1460313" y="169588"/>
            <a:ext cx="6464205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Presentation available at:</a:t>
            </a:r>
          </a:p>
          <a:p>
            <a:r>
              <a:rPr lang="en-US" sz="2200" dirty="0" err="1">
                <a:solidFill>
                  <a:srgbClr val="C00000"/>
                </a:solidFill>
              </a:rPr>
              <a:t>www.github.com</a:t>
            </a:r>
            <a:r>
              <a:rPr lang="en-US" sz="2200" dirty="0">
                <a:solidFill>
                  <a:srgbClr val="C00000"/>
                </a:solidFill>
              </a:rPr>
              <a:t>/</a:t>
            </a:r>
            <a:r>
              <a:rPr lang="en-US" sz="2200" dirty="0" err="1">
                <a:solidFill>
                  <a:srgbClr val="C00000"/>
                </a:solidFill>
              </a:rPr>
              <a:t>SmithEcophysLab</a:t>
            </a:r>
            <a:r>
              <a:rPr lang="en-US" sz="2200" dirty="0">
                <a:solidFill>
                  <a:srgbClr val="C00000"/>
                </a:solidFill>
              </a:rPr>
              <a:t>/seminar/2025_hsc</a:t>
            </a:r>
          </a:p>
          <a:p>
            <a:endParaRPr lang="en-US" sz="2200" dirty="0">
              <a:solidFill>
                <a:srgbClr val="C00000"/>
              </a:solidFill>
            </a:endParaRPr>
          </a:p>
          <a:p>
            <a:r>
              <a:rPr lang="en-US" sz="2200">
                <a:solidFill>
                  <a:srgbClr val="C00000"/>
                </a:solidFill>
              </a:rPr>
              <a:t>nick</a:t>
            </a:r>
            <a:r>
              <a:rPr lang="en-US" sz="2200" dirty="0" err="1">
                <a:solidFill>
                  <a:srgbClr val="C00000"/>
                </a:solidFill>
              </a:rPr>
              <a:t>.smith@ttu.edu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50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1089</Words>
  <Application>Microsoft Macintosh PowerPoint</Application>
  <PresentationFormat>Widescreen</PresentationFormat>
  <Paragraphs>147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Office Theme</vt:lpstr>
      <vt:lpstr>Introduction to the TTU Climate Center and the National Climate Assessment</vt:lpstr>
      <vt:lpstr>Outline</vt:lpstr>
      <vt:lpstr>Outline</vt:lpstr>
      <vt:lpstr>TTU Climate Center: Who we are</vt:lpstr>
      <vt:lpstr>TTU Climate Center: Who we are</vt:lpstr>
      <vt:lpstr>TTU Climate Center: Who we are</vt:lpstr>
      <vt:lpstr>TTU Climate Center: Who we are</vt:lpstr>
      <vt:lpstr>Outline</vt:lpstr>
      <vt:lpstr>TTU Climate Center: What we do</vt:lpstr>
      <vt:lpstr>Outline</vt:lpstr>
      <vt:lpstr>What is the NCA? </vt:lpstr>
      <vt:lpstr>What is NCA? Mandate</vt:lpstr>
      <vt:lpstr>What is NCA? Review process</vt:lpstr>
      <vt:lpstr>What is NCA? Audience</vt:lpstr>
      <vt:lpstr>What is NCA? Structure</vt:lpstr>
      <vt:lpstr>What is NCA? Confidence and Likelihood</vt:lpstr>
      <vt:lpstr>What is NCA? Content</vt:lpstr>
      <vt:lpstr>PowerPoint Presentation</vt:lpstr>
      <vt:lpstr>What is NCA5? Content</vt:lpstr>
      <vt:lpstr>PowerPoint Presentation</vt:lpstr>
      <vt:lpstr>Outline</vt:lpstr>
      <vt:lpstr>PowerPoint Presentation</vt:lpstr>
      <vt:lpstr>Health-related Key Messages from NCA5 SGP chapter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Smith</dc:creator>
  <cp:lastModifiedBy>Smith, Nick</cp:lastModifiedBy>
  <cp:revision>65</cp:revision>
  <cp:lastPrinted>2023-11-14T16:40:27Z</cp:lastPrinted>
  <dcterms:created xsi:type="dcterms:W3CDTF">2023-11-14T14:36:17Z</dcterms:created>
  <dcterms:modified xsi:type="dcterms:W3CDTF">2025-09-15T17:55:51Z</dcterms:modified>
</cp:coreProperties>
</file>