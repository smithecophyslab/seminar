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525" r:id="rId2"/>
    <p:sldId id="526" r:id="rId3"/>
    <p:sldId id="527" r:id="rId4"/>
    <p:sldId id="588" r:id="rId5"/>
    <p:sldId id="270" r:id="rId6"/>
    <p:sldId id="589" r:id="rId7"/>
    <p:sldId id="529" r:id="rId8"/>
    <p:sldId id="566" r:id="rId9"/>
    <p:sldId id="590" r:id="rId10"/>
    <p:sldId id="591" r:id="rId11"/>
    <p:sldId id="592" r:id="rId12"/>
    <p:sldId id="593" r:id="rId13"/>
    <p:sldId id="594" r:id="rId14"/>
    <p:sldId id="595" r:id="rId15"/>
    <p:sldId id="596" r:id="rId16"/>
    <p:sldId id="59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9"/>
    <p:restoredTop sz="94657"/>
  </p:normalViewPr>
  <p:slideViewPr>
    <p:cSldViewPr snapToGrid="0">
      <p:cViewPr varScale="1">
        <p:scale>
          <a:sx n="114" d="100"/>
          <a:sy n="114" d="100"/>
        </p:scale>
        <p:origin x="176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77AC-AFC8-CAFC-DACE-E7FA8039A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EC4A-762C-682B-5242-20206BA289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F6A3AB-55AA-A03C-A944-C9D878B57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BC308-8553-B24F-984F-04FA9AE29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406243-7BF2-87F7-B123-5FA9679C9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049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004F-32CD-5C85-46E1-23358A65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F82E7-AF92-2CC2-8354-3A8472C6D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23D5E-48E1-FEFA-A339-F968E64F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75004-2EFF-7B61-962F-1F80C5417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23E34-4B72-0988-FDBF-BBFC5A20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37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3B12-05EB-D219-6F85-6B78C83CF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B348B0-0D4B-D4BF-F6B5-EBC261E42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8747C-6E89-3D55-14E6-B0AA8812C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73F6A-36B6-6C05-5A7C-6657E3D46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45E2A-3930-9436-828C-0FE9D067F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17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8AD59-E9E2-4DB3-4954-43396CABE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3BD21-85CA-00FA-242D-B626E461CC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2FEFC-31E5-39BF-68CD-07EA8BD7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30912-8EE7-55BF-5271-29D2D9D8F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30B5F-934C-07DE-2F49-A195D770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CA0E1-4E87-AA22-C328-2E6CC2E4E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525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6ECDF-9D04-508B-53CA-71407D36F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30494-01E5-4D78-C220-05DDB6316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341897-C4B5-CE6C-AA41-4C0E5FC316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90DFC-ED66-49BD-765C-7E6BB6DB7B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889283-7B39-EC06-675C-DEA12B7A8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60FBE5-1AF2-15F1-4501-BF6D9F631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4CDE3C-2C41-01FF-EA81-DF6371F96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BC2B7D-ABEF-15DC-B06D-215D5C6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138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6B8D-45B1-E230-1E58-3BE6E7127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CBD305-8B22-91ED-B965-C7E33B6CF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856B13-8849-D3B7-6AF5-996A68EDB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76CC4B-A5BA-B75A-C223-7B6E2C409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543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D903C0-48F6-0371-1096-63FB6569C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4F9CF6-F75A-7AF4-4E18-BF0EF877F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744E1-8EE3-4B34-B8D9-5EB723D5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432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AE3D6-E8E0-FDF2-E524-4C1560E32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8AF8D-6FC9-EE7A-993F-C0D7E4449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9FD3-6C09-EA0E-15CE-45EC2191F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F9EECE-5299-523C-2743-32523179A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6561D0-296E-E8E7-9078-F1329E0C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630EC-38E8-28B7-2D98-A63B31C0D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81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72239-2BDF-1472-4ADB-5CB0E0C61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7C3635-61A0-17A6-9286-C22A88F593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26AA2-8675-9339-17C8-495A1EDAAB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9270-8869-16EA-789F-441FB3438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742F2-A6BF-EE10-1B3E-D2A0ED8C8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60094-82DE-2876-098E-14F1CDC3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82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B9626-1A14-0921-535D-0C541D1A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103D3B-386B-D292-3853-2AAC86CBBA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BF9DC-080E-B682-0919-81B8D8D10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FE392-6765-A119-F8F0-6E9F44651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A59E8-828F-4AE1-E7BD-606FD844C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442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723AB9-60D6-540E-3B79-9DCF071C2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9F5044-2060-36DD-B1A0-52F94BB3AA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9D728-6A55-175D-26BC-BD8D91300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62F44-B1F2-CD84-7E97-C8D96E73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69C49-2083-046B-219D-8BE26822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98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C83C61-9BBA-02CE-ADDC-0209EABDC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3F75C-C23C-9B67-5537-387BAFFCCB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AFF519-C415-BCB8-6829-8900D6507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3F032-BA39-D244-8281-1D866CB9DC4D}" type="datetimeFigureOut">
              <a:rPr lang="en-US" smtClean="0"/>
              <a:t>8/18/25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29978-BD1E-AFE4-83FB-79BE72BE6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65B39-DEA6-A88C-8D58-C98497B90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F4EA94-A3D1-1441-B5BD-FDC2B3C772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0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B2D5E2-AF7B-C345-BE3C-D7BD2BCEFE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99"/>
          <a:stretch/>
        </p:blipFill>
        <p:spPr>
          <a:xfrm>
            <a:off x="-1" y="7336"/>
            <a:ext cx="12192000" cy="6850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A441E5-3D55-F040-90AD-D008C8367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5068"/>
            <a:ext cx="9144000" cy="2387600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>
            <a:normAutofit/>
          </a:bodyPr>
          <a:lstStyle/>
          <a:p>
            <a:r>
              <a:rPr lang="en-US" sz="4400" dirty="0">
                <a:solidFill>
                  <a:srgbClr val="011893"/>
                </a:solidFill>
              </a:rPr>
              <a:t>Using experiments to evaluate models of photosynthetic acclimation to global change</a:t>
            </a:r>
            <a:endParaRPr lang="en-US" dirty="0">
              <a:solidFill>
                <a:srgbClr val="01189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E65786-8F48-8941-8659-88E4122EC0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1620" y="3820006"/>
            <a:ext cx="6108758" cy="2236237"/>
          </a:xfrm>
          <a:solidFill>
            <a:schemeClr val="bg1"/>
          </a:solidFill>
          <a:ln w="76200">
            <a:solidFill>
              <a:srgbClr val="011893"/>
            </a:solidFill>
          </a:ln>
        </p:spPr>
        <p:txBody>
          <a:bodyPr>
            <a:normAutofit/>
          </a:bodyPr>
          <a:lstStyle/>
          <a:p>
            <a:r>
              <a:rPr lang="en-US" sz="4400" b="1" dirty="0"/>
              <a:t>Nick Smith</a:t>
            </a:r>
          </a:p>
          <a:p>
            <a:r>
              <a:rPr lang="en-US" dirty="0">
                <a:solidFill>
                  <a:srgbClr val="011893"/>
                </a:solidFill>
              </a:rPr>
              <a:t>Department of Biological Sciences</a:t>
            </a:r>
          </a:p>
          <a:p>
            <a:r>
              <a:rPr lang="en-US" dirty="0">
                <a:solidFill>
                  <a:srgbClr val="011893"/>
                </a:solidFill>
              </a:rPr>
              <a:t>Texas Tech University</a:t>
            </a:r>
          </a:p>
          <a:p>
            <a:r>
              <a:rPr lang="en-US" dirty="0" err="1">
                <a:solidFill>
                  <a:srgbClr val="011893"/>
                </a:solidFill>
              </a:rPr>
              <a:t>nick.smith@ttu.edu</a:t>
            </a:r>
            <a:endParaRPr lang="en-US" dirty="0">
              <a:solidFill>
                <a:srgbClr val="01189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BB3B42-93C9-0A8E-961A-EB37E0D54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538" y="5884078"/>
            <a:ext cx="3644462" cy="96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087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007FC-3A78-2693-72F5-A1C202CDE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What is photosynthetic acclimation?</a:t>
            </a:r>
          </a:p>
        </p:txBody>
      </p:sp>
    </p:spTree>
    <p:extLst>
      <p:ext uri="{BB962C8B-B14F-4D97-AF65-F5344CB8AC3E}">
        <p14:creationId xmlns:p14="http://schemas.microsoft.com/office/powerpoint/2010/main" val="4126403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4A37-5C31-C2C2-CA9C-AAB3B8FD4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>
                <a:solidFill>
                  <a:srgbClr val="011893"/>
                </a:solidFill>
              </a:rPr>
              <a:t>“A physiological, structural, or biochemical adjustment by an individual plant in response to an experimentally induced environmental stimulus that is manifested as alterations in the short-term response function of a physiological process.”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95F0C-48EE-B16C-4C45-05CBFD5BBE1C}"/>
              </a:ext>
            </a:extLst>
          </p:cNvPr>
          <p:cNvSpPr txBox="1"/>
          <p:nvPr/>
        </p:nvSpPr>
        <p:spPr>
          <a:xfrm>
            <a:off x="9648419" y="6488668"/>
            <a:ext cx="2543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and Dukes (2013)</a:t>
            </a:r>
          </a:p>
        </p:txBody>
      </p:sp>
    </p:spTree>
    <p:extLst>
      <p:ext uri="{BB962C8B-B14F-4D97-AF65-F5344CB8AC3E}">
        <p14:creationId xmlns:p14="http://schemas.microsoft.com/office/powerpoint/2010/main" val="16096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503012" y="1907303"/>
            <a:ext cx="3617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11893"/>
                </a:solidFill>
              </a:rPr>
              <a:t>Acclimated to high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4271" y="1907303"/>
            <a:ext cx="35158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11893"/>
                </a:solidFill>
              </a:rPr>
              <a:t>Acclimated to low light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855" y="2168913"/>
            <a:ext cx="4572000" cy="4572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4611" y="2168913"/>
            <a:ext cx="4572000" cy="4572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F8957B7-3CFC-9345-8C20-DF08977A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Acclimation: an example</a:t>
            </a:r>
          </a:p>
        </p:txBody>
      </p:sp>
    </p:spTree>
    <p:extLst>
      <p:ext uri="{BB962C8B-B14F-4D97-AF65-F5344CB8AC3E}">
        <p14:creationId xmlns:p14="http://schemas.microsoft.com/office/powerpoint/2010/main" val="335687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503012" y="1907303"/>
            <a:ext cx="3617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11893"/>
                </a:solidFill>
              </a:rPr>
              <a:t>Acclimated to high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4271" y="1907303"/>
            <a:ext cx="35158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11893"/>
                </a:solidFill>
              </a:rPr>
              <a:t>Acclimated to low light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2855" y="2168913"/>
            <a:ext cx="4572000" cy="4572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4611" y="2168913"/>
            <a:ext cx="4572000" cy="4572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F8957B7-3CFC-9345-8C20-DF08977A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Acclimation: an example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FAB900-405B-C14C-ADF2-622BB5585A42}"/>
              </a:ext>
            </a:extLst>
          </p:cNvPr>
          <p:cNvCxnSpPr/>
          <p:nvPr/>
        </p:nvCxnSpPr>
        <p:spPr>
          <a:xfrm flipV="1">
            <a:off x="3962400" y="3643745"/>
            <a:ext cx="0" cy="1898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754B4D-D408-0349-9760-DA62774653D5}"/>
              </a:ext>
            </a:extLst>
          </p:cNvPr>
          <p:cNvCxnSpPr>
            <a:cxnSpLocks/>
          </p:cNvCxnSpPr>
          <p:nvPr/>
        </p:nvCxnSpPr>
        <p:spPr>
          <a:xfrm flipV="1">
            <a:off x="8049489" y="4668982"/>
            <a:ext cx="0" cy="8728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C0DC352-F631-8C43-8EEE-2D8678BB83C1}"/>
              </a:ext>
            </a:extLst>
          </p:cNvPr>
          <p:cNvSpPr txBox="1"/>
          <p:nvPr/>
        </p:nvSpPr>
        <p:spPr>
          <a:xfrm>
            <a:off x="609600" y="6317673"/>
            <a:ext cx="955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Photosynthesis peaks a light level close to the level the leaf is acclimated to</a:t>
            </a:r>
          </a:p>
        </p:txBody>
      </p:sp>
    </p:spTree>
    <p:extLst>
      <p:ext uri="{BB962C8B-B14F-4D97-AF65-F5344CB8AC3E}">
        <p14:creationId xmlns:p14="http://schemas.microsoft.com/office/powerpoint/2010/main" val="848472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Acclimation is ubiquitous and well known</a:t>
            </a:r>
            <a:r>
              <a:rPr lang="mr-IN" dirty="0"/>
              <a:t>…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56233" y="2829687"/>
            <a:ext cx="4469984" cy="25915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11671" y="2829687"/>
            <a:ext cx="3617259" cy="240121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905" y="2829687"/>
            <a:ext cx="3752328" cy="2301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3905" y="2354520"/>
            <a:ext cx="25032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11893"/>
                </a:solidFill>
              </a:rPr>
              <a:t>CO</a:t>
            </a:r>
            <a:r>
              <a:rPr lang="en-US" sz="2400" baseline="-25000" dirty="0">
                <a:solidFill>
                  <a:srgbClr val="011893"/>
                </a:solidFill>
              </a:rPr>
              <a:t>2</a:t>
            </a:r>
            <a:r>
              <a:rPr lang="en-US" sz="2400" dirty="0">
                <a:solidFill>
                  <a:srgbClr val="011893"/>
                </a:solidFill>
              </a:rPr>
              <a:t>: </a:t>
            </a:r>
            <a:r>
              <a:rPr lang="en-US" sz="2400" dirty="0" err="1"/>
              <a:t>Bazzaz</a:t>
            </a:r>
            <a:r>
              <a:rPr lang="en-US" sz="2400" dirty="0"/>
              <a:t> (1990)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2164" y="2354519"/>
            <a:ext cx="31146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11893"/>
                </a:solidFill>
              </a:rPr>
              <a:t>Light: </a:t>
            </a:r>
            <a:r>
              <a:rPr lang="en-US" sz="2400" dirty="0"/>
              <a:t>Boardman (1977)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6217" y="2013421"/>
            <a:ext cx="3595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11893"/>
                </a:solidFill>
              </a:rPr>
              <a:t>Temperature: </a:t>
            </a:r>
            <a:r>
              <a:rPr lang="en-US" sz="2400" dirty="0"/>
              <a:t>Berry &amp; </a:t>
            </a:r>
            <a:r>
              <a:rPr lang="en-US" sz="2400" dirty="0" err="1"/>
              <a:t>Björkman</a:t>
            </a:r>
            <a:r>
              <a:rPr lang="en-US" sz="2400" dirty="0"/>
              <a:t> (1980)</a:t>
            </a:r>
          </a:p>
        </p:txBody>
      </p:sp>
    </p:spTree>
    <p:extLst>
      <p:ext uri="{BB962C8B-B14F-4D97-AF65-F5344CB8AC3E}">
        <p14:creationId xmlns:p14="http://schemas.microsoft.com/office/powerpoint/2010/main" val="761040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…and can impact carbon cycling and climate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B4194B-748E-4A43-BC8A-5938EB896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09894"/>
            <a:ext cx="4684929" cy="42836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38C170E-0E82-DE48-8809-BD89FA368FD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97" t="49131" r="49328" b="2402"/>
          <a:stretch/>
        </p:blipFill>
        <p:spPr>
          <a:xfrm>
            <a:off x="5959803" y="1909894"/>
            <a:ext cx="5965367" cy="36094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ECAEF0E-C957-D244-841C-EF9E082C232C}"/>
              </a:ext>
            </a:extLst>
          </p:cNvPr>
          <p:cNvSpPr txBox="1"/>
          <p:nvPr/>
        </p:nvSpPr>
        <p:spPr>
          <a:xfrm>
            <a:off x="9617962" y="6488668"/>
            <a:ext cx="2574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(2017) </a:t>
            </a:r>
            <a:r>
              <a:rPr lang="en-US" i="1" dirty="0"/>
              <a:t>JAMES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5C5678-E5FD-4C4E-98B0-C48719C5FA09}"/>
              </a:ext>
            </a:extLst>
          </p:cNvPr>
          <p:cNvSpPr txBox="1"/>
          <p:nvPr/>
        </p:nvSpPr>
        <p:spPr>
          <a:xfrm>
            <a:off x="0" y="6488668"/>
            <a:ext cx="4135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Smith et al. (2017) </a:t>
            </a:r>
            <a:r>
              <a:rPr lang="en-US" i="1" dirty="0"/>
              <a:t>Nature Climate Change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7DA35-D2FC-B745-97C2-A48394B37C2B}"/>
              </a:ext>
            </a:extLst>
          </p:cNvPr>
          <p:cNvSpPr txBox="1"/>
          <p:nvPr/>
        </p:nvSpPr>
        <p:spPr>
          <a:xfrm>
            <a:off x="1336029" y="1653594"/>
            <a:ext cx="4405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Acclimation increase future C storage by ~6%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31473B-A354-F543-A9AE-A2F684F7C008}"/>
              </a:ext>
            </a:extLst>
          </p:cNvPr>
          <p:cNvSpPr txBox="1"/>
          <p:nvPr/>
        </p:nvSpPr>
        <p:spPr>
          <a:xfrm>
            <a:off x="6357111" y="165359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11893"/>
                </a:solidFill>
              </a:rPr>
              <a:t>Acclimation alters future temperature by &gt;1°C</a:t>
            </a:r>
          </a:p>
        </p:txBody>
      </p:sp>
    </p:spTree>
    <p:extLst>
      <p:ext uri="{BB962C8B-B14F-4D97-AF65-F5344CB8AC3E}">
        <p14:creationId xmlns:p14="http://schemas.microsoft.com/office/powerpoint/2010/main" val="2456402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6D83E8F-D068-D74D-A64F-CE2D3C3EC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1" y="3429000"/>
            <a:ext cx="6807476" cy="2307457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5D14F9-48B9-14AD-09C2-8C809B8A8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3036" y="369332"/>
            <a:ext cx="7905928" cy="20968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497C8A-2339-416B-7528-17C73AA26D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057" y="2981704"/>
            <a:ext cx="4507372" cy="3506964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61554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3F563-5270-C0DA-0B57-90AB3BAD7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LEMONTREE-developed EEO model of photosynthetic acclimation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1A4DA-0FDB-F923-C6A3-D49C72ED9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Inputs</a:t>
            </a:r>
          </a:p>
          <a:p>
            <a:pPr lvl="1"/>
            <a:r>
              <a:rPr lang="en-US" dirty="0"/>
              <a:t>Environment (T, PAR, VPD, CO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Plant type (C3/C4, </a:t>
            </a:r>
            <a:r>
              <a:rPr lang="en-US" dirty="0" err="1"/>
              <a:t>decidousness</a:t>
            </a:r>
            <a:r>
              <a:rPr lang="en-US" dirty="0"/>
              <a:t>)</a:t>
            </a:r>
          </a:p>
          <a:p>
            <a:r>
              <a:rPr lang="en-US" dirty="0"/>
              <a:t>Outputs</a:t>
            </a:r>
          </a:p>
          <a:p>
            <a:pPr lvl="1"/>
            <a:r>
              <a:rPr lang="en-US" dirty="0"/>
              <a:t>Photosynthetic capacity</a:t>
            </a:r>
          </a:p>
          <a:p>
            <a:pPr lvl="1"/>
            <a:r>
              <a:rPr lang="en-US" dirty="0"/>
              <a:t>Stomatal conductance</a:t>
            </a:r>
          </a:p>
          <a:p>
            <a:pPr lvl="1"/>
            <a:r>
              <a:rPr lang="en-US" dirty="0"/>
              <a:t>Leaf mass per area</a:t>
            </a:r>
          </a:p>
          <a:p>
            <a:pPr lvl="1"/>
            <a:r>
              <a:rPr lang="en-US" dirty="0"/>
              <a:t>Leaf nitrogen pools</a:t>
            </a:r>
          </a:p>
          <a:p>
            <a:pPr lvl="1"/>
            <a:r>
              <a:rPr lang="en-US" dirty="0"/>
              <a:t>Photosynthetic resource use efficiency</a:t>
            </a:r>
          </a:p>
        </p:txBody>
      </p:sp>
      <p:pic>
        <p:nvPicPr>
          <p:cNvPr id="5" name="Picture 4" descr="A close-up of a diagram&#10;&#10;AI-generated content may be incorrect.">
            <a:extLst>
              <a:ext uri="{FF2B5EF4-FFF2-40B4-BE49-F238E27FC236}">
                <a16:creationId xmlns:a16="http://schemas.microsoft.com/office/drawing/2014/main" id="{40F67FAD-0DC1-4B88-0842-38B6C4B2D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688" y="1606605"/>
            <a:ext cx="5167312" cy="5167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75B231-7268-0FEE-695E-EB42100A6AFE}"/>
              </a:ext>
            </a:extLst>
          </p:cNvPr>
          <p:cNvSpPr txBox="1"/>
          <p:nvPr/>
        </p:nvSpPr>
        <p:spPr>
          <a:xfrm>
            <a:off x="0" y="6550223"/>
            <a:ext cx="3951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github.com</a:t>
            </a:r>
            <a:r>
              <a:rPr lang="en-US" sz="1400" dirty="0"/>
              <a:t>/</a:t>
            </a:r>
            <a:r>
              <a:rPr lang="en-US" sz="1400" dirty="0" err="1"/>
              <a:t>SmithEcophysLab</a:t>
            </a:r>
            <a:r>
              <a:rPr lang="en-US" sz="1400" dirty="0"/>
              <a:t>/</a:t>
            </a:r>
            <a:r>
              <a:rPr lang="en-US" sz="1400" dirty="0" err="1"/>
              <a:t>optimal_vcmax_R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7358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3F5D7-0629-7BF9-199D-C508F9B78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11893"/>
                </a:solidFill>
              </a:rPr>
              <a:t>How do we know if the model is producing reliable simulations?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7D7B1-0CA7-CEC9-2E9E-C3BAA1E1C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40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077C3-9CB6-FCF0-0B61-8FA34B4CF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model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CDBA3-F889-E6C2-4B92-F5D479982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011893"/>
                </a:solidFill>
              </a:rPr>
              <a:t>Compare output to observations</a:t>
            </a:r>
          </a:p>
          <a:p>
            <a:pPr lvl="1"/>
            <a:r>
              <a:rPr lang="en-US" dirty="0"/>
              <a:t>Pros: data are from ”real world”</a:t>
            </a:r>
          </a:p>
          <a:p>
            <a:pPr lvl="1"/>
            <a:r>
              <a:rPr lang="en-US" dirty="0"/>
              <a:t>Cons: multiple interacting factors at play</a:t>
            </a:r>
          </a:p>
        </p:txBody>
      </p:sp>
    </p:spTree>
    <p:extLst>
      <p:ext uri="{BB962C8B-B14F-4D97-AF65-F5344CB8AC3E}">
        <p14:creationId xmlns:p14="http://schemas.microsoft.com/office/powerpoint/2010/main" val="1595567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2D93-766F-15E9-FC6D-FE83D16D5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0EBD-435E-B55E-B657-0FD5B289D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model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7A9E4-1213-C386-EE14-786DE030A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/>
                </a:solidFill>
              </a:rPr>
              <a:t>Compare output to observations</a:t>
            </a:r>
          </a:p>
          <a:p>
            <a:pPr lvl="1"/>
            <a:r>
              <a:rPr lang="en-US" dirty="0">
                <a:solidFill>
                  <a:schemeClr val="bg2"/>
                </a:solidFill>
              </a:rPr>
              <a:t>Pros: data are from ”real world”</a:t>
            </a:r>
          </a:p>
          <a:p>
            <a:pPr lvl="1"/>
            <a:r>
              <a:rPr lang="en-US" dirty="0">
                <a:solidFill>
                  <a:schemeClr val="bg2"/>
                </a:solidFill>
              </a:rPr>
              <a:t>Cons: multiple interacting factors at play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011893"/>
                </a:solidFill>
              </a:rPr>
              <a:t>Experimentally alter conditions and compare responses</a:t>
            </a:r>
          </a:p>
          <a:p>
            <a:pPr lvl="1"/>
            <a:r>
              <a:rPr lang="en-US" dirty="0"/>
              <a:t>Pros: can test factors directly</a:t>
            </a:r>
          </a:p>
          <a:p>
            <a:pPr lvl="1"/>
            <a:r>
              <a:rPr lang="en-US" dirty="0"/>
              <a:t>Cons: level of “realism” may vary by experiment</a:t>
            </a:r>
          </a:p>
        </p:txBody>
      </p:sp>
    </p:spTree>
    <p:extLst>
      <p:ext uri="{BB962C8B-B14F-4D97-AF65-F5344CB8AC3E}">
        <p14:creationId xmlns:p14="http://schemas.microsoft.com/office/powerpoint/2010/main" val="599813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10456-6B83-521A-C44A-86183A691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8486-3028-0415-BFDB-60E559FC7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Growth chamber experiments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Glasshouse experiments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Field manipulation experiments</a:t>
            </a:r>
          </a:p>
        </p:txBody>
      </p:sp>
      <p:sp>
        <p:nvSpPr>
          <p:cNvPr id="5" name="Left-Right Arrow 4">
            <a:extLst>
              <a:ext uri="{FF2B5EF4-FFF2-40B4-BE49-F238E27FC236}">
                <a16:creationId xmlns:a16="http://schemas.microsoft.com/office/drawing/2014/main" id="{923E9259-B48C-AA7B-1D20-2E56529AB739}"/>
              </a:ext>
            </a:extLst>
          </p:cNvPr>
          <p:cNvSpPr/>
          <p:nvPr/>
        </p:nvSpPr>
        <p:spPr>
          <a:xfrm rot="16200000">
            <a:off x="8448294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Realism</a:t>
            </a:r>
          </a:p>
        </p:txBody>
      </p:sp>
      <p:sp>
        <p:nvSpPr>
          <p:cNvPr id="6" name="Left-Right Arrow 5">
            <a:extLst>
              <a:ext uri="{FF2B5EF4-FFF2-40B4-BE49-F238E27FC236}">
                <a16:creationId xmlns:a16="http://schemas.microsoft.com/office/drawing/2014/main" id="{69DAF230-9512-1C10-69EA-85FD4C461DFB}"/>
              </a:ext>
            </a:extLst>
          </p:cNvPr>
          <p:cNvSpPr/>
          <p:nvPr/>
        </p:nvSpPr>
        <p:spPr>
          <a:xfrm rot="16200000">
            <a:off x="6491478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Logistics</a:t>
            </a:r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C79D0B77-D5D4-3A9A-986A-C42BAEB43F24}"/>
              </a:ext>
            </a:extLst>
          </p:cNvPr>
          <p:cNvSpPr/>
          <p:nvPr/>
        </p:nvSpPr>
        <p:spPr>
          <a:xfrm rot="16200000">
            <a:off x="4534662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Level of Control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C29BC-2CAE-0EE8-88B4-09F7A971ECD3}"/>
              </a:ext>
            </a:extLst>
          </p:cNvPr>
          <p:cNvSpPr txBox="1"/>
          <p:nvPr/>
        </p:nvSpPr>
        <p:spPr>
          <a:xfrm>
            <a:off x="6184696" y="690677"/>
            <a:ext cx="12554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High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B64A5F-1948-0FC6-1224-D028F33F2BE8}"/>
              </a:ext>
            </a:extLst>
          </p:cNvPr>
          <p:cNvSpPr txBox="1"/>
          <p:nvPr/>
        </p:nvSpPr>
        <p:spPr>
          <a:xfrm>
            <a:off x="6296527" y="6053328"/>
            <a:ext cx="11305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075BCC-F438-E936-5149-EE4280EF3A25}"/>
              </a:ext>
            </a:extLst>
          </p:cNvPr>
          <p:cNvSpPr txBox="1"/>
          <p:nvPr/>
        </p:nvSpPr>
        <p:spPr>
          <a:xfrm>
            <a:off x="8181496" y="689712"/>
            <a:ext cx="12742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Easy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1AC877-BC87-8106-169D-B33B5B8ACA0F}"/>
              </a:ext>
            </a:extLst>
          </p:cNvPr>
          <p:cNvSpPr txBox="1"/>
          <p:nvPr/>
        </p:nvSpPr>
        <p:spPr>
          <a:xfrm>
            <a:off x="8155303" y="6053328"/>
            <a:ext cx="1326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Hard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4B8E1C-78E9-000D-C51A-7B56F2236F45}"/>
              </a:ext>
            </a:extLst>
          </p:cNvPr>
          <p:cNvSpPr txBox="1"/>
          <p:nvPr/>
        </p:nvSpPr>
        <p:spPr>
          <a:xfrm>
            <a:off x="10128823" y="696328"/>
            <a:ext cx="12837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Fake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678E14-9344-3BF7-1A73-BAC58657D84D}"/>
              </a:ext>
            </a:extLst>
          </p:cNvPr>
          <p:cNvSpPr txBox="1"/>
          <p:nvPr/>
        </p:nvSpPr>
        <p:spPr>
          <a:xfrm>
            <a:off x="10159728" y="6053328"/>
            <a:ext cx="12314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Real</a:t>
            </a:r>
          </a:p>
        </p:txBody>
      </p:sp>
      <p:pic>
        <p:nvPicPr>
          <p:cNvPr id="1026" name="Picture 2" descr="LED-41L2 LED Plant Growth Chamber | Geneva Scientific">
            <a:extLst>
              <a:ext uri="{FF2B5EF4-FFF2-40B4-BE49-F238E27FC236}">
                <a16:creationId xmlns:a16="http://schemas.microsoft.com/office/drawing/2014/main" id="{D31072EE-CA97-AF08-F56F-1E1C21B28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3689" y="2266725"/>
            <a:ext cx="854860" cy="12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espoke Glasshouse Canopy &amp; Pergola - Hartley Botanic">
            <a:extLst>
              <a:ext uri="{FF2B5EF4-FFF2-40B4-BE49-F238E27FC236}">
                <a16:creationId xmlns:a16="http://schemas.microsoft.com/office/drawing/2014/main" id="{7B2D33E0-9EA5-0B55-8297-6875765EC9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359" y="3831583"/>
            <a:ext cx="2599944" cy="1039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ur Very own Time Machine: The Boston Area Climate Experiment - Waltham  Field Station">
            <a:extLst>
              <a:ext uri="{FF2B5EF4-FFF2-40B4-BE49-F238E27FC236}">
                <a16:creationId xmlns:a16="http://schemas.microsoft.com/office/drawing/2014/main" id="{1A13DC18-38EB-EAB6-5EA6-C019D2B47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564" y="5353812"/>
            <a:ext cx="1865376" cy="1399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470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AE632-3754-4AA2-0EB8-8B6A22D8A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2E1F-5AA9-2C24-4D24-938724285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BFA08-C843-FEEE-EEDC-22056D627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Growth chamber experiments</a:t>
            </a:r>
          </a:p>
          <a:p>
            <a:endParaRPr lang="en-US" dirty="0">
              <a:solidFill>
                <a:schemeClr val="bg2"/>
              </a:solidFill>
            </a:endParaRPr>
          </a:p>
          <a:p>
            <a:endParaRPr lang="en-US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Glasshouse experiments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Field manipulation experiments</a:t>
            </a:r>
          </a:p>
        </p:txBody>
      </p:sp>
      <p:sp>
        <p:nvSpPr>
          <p:cNvPr id="5" name="Left-Right Arrow 4">
            <a:extLst>
              <a:ext uri="{FF2B5EF4-FFF2-40B4-BE49-F238E27FC236}">
                <a16:creationId xmlns:a16="http://schemas.microsoft.com/office/drawing/2014/main" id="{3689E20C-009E-1A9E-C861-29CF9BEE9A0E}"/>
              </a:ext>
            </a:extLst>
          </p:cNvPr>
          <p:cNvSpPr/>
          <p:nvPr/>
        </p:nvSpPr>
        <p:spPr>
          <a:xfrm rot="16200000">
            <a:off x="8448294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Realism</a:t>
            </a:r>
          </a:p>
        </p:txBody>
      </p:sp>
      <p:sp>
        <p:nvSpPr>
          <p:cNvPr id="6" name="Left-Right Arrow 5">
            <a:extLst>
              <a:ext uri="{FF2B5EF4-FFF2-40B4-BE49-F238E27FC236}">
                <a16:creationId xmlns:a16="http://schemas.microsoft.com/office/drawing/2014/main" id="{D1054868-DB83-C1F7-7457-739A4647FD1E}"/>
              </a:ext>
            </a:extLst>
          </p:cNvPr>
          <p:cNvSpPr/>
          <p:nvPr/>
        </p:nvSpPr>
        <p:spPr>
          <a:xfrm rot="16200000">
            <a:off x="6491478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Logistics</a:t>
            </a:r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9F4E66A7-B14F-C546-BCFD-83092581ED31}"/>
              </a:ext>
            </a:extLst>
          </p:cNvPr>
          <p:cNvSpPr/>
          <p:nvPr/>
        </p:nvSpPr>
        <p:spPr>
          <a:xfrm rot="16200000">
            <a:off x="4534662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Level of Control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55A82-E803-3EF9-E2DA-5CF2EFBAECF2}"/>
              </a:ext>
            </a:extLst>
          </p:cNvPr>
          <p:cNvSpPr txBox="1"/>
          <p:nvPr/>
        </p:nvSpPr>
        <p:spPr>
          <a:xfrm>
            <a:off x="6184696" y="690677"/>
            <a:ext cx="12554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High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492A52-E93E-11EA-0620-C0E83520F41C}"/>
              </a:ext>
            </a:extLst>
          </p:cNvPr>
          <p:cNvSpPr txBox="1"/>
          <p:nvPr/>
        </p:nvSpPr>
        <p:spPr>
          <a:xfrm>
            <a:off x="6296527" y="6053328"/>
            <a:ext cx="11305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545B73-F90F-D6AE-3C70-0938A5C6B1B1}"/>
              </a:ext>
            </a:extLst>
          </p:cNvPr>
          <p:cNvSpPr txBox="1"/>
          <p:nvPr/>
        </p:nvSpPr>
        <p:spPr>
          <a:xfrm>
            <a:off x="8181496" y="689712"/>
            <a:ext cx="12742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Easy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CDAA46-6894-5548-8A97-0D2457D9C549}"/>
              </a:ext>
            </a:extLst>
          </p:cNvPr>
          <p:cNvSpPr txBox="1"/>
          <p:nvPr/>
        </p:nvSpPr>
        <p:spPr>
          <a:xfrm>
            <a:off x="8155303" y="6053328"/>
            <a:ext cx="1326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Hard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9B7892-5E56-E7CE-A4AD-C29D684749A6}"/>
              </a:ext>
            </a:extLst>
          </p:cNvPr>
          <p:cNvSpPr txBox="1"/>
          <p:nvPr/>
        </p:nvSpPr>
        <p:spPr>
          <a:xfrm>
            <a:off x="10128823" y="696328"/>
            <a:ext cx="12837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Fake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8D092C-F7AA-9073-ADF8-D7037D5AE7DB}"/>
              </a:ext>
            </a:extLst>
          </p:cNvPr>
          <p:cNvSpPr txBox="1"/>
          <p:nvPr/>
        </p:nvSpPr>
        <p:spPr>
          <a:xfrm>
            <a:off x="10159728" y="6053328"/>
            <a:ext cx="12314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Real</a:t>
            </a:r>
          </a:p>
        </p:txBody>
      </p:sp>
      <p:pic>
        <p:nvPicPr>
          <p:cNvPr id="1026" name="Picture 2" descr="LED-41L2 LED Plant Growth Chamber | Geneva Scientific">
            <a:extLst>
              <a:ext uri="{FF2B5EF4-FFF2-40B4-BE49-F238E27FC236}">
                <a16:creationId xmlns:a16="http://schemas.microsoft.com/office/drawing/2014/main" id="{60E9254C-8A76-D2EC-C4C1-CBDCC663D6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3689" y="2266725"/>
            <a:ext cx="854860" cy="12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espoke Glasshouse Canopy &amp; Pergola - Hartley Botanic">
            <a:extLst>
              <a:ext uri="{FF2B5EF4-FFF2-40B4-BE49-F238E27FC236}">
                <a16:creationId xmlns:a16="http://schemas.microsoft.com/office/drawing/2014/main" id="{973CB5EE-2C75-7AA1-EF37-B970ECE0D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359" y="3831583"/>
            <a:ext cx="2599944" cy="1039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ur Very own Time Machine: The Boston Area Climate Experiment - Waltham  Field Station">
            <a:extLst>
              <a:ext uri="{FF2B5EF4-FFF2-40B4-BE49-F238E27FC236}">
                <a16:creationId xmlns:a16="http://schemas.microsoft.com/office/drawing/2014/main" id="{3711CC58-EF62-E6FF-DC9E-AFF0765B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564" y="5353812"/>
            <a:ext cx="1865376" cy="1399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0501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116F5-FAE1-8348-B08C-A507CD8BA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55551-1985-B12C-46D3-CA0AF50F6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A29F8-B6CB-1EDE-147A-F2D13F377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Growth chamber experiments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Glasshouse experiments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bg2"/>
                </a:solidFill>
              </a:rPr>
              <a:t>Field manipulation experiments</a:t>
            </a:r>
          </a:p>
        </p:txBody>
      </p:sp>
      <p:sp>
        <p:nvSpPr>
          <p:cNvPr id="5" name="Left-Right Arrow 4">
            <a:extLst>
              <a:ext uri="{FF2B5EF4-FFF2-40B4-BE49-F238E27FC236}">
                <a16:creationId xmlns:a16="http://schemas.microsoft.com/office/drawing/2014/main" id="{8322FE0F-1BA2-86CD-6B4C-B6C328A574BC}"/>
              </a:ext>
            </a:extLst>
          </p:cNvPr>
          <p:cNvSpPr/>
          <p:nvPr/>
        </p:nvSpPr>
        <p:spPr>
          <a:xfrm rot="16200000">
            <a:off x="8448294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Realism</a:t>
            </a:r>
          </a:p>
        </p:txBody>
      </p:sp>
      <p:sp>
        <p:nvSpPr>
          <p:cNvPr id="6" name="Left-Right Arrow 5">
            <a:extLst>
              <a:ext uri="{FF2B5EF4-FFF2-40B4-BE49-F238E27FC236}">
                <a16:creationId xmlns:a16="http://schemas.microsoft.com/office/drawing/2014/main" id="{1DBD77E5-A821-5FDD-CAEC-E13B85ED8471}"/>
              </a:ext>
            </a:extLst>
          </p:cNvPr>
          <p:cNvSpPr/>
          <p:nvPr/>
        </p:nvSpPr>
        <p:spPr>
          <a:xfrm rot="16200000">
            <a:off x="6491478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Logistics</a:t>
            </a:r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B65DA3CD-F0EF-0835-E9BC-1B5CA20BA02A}"/>
              </a:ext>
            </a:extLst>
          </p:cNvPr>
          <p:cNvSpPr/>
          <p:nvPr/>
        </p:nvSpPr>
        <p:spPr>
          <a:xfrm rot="16200000">
            <a:off x="4534662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Level of Control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176E94-DA1C-6E9F-0B0A-EA0CA7C7D441}"/>
              </a:ext>
            </a:extLst>
          </p:cNvPr>
          <p:cNvSpPr txBox="1"/>
          <p:nvPr/>
        </p:nvSpPr>
        <p:spPr>
          <a:xfrm>
            <a:off x="6184696" y="690677"/>
            <a:ext cx="12554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High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1414C7-8159-3A3B-A1D7-33CE328B172C}"/>
              </a:ext>
            </a:extLst>
          </p:cNvPr>
          <p:cNvSpPr txBox="1"/>
          <p:nvPr/>
        </p:nvSpPr>
        <p:spPr>
          <a:xfrm>
            <a:off x="6296527" y="6053328"/>
            <a:ext cx="11305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1DDE10-7591-02B2-3D9D-467098C8E540}"/>
              </a:ext>
            </a:extLst>
          </p:cNvPr>
          <p:cNvSpPr txBox="1"/>
          <p:nvPr/>
        </p:nvSpPr>
        <p:spPr>
          <a:xfrm>
            <a:off x="8181496" y="689712"/>
            <a:ext cx="12742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Easy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360CA-3822-24D7-6B78-8FCF995E8F28}"/>
              </a:ext>
            </a:extLst>
          </p:cNvPr>
          <p:cNvSpPr txBox="1"/>
          <p:nvPr/>
        </p:nvSpPr>
        <p:spPr>
          <a:xfrm>
            <a:off x="8155303" y="6053328"/>
            <a:ext cx="1326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Hard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5C209B-7F45-99CA-3C73-1C705693B26A}"/>
              </a:ext>
            </a:extLst>
          </p:cNvPr>
          <p:cNvSpPr txBox="1"/>
          <p:nvPr/>
        </p:nvSpPr>
        <p:spPr>
          <a:xfrm>
            <a:off x="10128823" y="696328"/>
            <a:ext cx="12837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Fake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7E3EE3-D74B-39D0-CEC8-34F55D83BA51}"/>
              </a:ext>
            </a:extLst>
          </p:cNvPr>
          <p:cNvSpPr txBox="1"/>
          <p:nvPr/>
        </p:nvSpPr>
        <p:spPr>
          <a:xfrm>
            <a:off x="10159728" y="6053328"/>
            <a:ext cx="12314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Real</a:t>
            </a:r>
          </a:p>
        </p:txBody>
      </p:sp>
      <p:pic>
        <p:nvPicPr>
          <p:cNvPr id="1026" name="Picture 2" descr="LED-41L2 LED Plant Growth Chamber | Geneva Scientific">
            <a:extLst>
              <a:ext uri="{FF2B5EF4-FFF2-40B4-BE49-F238E27FC236}">
                <a16:creationId xmlns:a16="http://schemas.microsoft.com/office/drawing/2014/main" id="{C4D4BCBD-B4CC-6506-1781-BC2D6866D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3689" y="2266725"/>
            <a:ext cx="854860" cy="12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espoke Glasshouse Canopy &amp; Pergola - Hartley Botanic">
            <a:extLst>
              <a:ext uri="{FF2B5EF4-FFF2-40B4-BE49-F238E27FC236}">
                <a16:creationId xmlns:a16="http://schemas.microsoft.com/office/drawing/2014/main" id="{1F01F3E4-A53B-E641-6C65-88E9BDD5D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359" y="3831583"/>
            <a:ext cx="2599944" cy="1039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ur Very own Time Machine: The Boston Area Climate Experiment - Waltham  Field Station">
            <a:extLst>
              <a:ext uri="{FF2B5EF4-FFF2-40B4-BE49-F238E27FC236}">
                <a16:creationId xmlns:a16="http://schemas.microsoft.com/office/drawing/2014/main" id="{CF02182C-F30C-1663-7BE0-FDE194485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564" y="5353812"/>
            <a:ext cx="1865376" cy="1399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1260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B7BA4-9422-10A6-2929-402DC312E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6E2B2-3352-C04F-4B24-AB83B0742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64B66-92C5-756E-421D-0E5288D44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Growth chamber experiments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bg2"/>
                </a:solidFill>
              </a:rPr>
              <a:t>Glasshouse experiments</a:t>
            </a:r>
          </a:p>
          <a:p>
            <a:endParaRPr lang="en-US" dirty="0">
              <a:solidFill>
                <a:schemeClr val="bg2"/>
              </a:solidFill>
            </a:endParaRPr>
          </a:p>
          <a:p>
            <a:endParaRPr lang="en-US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Field manipulation experiments</a:t>
            </a:r>
          </a:p>
        </p:txBody>
      </p:sp>
      <p:sp>
        <p:nvSpPr>
          <p:cNvPr id="5" name="Left-Right Arrow 4">
            <a:extLst>
              <a:ext uri="{FF2B5EF4-FFF2-40B4-BE49-F238E27FC236}">
                <a16:creationId xmlns:a16="http://schemas.microsoft.com/office/drawing/2014/main" id="{FCA58711-5CAD-411C-25DF-58E8A8DAF87E}"/>
              </a:ext>
            </a:extLst>
          </p:cNvPr>
          <p:cNvSpPr/>
          <p:nvPr/>
        </p:nvSpPr>
        <p:spPr>
          <a:xfrm rot="16200000">
            <a:off x="8448294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Realism</a:t>
            </a:r>
          </a:p>
        </p:txBody>
      </p:sp>
      <p:sp>
        <p:nvSpPr>
          <p:cNvPr id="6" name="Left-Right Arrow 5">
            <a:extLst>
              <a:ext uri="{FF2B5EF4-FFF2-40B4-BE49-F238E27FC236}">
                <a16:creationId xmlns:a16="http://schemas.microsoft.com/office/drawing/2014/main" id="{1DA49950-81BF-8B2F-93D6-4A735CD0B0B3}"/>
              </a:ext>
            </a:extLst>
          </p:cNvPr>
          <p:cNvSpPr/>
          <p:nvPr/>
        </p:nvSpPr>
        <p:spPr>
          <a:xfrm rot="16200000">
            <a:off x="6491478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Logistics</a:t>
            </a:r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BC13D6CB-68BE-C5F0-EC8C-02C3F1525786}"/>
              </a:ext>
            </a:extLst>
          </p:cNvPr>
          <p:cNvSpPr/>
          <p:nvPr/>
        </p:nvSpPr>
        <p:spPr>
          <a:xfrm rot="16200000">
            <a:off x="4534662" y="3147822"/>
            <a:ext cx="4654296" cy="1156716"/>
          </a:xfrm>
          <a:prstGeom prst="leftRightArrow">
            <a:avLst/>
          </a:prstGeom>
          <a:solidFill>
            <a:schemeClr val="tx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Level of Control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4BC99-E592-CA75-445B-00E58D1B24F6}"/>
              </a:ext>
            </a:extLst>
          </p:cNvPr>
          <p:cNvSpPr txBox="1"/>
          <p:nvPr/>
        </p:nvSpPr>
        <p:spPr>
          <a:xfrm>
            <a:off x="6184696" y="690677"/>
            <a:ext cx="12554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High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EE8BC9-6A28-6A39-CB09-EBFB36F9387E}"/>
              </a:ext>
            </a:extLst>
          </p:cNvPr>
          <p:cNvSpPr txBox="1"/>
          <p:nvPr/>
        </p:nvSpPr>
        <p:spPr>
          <a:xfrm>
            <a:off x="6296527" y="6053328"/>
            <a:ext cx="11305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F4642E-FF40-9729-718F-0D389E77DB06}"/>
              </a:ext>
            </a:extLst>
          </p:cNvPr>
          <p:cNvSpPr txBox="1"/>
          <p:nvPr/>
        </p:nvSpPr>
        <p:spPr>
          <a:xfrm>
            <a:off x="8181496" y="689712"/>
            <a:ext cx="12742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Easy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9F43B7-3B63-77CE-31ED-1A616B39CAEE}"/>
              </a:ext>
            </a:extLst>
          </p:cNvPr>
          <p:cNvSpPr txBox="1"/>
          <p:nvPr/>
        </p:nvSpPr>
        <p:spPr>
          <a:xfrm>
            <a:off x="8155303" y="6053328"/>
            <a:ext cx="1326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Hard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CF897C-AED9-0320-0C8A-9E40343A3343}"/>
              </a:ext>
            </a:extLst>
          </p:cNvPr>
          <p:cNvSpPr txBox="1"/>
          <p:nvPr/>
        </p:nvSpPr>
        <p:spPr>
          <a:xfrm>
            <a:off x="10128823" y="696328"/>
            <a:ext cx="12837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Fake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96C020-24E5-2822-7277-573E2238F455}"/>
              </a:ext>
            </a:extLst>
          </p:cNvPr>
          <p:cNvSpPr txBox="1"/>
          <p:nvPr/>
        </p:nvSpPr>
        <p:spPr>
          <a:xfrm>
            <a:off x="10159728" y="6053328"/>
            <a:ext cx="12314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11893"/>
                </a:solidFill>
              </a:rPr>
              <a:t>Real</a:t>
            </a:r>
          </a:p>
        </p:txBody>
      </p:sp>
      <p:pic>
        <p:nvPicPr>
          <p:cNvPr id="1026" name="Picture 2" descr="LED-41L2 LED Plant Growth Chamber | Geneva Scientific">
            <a:extLst>
              <a:ext uri="{FF2B5EF4-FFF2-40B4-BE49-F238E27FC236}">
                <a16:creationId xmlns:a16="http://schemas.microsoft.com/office/drawing/2014/main" id="{79B29B0B-2667-9B2E-B938-C8FA8149A5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3689" y="2266725"/>
            <a:ext cx="854860" cy="12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espoke Glasshouse Canopy &amp; Pergola - Hartley Botanic">
            <a:extLst>
              <a:ext uri="{FF2B5EF4-FFF2-40B4-BE49-F238E27FC236}">
                <a16:creationId xmlns:a16="http://schemas.microsoft.com/office/drawing/2014/main" id="{BE9506B3-1FF3-FC48-6BE9-3B34FD105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359" y="3831583"/>
            <a:ext cx="2599944" cy="1039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ur Very own Time Machine: The Boston Area Climate Experiment - Waltham  Field Station">
            <a:extLst>
              <a:ext uri="{FF2B5EF4-FFF2-40B4-BE49-F238E27FC236}">
                <a16:creationId xmlns:a16="http://schemas.microsoft.com/office/drawing/2014/main" id="{73DF32BB-0F07-06D6-3C27-8B7AC197A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564" y="5353812"/>
            <a:ext cx="1865376" cy="1399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6883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401</Words>
  <Application>Microsoft Macintosh PowerPoint</Application>
  <PresentationFormat>Widescreen</PresentationFormat>
  <Paragraphs>115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Using experiments to evaluate models of photosynthetic acclimation to global change</vt:lpstr>
      <vt:lpstr>What is photosynthetic acclimation?</vt:lpstr>
      <vt:lpstr>“A physiological, structural, or biochemical adjustment by an individual plant in response to an experimentally induced environmental stimulus that is manifested as alterations in the short-term response function of a physiological process.”</vt:lpstr>
      <vt:lpstr>Acclimation: an example</vt:lpstr>
      <vt:lpstr>Acclimation: an example</vt:lpstr>
      <vt:lpstr>Acclimation is ubiquitous and well known…</vt:lpstr>
      <vt:lpstr>…and can impact carbon cycling and climate</vt:lpstr>
      <vt:lpstr>PowerPoint Presentation</vt:lpstr>
      <vt:lpstr>LEMONTREE-developed EEO model of photosynthetic acclimation</vt:lpstr>
      <vt:lpstr>How do we know if the model is producing reliable simulations?</vt:lpstr>
      <vt:lpstr>Testing model predictions</vt:lpstr>
      <vt:lpstr>Testing model predictions</vt:lpstr>
      <vt:lpstr>Experiment types</vt:lpstr>
      <vt:lpstr>Experiment types</vt:lpstr>
      <vt:lpstr>Experiment types</vt:lpstr>
      <vt:lpstr>Experiment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15</cp:revision>
  <dcterms:created xsi:type="dcterms:W3CDTF">2025-08-18T18:24:41Z</dcterms:created>
  <dcterms:modified xsi:type="dcterms:W3CDTF">2025-08-18T20:03:38Z</dcterms:modified>
</cp:coreProperties>
</file>