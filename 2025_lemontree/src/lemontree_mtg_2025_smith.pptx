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525" r:id="rId2"/>
    <p:sldId id="526" r:id="rId3"/>
    <p:sldId id="527" r:id="rId4"/>
    <p:sldId id="588" r:id="rId5"/>
    <p:sldId id="270" r:id="rId6"/>
    <p:sldId id="589" r:id="rId7"/>
    <p:sldId id="529" r:id="rId8"/>
    <p:sldId id="566" r:id="rId9"/>
    <p:sldId id="590" r:id="rId10"/>
    <p:sldId id="591" r:id="rId11"/>
    <p:sldId id="592" r:id="rId12"/>
    <p:sldId id="593" r:id="rId13"/>
    <p:sldId id="594" r:id="rId14"/>
    <p:sldId id="595" r:id="rId15"/>
    <p:sldId id="598" r:id="rId16"/>
    <p:sldId id="604" r:id="rId17"/>
    <p:sldId id="605" r:id="rId18"/>
    <p:sldId id="606" r:id="rId19"/>
    <p:sldId id="601" r:id="rId20"/>
    <p:sldId id="596" r:id="rId21"/>
    <p:sldId id="599" r:id="rId22"/>
    <p:sldId id="607" r:id="rId23"/>
    <p:sldId id="608" r:id="rId24"/>
    <p:sldId id="609" r:id="rId25"/>
    <p:sldId id="602" r:id="rId26"/>
    <p:sldId id="597" r:id="rId27"/>
    <p:sldId id="600" r:id="rId28"/>
    <p:sldId id="610" r:id="rId29"/>
    <p:sldId id="611" r:id="rId30"/>
    <p:sldId id="612" r:id="rId31"/>
    <p:sldId id="603" r:id="rId32"/>
    <p:sldId id="61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/>
    <p:restoredTop sz="94713"/>
  </p:normalViewPr>
  <p:slideViewPr>
    <p:cSldViewPr snapToGrid="0">
      <p:cViewPr varScale="1">
        <p:scale>
          <a:sx n="146" d="100"/>
          <a:sy n="146" d="100"/>
        </p:scale>
        <p:origin x="20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677AC-AFC8-CAFC-DACE-E7FA8039A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F3EC4A-762C-682B-5242-20206BA28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6A3AB-55AA-A03C-A944-C9D878B57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F032-BA39-D244-8281-1D866CB9DC4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BC308-8553-B24F-984F-04FA9AE29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06243-7BF2-87F7-B123-5FA9679C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EA94-A3D1-1441-B5BD-FDC2B3C77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49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2004F-32CD-5C85-46E1-23358A65B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F82E7-AF92-2CC2-8354-3A8472C6D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23D5E-48E1-FEFA-A339-F968E64F7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F032-BA39-D244-8281-1D866CB9DC4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75004-2EFF-7B61-962F-1F80C5417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23E34-4B72-0988-FDBF-BBFC5A20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EA94-A3D1-1441-B5BD-FDC2B3C77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37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33B12-05EB-D219-6F85-6B78C83CF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348B0-0D4B-D4BF-F6B5-EBC261E42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8747C-6E89-3D55-14E6-B0AA8812C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F032-BA39-D244-8281-1D866CB9DC4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73F6A-36B6-6C05-5A7C-6657E3D46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45E2A-3930-9436-828C-0FE9D067F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EA94-A3D1-1441-B5BD-FDC2B3C77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1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8AD59-E9E2-4DB3-4954-43396CAB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3BD21-85CA-00FA-242D-B626E461C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2FEFC-31E5-39BF-68CD-07EA8BD74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30912-8EE7-55BF-5271-29D2D9D8F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F032-BA39-D244-8281-1D866CB9DC4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30B5F-934C-07DE-2F49-A195D770A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CA0E1-4E87-AA22-C328-2E6CC2E4E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EA94-A3D1-1441-B5BD-FDC2B3C77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525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6ECDF-9D04-508B-53CA-71407D36F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30494-01E5-4D78-C220-05DDB6316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341897-C4B5-CE6C-AA41-4C0E5FC31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A90DFC-ED66-49BD-765C-7E6BB6DB7B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89283-7B39-EC06-675C-DEA12B7A88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60FBE5-1AF2-15F1-4501-BF6D9F631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F032-BA39-D244-8281-1D866CB9DC4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4CDE3C-2C41-01FF-EA81-DF6371F96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BC2B7D-ABEF-15DC-B06D-215D5C682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EA94-A3D1-1441-B5BD-FDC2B3C77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13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F6B8D-45B1-E230-1E58-3BE6E7127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CBD305-8B22-91ED-B965-C7E33B6C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F032-BA39-D244-8281-1D866CB9DC4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856B13-8849-D3B7-6AF5-996A68EDB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76CC4B-A5BA-B75A-C223-7B6E2C40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EA94-A3D1-1441-B5BD-FDC2B3C77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4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D903C0-48F6-0371-1096-63FB6569C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F032-BA39-D244-8281-1D866CB9DC4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4F9CF6-F75A-7AF4-4E18-BF0EF877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744E1-8EE3-4B34-B8D9-5EB723D53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EA94-A3D1-1441-B5BD-FDC2B3C77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32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AE3D6-E8E0-FDF2-E524-4C1560E3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8AF8D-6FC9-EE7A-993F-C0D7E4449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A9FD3-6C09-EA0E-15CE-45EC2191F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9EECE-5299-523C-2743-32523179A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F032-BA39-D244-8281-1D866CB9DC4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561D0-296E-E8E7-9078-F1329E0C7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630EC-38E8-28B7-2D98-A63B31C0D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EA94-A3D1-1441-B5BD-FDC2B3C77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81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72239-2BDF-1472-4ADB-5CB0E0C61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7C3635-61A0-17A6-9286-C22A88F593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26AA2-8675-9339-17C8-495A1EDAA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49270-8869-16EA-789F-441FB3438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F032-BA39-D244-8281-1D866CB9DC4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742F2-A6BF-EE10-1B3E-D2A0ED8C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60094-82DE-2876-098E-14F1CDC31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EA94-A3D1-1441-B5BD-FDC2B3C77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2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B9626-1A14-0921-535D-0C541D1A0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03D3B-386B-D292-3853-2AAC86CBB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BF9DC-080E-B682-0919-81B8D8D10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F032-BA39-D244-8281-1D866CB9DC4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FE392-6765-A119-F8F0-6E9F44651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A59E8-828F-4AE1-E7BD-606FD844C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EA94-A3D1-1441-B5BD-FDC2B3C77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442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723AB9-60D6-540E-3B79-9DCF071C2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F5044-2060-36DD-B1A0-52F94BB3A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9D728-6A55-175D-26BC-BD8D9130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3F032-BA39-D244-8281-1D866CB9DC4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62F44-B1F2-CD84-7E97-C8D96E73C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69C49-2083-046B-219D-8BE26822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4EA94-A3D1-1441-B5BD-FDC2B3C77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98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83C61-9BBA-02CE-ADDC-0209EABDC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3F75C-C23C-9B67-5537-387BAFFCC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FF519-C415-BCB8-6829-8900D6507F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73F032-BA39-D244-8281-1D866CB9DC4D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29978-BD1E-AFE4-83FB-79BE72BE60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65B39-DEA6-A88C-8D58-C98497B90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F4EA94-A3D1-1441-B5BD-FDC2B3C77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0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B2D5E2-AF7B-C345-BE3C-D7BD2BCEFE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99"/>
          <a:stretch/>
        </p:blipFill>
        <p:spPr>
          <a:xfrm>
            <a:off x="-1" y="7336"/>
            <a:ext cx="12192000" cy="68506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A441E5-3D55-F040-90AD-D008C8367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5068"/>
            <a:ext cx="9144000" cy="2387600"/>
          </a:xfrm>
          <a:solidFill>
            <a:schemeClr val="bg1"/>
          </a:solidFill>
          <a:ln w="76200">
            <a:solidFill>
              <a:srgbClr val="011893"/>
            </a:solidFill>
          </a:ln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11893"/>
                </a:solidFill>
              </a:rPr>
              <a:t>Using experiments to evaluate models of photosynthetic acclimation to global change</a:t>
            </a:r>
            <a:endParaRPr lang="en-US" dirty="0">
              <a:solidFill>
                <a:srgbClr val="011893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E65786-8F48-8941-8659-88E4122EC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1620" y="3820006"/>
            <a:ext cx="6108758" cy="2236237"/>
          </a:xfrm>
          <a:solidFill>
            <a:schemeClr val="bg1"/>
          </a:solidFill>
          <a:ln w="76200">
            <a:solidFill>
              <a:srgbClr val="011893"/>
            </a:solidFill>
          </a:ln>
        </p:spPr>
        <p:txBody>
          <a:bodyPr>
            <a:normAutofit/>
          </a:bodyPr>
          <a:lstStyle/>
          <a:p>
            <a:r>
              <a:rPr lang="en-US" sz="4400" b="1" dirty="0"/>
              <a:t>Nick Smith</a:t>
            </a:r>
          </a:p>
          <a:p>
            <a:r>
              <a:rPr lang="en-US" dirty="0">
                <a:solidFill>
                  <a:srgbClr val="011893"/>
                </a:solidFill>
              </a:rPr>
              <a:t>Department of Biological Sciences</a:t>
            </a:r>
          </a:p>
          <a:p>
            <a:r>
              <a:rPr lang="en-US" dirty="0">
                <a:solidFill>
                  <a:srgbClr val="011893"/>
                </a:solidFill>
              </a:rPr>
              <a:t>Texas Tech University</a:t>
            </a:r>
          </a:p>
          <a:p>
            <a:r>
              <a:rPr lang="en-US" dirty="0" err="1">
                <a:solidFill>
                  <a:srgbClr val="011893"/>
                </a:solidFill>
              </a:rPr>
              <a:t>nick.smith@ttu.edu</a:t>
            </a:r>
            <a:endParaRPr lang="en-US" dirty="0">
              <a:solidFill>
                <a:srgbClr val="01189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BB3B42-93C9-0A8E-961A-EB37E0D54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538" y="5884078"/>
            <a:ext cx="3644462" cy="96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87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07FC-3A78-2693-72F5-A1C202CDE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11893"/>
                </a:solidFill>
              </a:rPr>
              <a:t>What is photosynthetic acclimation?</a:t>
            </a:r>
          </a:p>
        </p:txBody>
      </p:sp>
    </p:spTree>
    <p:extLst>
      <p:ext uri="{BB962C8B-B14F-4D97-AF65-F5344CB8AC3E}">
        <p14:creationId xmlns:p14="http://schemas.microsoft.com/office/powerpoint/2010/main" val="4126403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24A37-5C31-C2C2-CA9C-AAB3B8FD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rgbClr val="011893"/>
                </a:solidFill>
              </a:rPr>
              <a:t>“A physiological, structural, or biochemical adjustment by an individual plant in response to an experimentally induced environmental stimulus that is manifested as alterations in the short-term response function of a physiological process.”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695F0C-48EE-B16C-4C45-05CBFD5BBE1C}"/>
              </a:ext>
            </a:extLst>
          </p:cNvPr>
          <p:cNvSpPr txBox="1"/>
          <p:nvPr/>
        </p:nvSpPr>
        <p:spPr>
          <a:xfrm>
            <a:off x="9648419" y="6488668"/>
            <a:ext cx="2543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Smith and Dukes (2013)</a:t>
            </a:r>
          </a:p>
        </p:txBody>
      </p:sp>
    </p:spTree>
    <p:extLst>
      <p:ext uri="{BB962C8B-B14F-4D97-AF65-F5344CB8AC3E}">
        <p14:creationId xmlns:p14="http://schemas.microsoft.com/office/powerpoint/2010/main" val="160960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03012" y="1907303"/>
            <a:ext cx="36179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011893"/>
                </a:solidFill>
              </a:rPr>
              <a:t>Acclimated to high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4271" y="1907303"/>
            <a:ext cx="35158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11893"/>
                </a:solidFill>
              </a:rPr>
              <a:t>Acclimated to low light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2855" y="2168913"/>
            <a:ext cx="4572000" cy="4572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4611" y="2168913"/>
            <a:ext cx="4572000" cy="4572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F8957B7-3CFC-9345-8C20-DF08977A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Acclimation: an example</a:t>
            </a:r>
          </a:p>
        </p:txBody>
      </p:sp>
    </p:spTree>
    <p:extLst>
      <p:ext uri="{BB962C8B-B14F-4D97-AF65-F5344CB8AC3E}">
        <p14:creationId xmlns:p14="http://schemas.microsoft.com/office/powerpoint/2010/main" val="3356872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03012" y="1907303"/>
            <a:ext cx="36179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011893"/>
                </a:solidFill>
              </a:rPr>
              <a:t>Acclimated to high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4271" y="1907303"/>
            <a:ext cx="35158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11893"/>
                </a:solidFill>
              </a:rPr>
              <a:t>Acclimated to low light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2855" y="2168913"/>
            <a:ext cx="4572000" cy="4572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4611" y="2168913"/>
            <a:ext cx="4572000" cy="4572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F8957B7-3CFC-9345-8C20-DF08977A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Acclimation: an example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EFAB900-405B-C14C-ADF2-622BB5585A42}"/>
              </a:ext>
            </a:extLst>
          </p:cNvPr>
          <p:cNvCxnSpPr/>
          <p:nvPr/>
        </p:nvCxnSpPr>
        <p:spPr>
          <a:xfrm flipV="1">
            <a:off x="3962400" y="3643745"/>
            <a:ext cx="0" cy="189807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754B4D-D408-0349-9760-DA62774653D5}"/>
              </a:ext>
            </a:extLst>
          </p:cNvPr>
          <p:cNvCxnSpPr>
            <a:cxnSpLocks/>
          </p:cNvCxnSpPr>
          <p:nvPr/>
        </p:nvCxnSpPr>
        <p:spPr>
          <a:xfrm flipV="1">
            <a:off x="8049489" y="4668982"/>
            <a:ext cx="0" cy="87283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C0DC352-F631-8C43-8EEE-2D8678BB83C1}"/>
              </a:ext>
            </a:extLst>
          </p:cNvPr>
          <p:cNvSpPr txBox="1"/>
          <p:nvPr/>
        </p:nvSpPr>
        <p:spPr>
          <a:xfrm>
            <a:off x="609600" y="6317673"/>
            <a:ext cx="9554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Photosynthesis peaks a light level close to the level the leaf is acclimated to</a:t>
            </a:r>
          </a:p>
        </p:txBody>
      </p:sp>
    </p:spTree>
    <p:extLst>
      <p:ext uri="{BB962C8B-B14F-4D97-AF65-F5344CB8AC3E}">
        <p14:creationId xmlns:p14="http://schemas.microsoft.com/office/powerpoint/2010/main" val="848472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Acclimation is ubiquitous and well known</a:t>
            </a:r>
            <a:r>
              <a:rPr lang="mr-IN" dirty="0"/>
              <a:t>…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6233" y="2829687"/>
            <a:ext cx="4469984" cy="25915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11671" y="2829687"/>
            <a:ext cx="3617259" cy="24012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905" y="2829687"/>
            <a:ext cx="3752328" cy="23010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3905" y="2354520"/>
            <a:ext cx="2503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11893"/>
                </a:solidFill>
              </a:rPr>
              <a:t>CO</a:t>
            </a:r>
            <a:r>
              <a:rPr lang="en-US" sz="2400" baseline="-25000" dirty="0">
                <a:solidFill>
                  <a:srgbClr val="011893"/>
                </a:solidFill>
              </a:rPr>
              <a:t>2</a:t>
            </a:r>
            <a:r>
              <a:rPr lang="en-US" sz="2400" dirty="0">
                <a:solidFill>
                  <a:srgbClr val="011893"/>
                </a:solidFill>
              </a:rPr>
              <a:t>: </a:t>
            </a:r>
            <a:r>
              <a:rPr lang="en-US" sz="2400" dirty="0" err="1"/>
              <a:t>Bazzaz</a:t>
            </a:r>
            <a:r>
              <a:rPr lang="en-US" sz="2400" dirty="0"/>
              <a:t> (1990)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2164" y="2354519"/>
            <a:ext cx="3114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11893"/>
                </a:solidFill>
              </a:rPr>
              <a:t>Light: </a:t>
            </a:r>
            <a:r>
              <a:rPr lang="en-US" sz="2400" dirty="0"/>
              <a:t>Boardman (1977)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6217" y="2013421"/>
            <a:ext cx="3595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11893"/>
                </a:solidFill>
              </a:rPr>
              <a:t>Temperature: </a:t>
            </a:r>
            <a:r>
              <a:rPr lang="en-US" sz="2400" dirty="0"/>
              <a:t>Berry &amp; </a:t>
            </a:r>
            <a:r>
              <a:rPr lang="en-US" sz="2400" dirty="0" err="1"/>
              <a:t>Björkman</a:t>
            </a:r>
            <a:r>
              <a:rPr lang="en-US" sz="2400" dirty="0"/>
              <a:t> (1980)</a:t>
            </a:r>
          </a:p>
        </p:txBody>
      </p:sp>
    </p:spTree>
    <p:extLst>
      <p:ext uri="{BB962C8B-B14F-4D97-AF65-F5344CB8AC3E}">
        <p14:creationId xmlns:p14="http://schemas.microsoft.com/office/powerpoint/2010/main" val="761040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…and can impact carbon cycling and climate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B4194B-748E-4A43-BC8A-5938EB896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9894"/>
            <a:ext cx="4684929" cy="42836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8C170E-0E82-DE48-8809-BD89FA368FD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7" t="49131" r="49328" b="2402"/>
          <a:stretch/>
        </p:blipFill>
        <p:spPr>
          <a:xfrm>
            <a:off x="5959803" y="1909894"/>
            <a:ext cx="5965367" cy="36094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CAEF0E-C957-D244-841C-EF9E082C232C}"/>
              </a:ext>
            </a:extLst>
          </p:cNvPr>
          <p:cNvSpPr txBox="1"/>
          <p:nvPr/>
        </p:nvSpPr>
        <p:spPr>
          <a:xfrm>
            <a:off x="9617962" y="6488668"/>
            <a:ext cx="2574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Smith et al. (2017) </a:t>
            </a:r>
            <a:r>
              <a:rPr lang="en-US" i="1" dirty="0"/>
              <a:t>JAMES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5C5678-E5FD-4C4E-98B0-C48719C5FA09}"/>
              </a:ext>
            </a:extLst>
          </p:cNvPr>
          <p:cNvSpPr txBox="1"/>
          <p:nvPr/>
        </p:nvSpPr>
        <p:spPr>
          <a:xfrm>
            <a:off x="0" y="6488668"/>
            <a:ext cx="4135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Smith et al. (2017) </a:t>
            </a:r>
            <a:r>
              <a:rPr lang="en-US" i="1" dirty="0"/>
              <a:t>Nature Climate Change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97DA35-D2FC-B745-97C2-A48394B37C2B}"/>
              </a:ext>
            </a:extLst>
          </p:cNvPr>
          <p:cNvSpPr txBox="1"/>
          <p:nvPr/>
        </p:nvSpPr>
        <p:spPr>
          <a:xfrm>
            <a:off x="1336029" y="1653594"/>
            <a:ext cx="4405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11893"/>
                </a:solidFill>
              </a:rPr>
              <a:t>Acclimation increase future C storage by ~6%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31473B-A354-F543-A9AE-A2F684F7C008}"/>
              </a:ext>
            </a:extLst>
          </p:cNvPr>
          <p:cNvSpPr txBox="1"/>
          <p:nvPr/>
        </p:nvSpPr>
        <p:spPr>
          <a:xfrm>
            <a:off x="6357111" y="1653594"/>
            <a:ext cx="4498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11893"/>
                </a:solidFill>
              </a:rPr>
              <a:t>Acclimation alters future temperature by &gt;1°C</a:t>
            </a:r>
          </a:p>
        </p:txBody>
      </p:sp>
    </p:spTree>
    <p:extLst>
      <p:ext uri="{BB962C8B-B14F-4D97-AF65-F5344CB8AC3E}">
        <p14:creationId xmlns:p14="http://schemas.microsoft.com/office/powerpoint/2010/main" val="2456402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6D83E8F-D068-D74D-A64F-CE2D3C3EC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71" y="3429000"/>
            <a:ext cx="6807476" cy="2307457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5D14F9-48B9-14AD-09C2-8C809B8A8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036" y="369332"/>
            <a:ext cx="7905928" cy="20968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497C8A-2339-416B-7528-17C73AA26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057" y="2981704"/>
            <a:ext cx="4507372" cy="3506964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61554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3F563-5270-C0DA-0B57-90AB3BAD7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LEMONTREE-developed EEO model of photosynthetic acclimation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1A4DA-0FDB-F923-C6A3-D49C72ED9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Inputs</a:t>
            </a:r>
          </a:p>
          <a:p>
            <a:pPr lvl="1"/>
            <a:r>
              <a:rPr lang="en-US" dirty="0"/>
              <a:t>Environment (T, PAR, VPD, CO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Plant type (C3/C4, </a:t>
            </a:r>
            <a:r>
              <a:rPr lang="en-US" dirty="0" err="1"/>
              <a:t>decidousness</a:t>
            </a:r>
            <a:r>
              <a:rPr lang="en-US" dirty="0"/>
              <a:t>)</a:t>
            </a:r>
          </a:p>
          <a:p>
            <a:r>
              <a:rPr lang="en-US" dirty="0"/>
              <a:t>Outputs</a:t>
            </a:r>
          </a:p>
          <a:p>
            <a:pPr lvl="1"/>
            <a:r>
              <a:rPr lang="en-US" dirty="0"/>
              <a:t>Photosynthetic capacity</a:t>
            </a:r>
          </a:p>
          <a:p>
            <a:pPr lvl="1"/>
            <a:r>
              <a:rPr lang="en-US" dirty="0"/>
              <a:t>Stomatal conductance</a:t>
            </a:r>
          </a:p>
          <a:p>
            <a:pPr lvl="1"/>
            <a:r>
              <a:rPr lang="en-US" dirty="0"/>
              <a:t>Leaf mass per area</a:t>
            </a:r>
          </a:p>
          <a:p>
            <a:pPr lvl="1"/>
            <a:r>
              <a:rPr lang="en-US" dirty="0"/>
              <a:t>Leaf nitrogen pools</a:t>
            </a:r>
          </a:p>
          <a:p>
            <a:pPr lvl="1"/>
            <a:r>
              <a:rPr lang="en-US" dirty="0"/>
              <a:t>Photosynthetic resource use efficiency</a:t>
            </a:r>
          </a:p>
        </p:txBody>
      </p:sp>
      <p:pic>
        <p:nvPicPr>
          <p:cNvPr id="5" name="Picture 4" descr="A close-up of a diagram&#10;&#10;AI-generated content may be incorrect.">
            <a:extLst>
              <a:ext uri="{FF2B5EF4-FFF2-40B4-BE49-F238E27FC236}">
                <a16:creationId xmlns:a16="http://schemas.microsoft.com/office/drawing/2014/main" id="{40F67FAD-0DC1-4B88-0842-38B6C4B2D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688" y="1606605"/>
            <a:ext cx="5167312" cy="5167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75B231-7268-0FEE-695E-EB42100A6AFE}"/>
              </a:ext>
            </a:extLst>
          </p:cNvPr>
          <p:cNvSpPr txBox="1"/>
          <p:nvPr/>
        </p:nvSpPr>
        <p:spPr>
          <a:xfrm>
            <a:off x="0" y="6550223"/>
            <a:ext cx="3951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github.com</a:t>
            </a:r>
            <a:r>
              <a:rPr lang="en-US" sz="1400" dirty="0"/>
              <a:t>/</a:t>
            </a:r>
            <a:r>
              <a:rPr lang="en-US" sz="1400" dirty="0" err="1"/>
              <a:t>SmithEcophysLab</a:t>
            </a:r>
            <a:r>
              <a:rPr lang="en-US" sz="1400" dirty="0"/>
              <a:t>/</a:t>
            </a:r>
            <a:r>
              <a:rPr lang="en-US" sz="1400" dirty="0" err="1"/>
              <a:t>optimal_vcmax_R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7358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3F5D7-0629-7BF9-199D-C508F9B78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11893"/>
                </a:solidFill>
              </a:rPr>
              <a:t>How do we know if the model is producing reliable simulations?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7D7B1-0CA7-CEC9-2E9E-C3BAA1E1C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40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077C3-9CB6-FCF0-0B61-8FA34B4CF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model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CDBA3-F889-E6C2-4B92-F5D479982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11893"/>
                </a:solidFill>
              </a:rPr>
              <a:t>Compare output to observations</a:t>
            </a:r>
          </a:p>
          <a:p>
            <a:pPr lvl="1"/>
            <a:r>
              <a:rPr lang="en-US" dirty="0"/>
              <a:t>Pros: data are from ”real world”</a:t>
            </a:r>
          </a:p>
          <a:p>
            <a:pPr lvl="1"/>
            <a:r>
              <a:rPr lang="en-US" dirty="0"/>
              <a:t>Cons: multiple interacting factors at play</a:t>
            </a:r>
          </a:p>
        </p:txBody>
      </p:sp>
    </p:spTree>
    <p:extLst>
      <p:ext uri="{BB962C8B-B14F-4D97-AF65-F5344CB8AC3E}">
        <p14:creationId xmlns:p14="http://schemas.microsoft.com/office/powerpoint/2010/main" val="1595567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C2D93-766F-15E9-FC6D-FE83D16D5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B0EBD-435E-B55E-B657-0FD5B289D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model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7A9E4-1213-C386-EE14-786DE030A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Compare output to observations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Pros: data are from ”real world”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Cons: multiple interacting factors at play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11893"/>
                </a:solidFill>
              </a:rPr>
              <a:t>Experimentally alter conditions and compare responses</a:t>
            </a:r>
          </a:p>
          <a:p>
            <a:pPr lvl="1"/>
            <a:r>
              <a:rPr lang="en-US" dirty="0"/>
              <a:t>Pros: can test factors directly</a:t>
            </a:r>
          </a:p>
          <a:p>
            <a:pPr lvl="1"/>
            <a:r>
              <a:rPr lang="en-US" dirty="0"/>
              <a:t>Cons: level of “realism” may vary by experiment</a:t>
            </a:r>
          </a:p>
        </p:txBody>
      </p:sp>
    </p:spTree>
    <p:extLst>
      <p:ext uri="{BB962C8B-B14F-4D97-AF65-F5344CB8AC3E}">
        <p14:creationId xmlns:p14="http://schemas.microsoft.com/office/powerpoint/2010/main" val="599813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10456-6B83-521A-C44A-86183A691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E8486-3028-0415-BFDB-60E559FC7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Growth chamber experiments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Glasshouse experiments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Field manipulation experiments</a:t>
            </a:r>
          </a:p>
        </p:txBody>
      </p:sp>
      <p:sp>
        <p:nvSpPr>
          <p:cNvPr id="5" name="Left-Right Arrow 4">
            <a:extLst>
              <a:ext uri="{FF2B5EF4-FFF2-40B4-BE49-F238E27FC236}">
                <a16:creationId xmlns:a16="http://schemas.microsoft.com/office/drawing/2014/main" id="{923E9259-B48C-AA7B-1D20-2E56529AB739}"/>
              </a:ext>
            </a:extLst>
          </p:cNvPr>
          <p:cNvSpPr/>
          <p:nvPr/>
        </p:nvSpPr>
        <p:spPr>
          <a:xfrm rot="16200000">
            <a:off x="8448294" y="3147822"/>
            <a:ext cx="4654296" cy="1156716"/>
          </a:xfrm>
          <a:prstGeom prst="leftRightArrow">
            <a:avLst/>
          </a:prstGeom>
          <a:solidFill>
            <a:schemeClr val="tx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Realism</a:t>
            </a:r>
          </a:p>
        </p:txBody>
      </p:sp>
      <p:sp>
        <p:nvSpPr>
          <p:cNvPr id="6" name="Left-Right Arrow 5">
            <a:extLst>
              <a:ext uri="{FF2B5EF4-FFF2-40B4-BE49-F238E27FC236}">
                <a16:creationId xmlns:a16="http://schemas.microsoft.com/office/drawing/2014/main" id="{69DAF230-9512-1C10-69EA-85FD4C461DFB}"/>
              </a:ext>
            </a:extLst>
          </p:cNvPr>
          <p:cNvSpPr/>
          <p:nvPr/>
        </p:nvSpPr>
        <p:spPr>
          <a:xfrm rot="16200000">
            <a:off x="6491478" y="3147822"/>
            <a:ext cx="4654296" cy="1156716"/>
          </a:xfrm>
          <a:prstGeom prst="leftRightArrow">
            <a:avLst/>
          </a:prstGeom>
          <a:solidFill>
            <a:schemeClr val="tx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Logistics</a:t>
            </a:r>
          </a:p>
        </p:txBody>
      </p:sp>
      <p:sp>
        <p:nvSpPr>
          <p:cNvPr id="7" name="Left-Right Arrow 6">
            <a:extLst>
              <a:ext uri="{FF2B5EF4-FFF2-40B4-BE49-F238E27FC236}">
                <a16:creationId xmlns:a16="http://schemas.microsoft.com/office/drawing/2014/main" id="{C79D0B77-D5D4-3A9A-986A-C42BAEB43F24}"/>
              </a:ext>
            </a:extLst>
          </p:cNvPr>
          <p:cNvSpPr/>
          <p:nvPr/>
        </p:nvSpPr>
        <p:spPr>
          <a:xfrm rot="16200000">
            <a:off x="4534662" y="3147822"/>
            <a:ext cx="4654296" cy="1156716"/>
          </a:xfrm>
          <a:prstGeom prst="leftRightArrow">
            <a:avLst/>
          </a:prstGeom>
          <a:solidFill>
            <a:schemeClr val="tx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Level of Control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8C29BC-2CAE-0EE8-88B4-09F7A971ECD3}"/>
              </a:ext>
            </a:extLst>
          </p:cNvPr>
          <p:cNvSpPr txBox="1"/>
          <p:nvPr/>
        </p:nvSpPr>
        <p:spPr>
          <a:xfrm>
            <a:off x="6184696" y="690677"/>
            <a:ext cx="12554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11893"/>
                </a:solidFill>
              </a:rPr>
              <a:t>High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B64A5F-1948-0FC6-1224-D028F33F2BE8}"/>
              </a:ext>
            </a:extLst>
          </p:cNvPr>
          <p:cNvSpPr txBox="1"/>
          <p:nvPr/>
        </p:nvSpPr>
        <p:spPr>
          <a:xfrm>
            <a:off x="6296527" y="6053328"/>
            <a:ext cx="11305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075BCC-F438-E936-5149-EE4280EF3A25}"/>
              </a:ext>
            </a:extLst>
          </p:cNvPr>
          <p:cNvSpPr txBox="1"/>
          <p:nvPr/>
        </p:nvSpPr>
        <p:spPr>
          <a:xfrm>
            <a:off x="8181496" y="689712"/>
            <a:ext cx="12742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11893"/>
                </a:solidFill>
              </a:rPr>
              <a:t>Easy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1AC877-BC87-8106-169D-B33B5B8ACA0F}"/>
              </a:ext>
            </a:extLst>
          </p:cNvPr>
          <p:cNvSpPr txBox="1"/>
          <p:nvPr/>
        </p:nvSpPr>
        <p:spPr>
          <a:xfrm>
            <a:off x="8155303" y="6053328"/>
            <a:ext cx="13266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Hard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4B8E1C-78E9-000D-C51A-7B56F2236F45}"/>
              </a:ext>
            </a:extLst>
          </p:cNvPr>
          <p:cNvSpPr txBox="1"/>
          <p:nvPr/>
        </p:nvSpPr>
        <p:spPr>
          <a:xfrm>
            <a:off x="10128823" y="696328"/>
            <a:ext cx="12837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Fake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678E14-9344-3BF7-1A73-BAC58657D84D}"/>
              </a:ext>
            </a:extLst>
          </p:cNvPr>
          <p:cNvSpPr txBox="1"/>
          <p:nvPr/>
        </p:nvSpPr>
        <p:spPr>
          <a:xfrm>
            <a:off x="10159728" y="6053328"/>
            <a:ext cx="12314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11893"/>
                </a:solidFill>
              </a:rPr>
              <a:t>Real</a:t>
            </a:r>
          </a:p>
        </p:txBody>
      </p:sp>
      <p:pic>
        <p:nvPicPr>
          <p:cNvPr id="1026" name="Picture 2" descr="LED-41L2 LED Plant Growth Chamber | Geneva Scientific">
            <a:extLst>
              <a:ext uri="{FF2B5EF4-FFF2-40B4-BE49-F238E27FC236}">
                <a16:creationId xmlns:a16="http://schemas.microsoft.com/office/drawing/2014/main" id="{D31072EE-CA97-AF08-F56F-1E1C21B28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689" y="2266725"/>
            <a:ext cx="854860" cy="129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espoke Glasshouse Canopy &amp; Pergola - Hartley Botanic">
            <a:extLst>
              <a:ext uri="{FF2B5EF4-FFF2-40B4-BE49-F238E27FC236}">
                <a16:creationId xmlns:a16="http://schemas.microsoft.com/office/drawing/2014/main" id="{7B2D33E0-9EA5-0B55-8297-6875765EC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359" y="3831583"/>
            <a:ext cx="2599944" cy="1039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ur Very own Time Machine: The Boston Area Climate Experiment - Waltham  Field Station">
            <a:extLst>
              <a:ext uri="{FF2B5EF4-FFF2-40B4-BE49-F238E27FC236}">
                <a16:creationId xmlns:a16="http://schemas.microsoft.com/office/drawing/2014/main" id="{1A13DC18-38EB-EAB6-5EA6-C019D2B47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64" y="5353812"/>
            <a:ext cx="1865376" cy="139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0470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AE632-3754-4AA2-0EB8-8B6A22D8A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32E1F-5AA9-2C24-4D24-938724285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BFA08-C843-FEEE-EEDC-22056D627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Growth chamber experiments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Glasshouse experiments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Field manipulation experiments</a:t>
            </a:r>
          </a:p>
        </p:txBody>
      </p:sp>
      <p:sp>
        <p:nvSpPr>
          <p:cNvPr id="5" name="Left-Right Arrow 4">
            <a:extLst>
              <a:ext uri="{FF2B5EF4-FFF2-40B4-BE49-F238E27FC236}">
                <a16:creationId xmlns:a16="http://schemas.microsoft.com/office/drawing/2014/main" id="{3689E20C-009E-1A9E-C861-29CF9BEE9A0E}"/>
              </a:ext>
            </a:extLst>
          </p:cNvPr>
          <p:cNvSpPr/>
          <p:nvPr/>
        </p:nvSpPr>
        <p:spPr>
          <a:xfrm rot="16200000">
            <a:off x="8448294" y="3147822"/>
            <a:ext cx="4654296" cy="1156716"/>
          </a:xfrm>
          <a:prstGeom prst="leftRightArrow">
            <a:avLst/>
          </a:prstGeom>
          <a:solidFill>
            <a:schemeClr val="tx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Realism</a:t>
            </a:r>
          </a:p>
        </p:txBody>
      </p:sp>
      <p:sp>
        <p:nvSpPr>
          <p:cNvPr id="6" name="Left-Right Arrow 5">
            <a:extLst>
              <a:ext uri="{FF2B5EF4-FFF2-40B4-BE49-F238E27FC236}">
                <a16:creationId xmlns:a16="http://schemas.microsoft.com/office/drawing/2014/main" id="{D1054868-DB83-C1F7-7457-739A4647FD1E}"/>
              </a:ext>
            </a:extLst>
          </p:cNvPr>
          <p:cNvSpPr/>
          <p:nvPr/>
        </p:nvSpPr>
        <p:spPr>
          <a:xfrm rot="16200000">
            <a:off x="6491478" y="3147822"/>
            <a:ext cx="4654296" cy="1156716"/>
          </a:xfrm>
          <a:prstGeom prst="leftRightArrow">
            <a:avLst/>
          </a:prstGeom>
          <a:solidFill>
            <a:schemeClr val="tx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Logistics</a:t>
            </a:r>
          </a:p>
        </p:txBody>
      </p:sp>
      <p:sp>
        <p:nvSpPr>
          <p:cNvPr id="7" name="Left-Right Arrow 6">
            <a:extLst>
              <a:ext uri="{FF2B5EF4-FFF2-40B4-BE49-F238E27FC236}">
                <a16:creationId xmlns:a16="http://schemas.microsoft.com/office/drawing/2014/main" id="{9F4E66A7-B14F-C546-BCFD-83092581ED31}"/>
              </a:ext>
            </a:extLst>
          </p:cNvPr>
          <p:cNvSpPr/>
          <p:nvPr/>
        </p:nvSpPr>
        <p:spPr>
          <a:xfrm rot="16200000">
            <a:off x="4534662" y="3147822"/>
            <a:ext cx="4654296" cy="1156716"/>
          </a:xfrm>
          <a:prstGeom prst="leftRightArrow">
            <a:avLst/>
          </a:prstGeom>
          <a:solidFill>
            <a:schemeClr val="tx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Level of Control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55A82-E803-3EF9-E2DA-5CF2EFBAECF2}"/>
              </a:ext>
            </a:extLst>
          </p:cNvPr>
          <p:cNvSpPr txBox="1"/>
          <p:nvPr/>
        </p:nvSpPr>
        <p:spPr>
          <a:xfrm>
            <a:off x="6184696" y="690677"/>
            <a:ext cx="12554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11893"/>
                </a:solidFill>
              </a:rPr>
              <a:t>High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92A52-E93E-11EA-0620-C0E83520F41C}"/>
              </a:ext>
            </a:extLst>
          </p:cNvPr>
          <p:cNvSpPr txBox="1"/>
          <p:nvPr/>
        </p:nvSpPr>
        <p:spPr>
          <a:xfrm>
            <a:off x="6296527" y="6053328"/>
            <a:ext cx="11305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545B73-F90F-D6AE-3C70-0938A5C6B1B1}"/>
              </a:ext>
            </a:extLst>
          </p:cNvPr>
          <p:cNvSpPr txBox="1"/>
          <p:nvPr/>
        </p:nvSpPr>
        <p:spPr>
          <a:xfrm>
            <a:off x="8181496" y="689712"/>
            <a:ext cx="12742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11893"/>
                </a:solidFill>
              </a:rPr>
              <a:t>Easy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CDAA46-6894-5548-8A97-0D2457D9C549}"/>
              </a:ext>
            </a:extLst>
          </p:cNvPr>
          <p:cNvSpPr txBox="1"/>
          <p:nvPr/>
        </p:nvSpPr>
        <p:spPr>
          <a:xfrm>
            <a:off x="8155303" y="6053328"/>
            <a:ext cx="13266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Hard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9B7892-5E56-E7CE-A4AD-C29D684749A6}"/>
              </a:ext>
            </a:extLst>
          </p:cNvPr>
          <p:cNvSpPr txBox="1"/>
          <p:nvPr/>
        </p:nvSpPr>
        <p:spPr>
          <a:xfrm>
            <a:off x="10128823" y="696328"/>
            <a:ext cx="12837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Fake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8D092C-F7AA-9073-ADF8-D7037D5AE7DB}"/>
              </a:ext>
            </a:extLst>
          </p:cNvPr>
          <p:cNvSpPr txBox="1"/>
          <p:nvPr/>
        </p:nvSpPr>
        <p:spPr>
          <a:xfrm>
            <a:off x="10159728" y="6053328"/>
            <a:ext cx="12314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11893"/>
                </a:solidFill>
              </a:rPr>
              <a:t>Real</a:t>
            </a:r>
          </a:p>
        </p:txBody>
      </p:sp>
      <p:pic>
        <p:nvPicPr>
          <p:cNvPr id="1026" name="Picture 2" descr="LED-41L2 LED Plant Growth Chamber | Geneva Scientific">
            <a:extLst>
              <a:ext uri="{FF2B5EF4-FFF2-40B4-BE49-F238E27FC236}">
                <a16:creationId xmlns:a16="http://schemas.microsoft.com/office/drawing/2014/main" id="{60E9254C-8A76-D2EC-C4C1-CBDCC663D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689" y="2266725"/>
            <a:ext cx="854860" cy="129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espoke Glasshouse Canopy &amp; Pergola - Hartley Botanic">
            <a:extLst>
              <a:ext uri="{FF2B5EF4-FFF2-40B4-BE49-F238E27FC236}">
                <a16:creationId xmlns:a16="http://schemas.microsoft.com/office/drawing/2014/main" id="{973CB5EE-2C75-7AA1-EF37-B970ECE0D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359" y="3831583"/>
            <a:ext cx="2599944" cy="1039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ur Very own Time Machine: The Boston Area Climate Experiment - Waltham  Field Station">
            <a:extLst>
              <a:ext uri="{FF2B5EF4-FFF2-40B4-BE49-F238E27FC236}">
                <a16:creationId xmlns:a16="http://schemas.microsoft.com/office/drawing/2014/main" id="{3711CC58-EF62-E6FF-DC9E-AFF0765B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64" y="5353812"/>
            <a:ext cx="1865376" cy="139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501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18E3-7ED4-D54F-D0A2-3A98496E3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theory with experiments: </a:t>
            </a:r>
            <a:r>
              <a:rPr lang="en-US" dirty="0">
                <a:solidFill>
                  <a:srgbClr val="011893"/>
                </a:solidFill>
              </a:rPr>
              <a:t>field manipulation</a:t>
            </a:r>
            <a:r>
              <a:rPr lang="en-US" dirty="0"/>
              <a:t> example (</a:t>
            </a:r>
            <a:r>
              <a:rPr lang="en-US" dirty="0" err="1"/>
              <a:t>Cheaib</a:t>
            </a:r>
            <a:r>
              <a:rPr lang="en-US" dirty="0"/>
              <a:t> et al., 2025)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F2B2CD-CD9D-335B-A1F6-8ED75B0C9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288" y="2430094"/>
            <a:ext cx="9531423" cy="297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816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3CF80-F1D0-9E33-B32F-CF5552D94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8CC0A-201B-C771-8EB1-D2599376E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theory with experiments: </a:t>
            </a:r>
            <a:r>
              <a:rPr lang="en-US" dirty="0">
                <a:solidFill>
                  <a:srgbClr val="011893"/>
                </a:solidFill>
              </a:rPr>
              <a:t>field manipulation</a:t>
            </a:r>
            <a:r>
              <a:rPr lang="en-US" dirty="0"/>
              <a:t> example (</a:t>
            </a:r>
            <a:r>
              <a:rPr lang="en-US" dirty="0" err="1"/>
              <a:t>Cheaib</a:t>
            </a:r>
            <a:r>
              <a:rPr lang="en-US" dirty="0"/>
              <a:t> et al., 2025)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71732-C2AF-B189-FBF5-D93F1EF63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869768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B2BB6-E4FA-24FE-8552-6660F8696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3E82-DD9B-DA88-377E-FA2E509E4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theory with experiments: </a:t>
            </a:r>
            <a:r>
              <a:rPr lang="en-US" dirty="0">
                <a:solidFill>
                  <a:srgbClr val="011893"/>
                </a:solidFill>
              </a:rPr>
              <a:t>field manipulation</a:t>
            </a:r>
            <a:r>
              <a:rPr lang="en-US" dirty="0"/>
              <a:t> example (</a:t>
            </a:r>
            <a:r>
              <a:rPr lang="en-US" dirty="0" err="1"/>
              <a:t>Cheaib</a:t>
            </a:r>
            <a:r>
              <a:rPr lang="en-US" dirty="0"/>
              <a:t> et al., 2025)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62AD5-0ADD-3278-160C-8164D4ACE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273134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C18F5-78A4-B235-AC4E-8DBBCD44B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E50E9-DC92-1610-D842-465CA7105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theory with experiments: </a:t>
            </a:r>
            <a:r>
              <a:rPr lang="en-US" dirty="0">
                <a:solidFill>
                  <a:srgbClr val="011893"/>
                </a:solidFill>
              </a:rPr>
              <a:t>field manipulation</a:t>
            </a:r>
            <a:r>
              <a:rPr lang="en-US" dirty="0"/>
              <a:t> example (</a:t>
            </a:r>
            <a:r>
              <a:rPr lang="en-US" dirty="0" err="1"/>
              <a:t>Cheaib</a:t>
            </a:r>
            <a:r>
              <a:rPr lang="en-US" dirty="0"/>
              <a:t> et al., 2025)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873E9-C7E5-9E52-8BAF-81BADC946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262673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A6E3C-8E03-4ECA-6BF9-735331C60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Ongoing </a:t>
            </a:r>
            <a:r>
              <a:rPr lang="en-US" dirty="0">
                <a:solidFill>
                  <a:srgbClr val="011893"/>
                </a:solidFill>
              </a:rPr>
              <a:t>field manipulation</a:t>
            </a:r>
            <a:r>
              <a:rPr lang="en-US" dirty="0"/>
              <a:t>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4C471-4A6B-54DE-88A2-8BF284D13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Individual and community trait responses to soil resource availability across climatic gradients (PhD Monika Kelley)</a:t>
            </a:r>
          </a:p>
          <a:p>
            <a:pPr lvl="1"/>
            <a:r>
              <a:rPr lang="en-US" dirty="0"/>
              <a:t>Physiological, morphological, and biochemical traits</a:t>
            </a:r>
          </a:p>
          <a:p>
            <a:r>
              <a:rPr lang="en-US" dirty="0"/>
              <a:t>Connection between plant trait-environment relationships and population dynamics (postdoc </a:t>
            </a:r>
            <a:r>
              <a:rPr lang="en-US" dirty="0" err="1"/>
              <a:t>Alissar</a:t>
            </a:r>
            <a:r>
              <a:rPr lang="en-US" dirty="0"/>
              <a:t> </a:t>
            </a:r>
            <a:r>
              <a:rPr lang="en-US" dirty="0" err="1"/>
              <a:t>Cheaib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New approach can explore how trait responses influence population dynamics</a:t>
            </a:r>
          </a:p>
          <a:p>
            <a:r>
              <a:rPr lang="en-US" dirty="0"/>
              <a:t>Plant trait responses to experimental warming across elevations (postdoc </a:t>
            </a:r>
            <a:r>
              <a:rPr lang="en-US" dirty="0" err="1"/>
              <a:t>Alissar</a:t>
            </a:r>
            <a:r>
              <a:rPr lang="en-US" dirty="0"/>
              <a:t> </a:t>
            </a:r>
            <a:r>
              <a:rPr lang="en-US" dirty="0" err="1"/>
              <a:t>Cheaib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Temperature and non-temperature drivers of elevational responses</a:t>
            </a:r>
          </a:p>
        </p:txBody>
      </p:sp>
    </p:spTree>
    <p:extLst>
      <p:ext uri="{BB962C8B-B14F-4D97-AF65-F5344CB8AC3E}">
        <p14:creationId xmlns:p14="http://schemas.microsoft.com/office/powerpoint/2010/main" val="3523084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116F5-FAE1-8348-B08C-A507CD8BA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5551-1985-B12C-46D3-CA0AF50F6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A29F8-B6CB-1EDE-147A-F2D13F377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Growth chamber experiments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Glasshouse experiments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bg2"/>
                </a:solidFill>
              </a:rPr>
              <a:t>Field manipulation experiments</a:t>
            </a:r>
          </a:p>
        </p:txBody>
      </p:sp>
      <p:sp>
        <p:nvSpPr>
          <p:cNvPr id="5" name="Left-Right Arrow 4">
            <a:extLst>
              <a:ext uri="{FF2B5EF4-FFF2-40B4-BE49-F238E27FC236}">
                <a16:creationId xmlns:a16="http://schemas.microsoft.com/office/drawing/2014/main" id="{8322FE0F-1BA2-86CD-6B4C-B6C328A574BC}"/>
              </a:ext>
            </a:extLst>
          </p:cNvPr>
          <p:cNvSpPr/>
          <p:nvPr/>
        </p:nvSpPr>
        <p:spPr>
          <a:xfrm rot="16200000">
            <a:off x="8448294" y="3147822"/>
            <a:ext cx="4654296" cy="1156716"/>
          </a:xfrm>
          <a:prstGeom prst="leftRightArrow">
            <a:avLst/>
          </a:prstGeom>
          <a:solidFill>
            <a:schemeClr val="tx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Realism</a:t>
            </a:r>
          </a:p>
        </p:txBody>
      </p:sp>
      <p:sp>
        <p:nvSpPr>
          <p:cNvPr id="6" name="Left-Right Arrow 5">
            <a:extLst>
              <a:ext uri="{FF2B5EF4-FFF2-40B4-BE49-F238E27FC236}">
                <a16:creationId xmlns:a16="http://schemas.microsoft.com/office/drawing/2014/main" id="{1DBD77E5-A821-5FDD-CAEC-E13B85ED8471}"/>
              </a:ext>
            </a:extLst>
          </p:cNvPr>
          <p:cNvSpPr/>
          <p:nvPr/>
        </p:nvSpPr>
        <p:spPr>
          <a:xfrm rot="16200000">
            <a:off x="6491478" y="3147822"/>
            <a:ext cx="4654296" cy="1156716"/>
          </a:xfrm>
          <a:prstGeom prst="leftRightArrow">
            <a:avLst/>
          </a:prstGeom>
          <a:solidFill>
            <a:schemeClr val="tx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Logistics</a:t>
            </a:r>
          </a:p>
        </p:txBody>
      </p:sp>
      <p:sp>
        <p:nvSpPr>
          <p:cNvPr id="7" name="Left-Right Arrow 6">
            <a:extLst>
              <a:ext uri="{FF2B5EF4-FFF2-40B4-BE49-F238E27FC236}">
                <a16:creationId xmlns:a16="http://schemas.microsoft.com/office/drawing/2014/main" id="{B65DA3CD-F0EF-0835-E9BC-1B5CA20BA02A}"/>
              </a:ext>
            </a:extLst>
          </p:cNvPr>
          <p:cNvSpPr/>
          <p:nvPr/>
        </p:nvSpPr>
        <p:spPr>
          <a:xfrm rot="16200000">
            <a:off x="4534662" y="3147822"/>
            <a:ext cx="4654296" cy="1156716"/>
          </a:xfrm>
          <a:prstGeom prst="leftRightArrow">
            <a:avLst/>
          </a:prstGeom>
          <a:solidFill>
            <a:schemeClr val="tx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Level of Control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76E94-DA1C-6E9F-0B0A-EA0CA7C7D441}"/>
              </a:ext>
            </a:extLst>
          </p:cNvPr>
          <p:cNvSpPr txBox="1"/>
          <p:nvPr/>
        </p:nvSpPr>
        <p:spPr>
          <a:xfrm>
            <a:off x="6184696" y="690677"/>
            <a:ext cx="12554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11893"/>
                </a:solidFill>
              </a:rPr>
              <a:t>High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1414C7-8159-3A3B-A1D7-33CE328B172C}"/>
              </a:ext>
            </a:extLst>
          </p:cNvPr>
          <p:cNvSpPr txBox="1"/>
          <p:nvPr/>
        </p:nvSpPr>
        <p:spPr>
          <a:xfrm>
            <a:off x="6296527" y="6053328"/>
            <a:ext cx="11305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1DDE10-7591-02B2-3D9D-467098C8E540}"/>
              </a:ext>
            </a:extLst>
          </p:cNvPr>
          <p:cNvSpPr txBox="1"/>
          <p:nvPr/>
        </p:nvSpPr>
        <p:spPr>
          <a:xfrm>
            <a:off x="8181496" y="689712"/>
            <a:ext cx="12742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11893"/>
                </a:solidFill>
              </a:rPr>
              <a:t>Easy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F360CA-3822-24D7-6B78-8FCF995E8F28}"/>
              </a:ext>
            </a:extLst>
          </p:cNvPr>
          <p:cNvSpPr txBox="1"/>
          <p:nvPr/>
        </p:nvSpPr>
        <p:spPr>
          <a:xfrm>
            <a:off x="8155303" y="6053328"/>
            <a:ext cx="13266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Hard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5C209B-7F45-99CA-3C73-1C705693B26A}"/>
              </a:ext>
            </a:extLst>
          </p:cNvPr>
          <p:cNvSpPr txBox="1"/>
          <p:nvPr/>
        </p:nvSpPr>
        <p:spPr>
          <a:xfrm>
            <a:off x="10128823" y="696328"/>
            <a:ext cx="12837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Fake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7E3EE3-D74B-39D0-CEC8-34F55D83BA51}"/>
              </a:ext>
            </a:extLst>
          </p:cNvPr>
          <p:cNvSpPr txBox="1"/>
          <p:nvPr/>
        </p:nvSpPr>
        <p:spPr>
          <a:xfrm>
            <a:off x="10159728" y="6053328"/>
            <a:ext cx="12314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11893"/>
                </a:solidFill>
              </a:rPr>
              <a:t>Real</a:t>
            </a:r>
          </a:p>
        </p:txBody>
      </p:sp>
      <p:pic>
        <p:nvPicPr>
          <p:cNvPr id="1026" name="Picture 2" descr="LED-41L2 LED Plant Growth Chamber | Geneva Scientific">
            <a:extLst>
              <a:ext uri="{FF2B5EF4-FFF2-40B4-BE49-F238E27FC236}">
                <a16:creationId xmlns:a16="http://schemas.microsoft.com/office/drawing/2014/main" id="{C4D4BCBD-B4CC-6506-1781-BC2D6866D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689" y="2266725"/>
            <a:ext cx="854860" cy="129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espoke Glasshouse Canopy &amp; Pergola - Hartley Botanic">
            <a:extLst>
              <a:ext uri="{FF2B5EF4-FFF2-40B4-BE49-F238E27FC236}">
                <a16:creationId xmlns:a16="http://schemas.microsoft.com/office/drawing/2014/main" id="{1F01F3E4-A53B-E641-6C65-88E9BDD5D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359" y="3831583"/>
            <a:ext cx="2599944" cy="1039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ur Very own Time Machine: The Boston Area Climate Experiment - Waltham  Field Station">
            <a:extLst>
              <a:ext uri="{FF2B5EF4-FFF2-40B4-BE49-F238E27FC236}">
                <a16:creationId xmlns:a16="http://schemas.microsoft.com/office/drawing/2014/main" id="{CF02182C-F30C-1663-7BE0-FDE194485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64" y="5353812"/>
            <a:ext cx="1865376" cy="139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260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A14B2-011E-6D4A-8213-F19EA8E46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3EC72-E7B4-14BD-E752-C3E2F4F54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theory with experiments: </a:t>
            </a:r>
            <a:r>
              <a:rPr lang="en-US" dirty="0">
                <a:solidFill>
                  <a:srgbClr val="011893"/>
                </a:solidFill>
              </a:rPr>
              <a:t>glasshouse</a:t>
            </a:r>
            <a:r>
              <a:rPr lang="en-US" dirty="0"/>
              <a:t> example (Waring et al., 2023)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E45408-0676-3B3A-DA88-4470FAEB1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41732"/>
            <a:ext cx="77724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75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DF85F-3EB1-B273-8979-2EC937FA8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DFFA2-6F0A-87BB-9DB5-E1BB6A102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theory with experiments: </a:t>
            </a:r>
            <a:r>
              <a:rPr lang="en-US" dirty="0">
                <a:solidFill>
                  <a:srgbClr val="011893"/>
                </a:solidFill>
              </a:rPr>
              <a:t>glasshouse</a:t>
            </a:r>
            <a:r>
              <a:rPr lang="en-US" dirty="0"/>
              <a:t> example (Waring et al., 2023)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87A98-6830-9233-3A9C-25BF13B9B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21886753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D5382-9007-1CC5-77F4-AE391474B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ECEC5-39D4-BF1A-14DF-B218C411D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theory with experiments: </a:t>
            </a:r>
            <a:r>
              <a:rPr lang="en-US" dirty="0">
                <a:solidFill>
                  <a:srgbClr val="011893"/>
                </a:solidFill>
              </a:rPr>
              <a:t>glasshouse</a:t>
            </a:r>
            <a:r>
              <a:rPr lang="en-US" dirty="0"/>
              <a:t> example (Waring et al., 2023)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89DEA-3A14-9405-4300-7D32FD769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625571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4DD92-30E8-BC92-4A07-0214F1D30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AD451-B5A9-B820-68C6-6C8AADC63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theory with experiments: </a:t>
            </a:r>
            <a:r>
              <a:rPr lang="en-US" dirty="0">
                <a:solidFill>
                  <a:srgbClr val="011893"/>
                </a:solidFill>
              </a:rPr>
              <a:t>glasshouse</a:t>
            </a:r>
            <a:r>
              <a:rPr lang="en-US" dirty="0"/>
              <a:t> example (Waring et al., 2023)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DFB02-96C3-F8C1-0AB4-24EE6503D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688333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A5417-1B81-79ED-EA2A-94114B593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149F4-B956-71E3-BD05-DA14D4827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Ongoing </a:t>
            </a:r>
            <a:r>
              <a:rPr lang="en-US" dirty="0">
                <a:solidFill>
                  <a:srgbClr val="011893"/>
                </a:solidFill>
              </a:rPr>
              <a:t>glasshouse </a:t>
            </a:r>
            <a:r>
              <a:rPr lang="en-US" dirty="0"/>
              <a:t>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0B3E3-9C16-9592-359B-01514E837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Separation of soil water and nutrients on plant traits (postdoc </a:t>
            </a:r>
            <a:r>
              <a:rPr lang="en-US" dirty="0" err="1"/>
              <a:t>Alissar</a:t>
            </a:r>
            <a:r>
              <a:rPr lang="en-US" dirty="0"/>
              <a:t> </a:t>
            </a:r>
            <a:r>
              <a:rPr lang="en-US" dirty="0" err="1"/>
              <a:t>Cheaib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Explores how water influences nutrient availability and impact on theoretical understanding</a:t>
            </a:r>
          </a:p>
          <a:p>
            <a:r>
              <a:rPr lang="en-US" dirty="0"/>
              <a:t>Plant trait responses to Phosphorus demand and availability in C3/C4 </a:t>
            </a:r>
            <a:r>
              <a:rPr lang="en-US" dirty="0" err="1"/>
              <a:t>spcies</a:t>
            </a:r>
            <a:r>
              <a:rPr lang="en-US" dirty="0"/>
              <a:t> (PhD Monika Kelley)</a:t>
            </a:r>
          </a:p>
          <a:p>
            <a:pPr lvl="1"/>
            <a:r>
              <a:rPr lang="en-US" dirty="0"/>
              <a:t>Will be comparable to Waring et al. (2023) results, but for P</a:t>
            </a:r>
          </a:p>
          <a:p>
            <a:r>
              <a:rPr lang="en-US" dirty="0"/>
              <a:t>Plant trait responses to environment under mycorrhizal associations (PhD </a:t>
            </a:r>
            <a:r>
              <a:rPr lang="en-US" dirty="0" err="1"/>
              <a:t>Snehanjana</a:t>
            </a:r>
            <a:r>
              <a:rPr lang="en-US" dirty="0"/>
              <a:t> Chatterjee and postdoc </a:t>
            </a:r>
            <a:r>
              <a:rPr lang="en-US" dirty="0" err="1"/>
              <a:t>Alissar</a:t>
            </a:r>
            <a:r>
              <a:rPr lang="en-US" dirty="0"/>
              <a:t> </a:t>
            </a:r>
            <a:r>
              <a:rPr lang="en-US" dirty="0" err="1"/>
              <a:t>Cheaib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Multiple projects using different mycorrhizal and environmental treatments</a:t>
            </a:r>
          </a:p>
        </p:txBody>
      </p:sp>
    </p:spTree>
    <p:extLst>
      <p:ext uri="{BB962C8B-B14F-4D97-AF65-F5344CB8AC3E}">
        <p14:creationId xmlns:p14="http://schemas.microsoft.com/office/powerpoint/2010/main" val="2473846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B7BA4-9422-10A6-2929-402DC312E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6E2B2-3352-C04F-4B24-AB83B0742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64B66-92C5-756E-421D-0E5288D44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Growth chamber experiments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bg2"/>
                </a:solidFill>
              </a:rPr>
              <a:t>Glasshouse experiments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Field manipulation experiments</a:t>
            </a:r>
          </a:p>
        </p:txBody>
      </p:sp>
      <p:sp>
        <p:nvSpPr>
          <p:cNvPr id="5" name="Left-Right Arrow 4">
            <a:extLst>
              <a:ext uri="{FF2B5EF4-FFF2-40B4-BE49-F238E27FC236}">
                <a16:creationId xmlns:a16="http://schemas.microsoft.com/office/drawing/2014/main" id="{FCA58711-5CAD-411C-25DF-58E8A8DAF87E}"/>
              </a:ext>
            </a:extLst>
          </p:cNvPr>
          <p:cNvSpPr/>
          <p:nvPr/>
        </p:nvSpPr>
        <p:spPr>
          <a:xfrm rot="16200000">
            <a:off x="8448294" y="3147822"/>
            <a:ext cx="4654296" cy="1156716"/>
          </a:xfrm>
          <a:prstGeom prst="leftRightArrow">
            <a:avLst/>
          </a:prstGeom>
          <a:solidFill>
            <a:schemeClr val="tx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Realism</a:t>
            </a:r>
          </a:p>
        </p:txBody>
      </p:sp>
      <p:sp>
        <p:nvSpPr>
          <p:cNvPr id="6" name="Left-Right Arrow 5">
            <a:extLst>
              <a:ext uri="{FF2B5EF4-FFF2-40B4-BE49-F238E27FC236}">
                <a16:creationId xmlns:a16="http://schemas.microsoft.com/office/drawing/2014/main" id="{1DA49950-81BF-8B2F-93D6-4A735CD0B0B3}"/>
              </a:ext>
            </a:extLst>
          </p:cNvPr>
          <p:cNvSpPr/>
          <p:nvPr/>
        </p:nvSpPr>
        <p:spPr>
          <a:xfrm rot="16200000">
            <a:off x="6491478" y="3147822"/>
            <a:ext cx="4654296" cy="1156716"/>
          </a:xfrm>
          <a:prstGeom prst="leftRightArrow">
            <a:avLst/>
          </a:prstGeom>
          <a:solidFill>
            <a:schemeClr val="tx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Logistics</a:t>
            </a:r>
          </a:p>
        </p:txBody>
      </p:sp>
      <p:sp>
        <p:nvSpPr>
          <p:cNvPr id="7" name="Left-Right Arrow 6">
            <a:extLst>
              <a:ext uri="{FF2B5EF4-FFF2-40B4-BE49-F238E27FC236}">
                <a16:creationId xmlns:a16="http://schemas.microsoft.com/office/drawing/2014/main" id="{BC13D6CB-68BE-C5F0-EC8C-02C3F1525786}"/>
              </a:ext>
            </a:extLst>
          </p:cNvPr>
          <p:cNvSpPr/>
          <p:nvPr/>
        </p:nvSpPr>
        <p:spPr>
          <a:xfrm rot="16200000">
            <a:off x="4534662" y="3147822"/>
            <a:ext cx="4654296" cy="1156716"/>
          </a:xfrm>
          <a:prstGeom prst="leftRightArrow">
            <a:avLst/>
          </a:prstGeom>
          <a:solidFill>
            <a:schemeClr val="tx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Level of Control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4BC99-E592-CA75-445B-00E58D1B24F6}"/>
              </a:ext>
            </a:extLst>
          </p:cNvPr>
          <p:cNvSpPr txBox="1"/>
          <p:nvPr/>
        </p:nvSpPr>
        <p:spPr>
          <a:xfrm>
            <a:off x="6184696" y="690677"/>
            <a:ext cx="12554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11893"/>
                </a:solidFill>
              </a:rPr>
              <a:t>High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EE8BC9-6A28-6A39-CB09-EBFB36F9387E}"/>
              </a:ext>
            </a:extLst>
          </p:cNvPr>
          <p:cNvSpPr txBox="1"/>
          <p:nvPr/>
        </p:nvSpPr>
        <p:spPr>
          <a:xfrm>
            <a:off x="6296527" y="6053328"/>
            <a:ext cx="11305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F4642E-FF40-9729-718F-0D389E77DB06}"/>
              </a:ext>
            </a:extLst>
          </p:cNvPr>
          <p:cNvSpPr txBox="1"/>
          <p:nvPr/>
        </p:nvSpPr>
        <p:spPr>
          <a:xfrm>
            <a:off x="8181496" y="689712"/>
            <a:ext cx="12742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11893"/>
                </a:solidFill>
              </a:rPr>
              <a:t>Easy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9F43B7-3B63-77CE-31ED-1A616B39CAEE}"/>
              </a:ext>
            </a:extLst>
          </p:cNvPr>
          <p:cNvSpPr txBox="1"/>
          <p:nvPr/>
        </p:nvSpPr>
        <p:spPr>
          <a:xfrm>
            <a:off x="8155303" y="6053328"/>
            <a:ext cx="13266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Hard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CF897C-AED9-0320-0C8A-9E40343A3343}"/>
              </a:ext>
            </a:extLst>
          </p:cNvPr>
          <p:cNvSpPr txBox="1"/>
          <p:nvPr/>
        </p:nvSpPr>
        <p:spPr>
          <a:xfrm>
            <a:off x="10128823" y="696328"/>
            <a:ext cx="12837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Fake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96C020-24E5-2822-7277-573E2238F455}"/>
              </a:ext>
            </a:extLst>
          </p:cNvPr>
          <p:cNvSpPr txBox="1"/>
          <p:nvPr/>
        </p:nvSpPr>
        <p:spPr>
          <a:xfrm>
            <a:off x="10159728" y="6053328"/>
            <a:ext cx="12314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11893"/>
                </a:solidFill>
              </a:rPr>
              <a:t>Real</a:t>
            </a:r>
          </a:p>
        </p:txBody>
      </p:sp>
      <p:pic>
        <p:nvPicPr>
          <p:cNvPr id="1026" name="Picture 2" descr="LED-41L2 LED Plant Growth Chamber | Geneva Scientific">
            <a:extLst>
              <a:ext uri="{FF2B5EF4-FFF2-40B4-BE49-F238E27FC236}">
                <a16:creationId xmlns:a16="http://schemas.microsoft.com/office/drawing/2014/main" id="{79B29B0B-2667-9B2E-B938-C8FA8149A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689" y="2266725"/>
            <a:ext cx="854860" cy="129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espoke Glasshouse Canopy &amp; Pergola - Hartley Botanic">
            <a:extLst>
              <a:ext uri="{FF2B5EF4-FFF2-40B4-BE49-F238E27FC236}">
                <a16:creationId xmlns:a16="http://schemas.microsoft.com/office/drawing/2014/main" id="{BE9506B3-1FF3-FC48-6BE9-3B34FD105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359" y="3831583"/>
            <a:ext cx="2599944" cy="1039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ur Very own Time Machine: The Boston Area Climate Experiment - Waltham  Field Station">
            <a:extLst>
              <a:ext uri="{FF2B5EF4-FFF2-40B4-BE49-F238E27FC236}">
                <a16:creationId xmlns:a16="http://schemas.microsoft.com/office/drawing/2014/main" id="{73DF32BB-0F07-06D6-3C27-8B7AC197A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64" y="5353812"/>
            <a:ext cx="1865376" cy="139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68830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3F2E-0C15-E3CA-C859-957496067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ADAB1-E102-DADA-E749-5FEE3F46B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theory with experiments: </a:t>
            </a:r>
            <a:r>
              <a:rPr lang="en-US" dirty="0">
                <a:solidFill>
                  <a:srgbClr val="011893"/>
                </a:solidFill>
              </a:rPr>
              <a:t>growth chamber</a:t>
            </a:r>
            <a:r>
              <a:rPr lang="en-US" dirty="0"/>
              <a:t> example (Perkowski et al., 2025)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022BA8-43A2-E33A-4D6A-8C4A1A1D8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302180"/>
            <a:ext cx="7772400" cy="352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422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D9524-4F75-C5E3-C39D-662B7D64E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ABC27-DAD5-E1B8-EE37-C0454587C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theory with experiments: </a:t>
            </a:r>
            <a:r>
              <a:rPr lang="en-US" dirty="0">
                <a:solidFill>
                  <a:srgbClr val="011893"/>
                </a:solidFill>
              </a:rPr>
              <a:t>growth chamber</a:t>
            </a:r>
            <a:r>
              <a:rPr lang="en-US" dirty="0"/>
              <a:t> example (Perkowski et al., 2023)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F27F6-1D94-6647-1C50-8C39EE82D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27927782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D6245-3F3C-1AF2-9C72-C33E85EB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27BBE-CA30-7CB5-A003-F2852B565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theory with experiments: </a:t>
            </a:r>
            <a:r>
              <a:rPr lang="en-US" dirty="0">
                <a:solidFill>
                  <a:srgbClr val="011893"/>
                </a:solidFill>
              </a:rPr>
              <a:t>growth chamber</a:t>
            </a:r>
            <a:r>
              <a:rPr lang="en-US" dirty="0"/>
              <a:t> example (Perkowski et al., 2023)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74611-9C82-A5C7-20C2-152E8775B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7410727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6DACB-2BAD-9F62-9E30-ED9DC1F2D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B9FA6-F4AF-8093-4872-E6ADC992F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theory with experiments: </a:t>
            </a:r>
            <a:r>
              <a:rPr lang="en-US" dirty="0">
                <a:solidFill>
                  <a:srgbClr val="011893"/>
                </a:solidFill>
              </a:rPr>
              <a:t>growth chamber</a:t>
            </a:r>
            <a:r>
              <a:rPr lang="en-US" dirty="0"/>
              <a:t> example (Perkowski et al., 2023)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85876-1964-C2F4-57AF-83F4E7A3B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6103050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FFD7B-FF67-520B-35A4-32481E1B8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0B234-3B21-5D49-B0FF-DB6DE3893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Ongoing </a:t>
            </a:r>
            <a:r>
              <a:rPr lang="en-US" dirty="0">
                <a:solidFill>
                  <a:srgbClr val="011893"/>
                </a:solidFill>
              </a:rPr>
              <a:t>growth chamber </a:t>
            </a:r>
            <a:r>
              <a:rPr lang="en-US" dirty="0"/>
              <a:t>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D9599-37F6-99C7-2B58-113970707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Dan</a:t>
            </a:r>
          </a:p>
          <a:p>
            <a:r>
              <a:rPr lang="en-US" dirty="0"/>
              <a:t>Garry</a:t>
            </a:r>
          </a:p>
          <a:p>
            <a:r>
              <a:rPr lang="en-US" dirty="0" err="1"/>
              <a:t>Zinny</a:t>
            </a:r>
            <a:endParaRPr lang="en-US" dirty="0"/>
          </a:p>
          <a:p>
            <a:r>
              <a:rPr lang="en-US"/>
              <a:t>Eve/Christine</a:t>
            </a:r>
          </a:p>
        </p:txBody>
      </p:sp>
    </p:spTree>
    <p:extLst>
      <p:ext uri="{BB962C8B-B14F-4D97-AF65-F5344CB8AC3E}">
        <p14:creationId xmlns:p14="http://schemas.microsoft.com/office/powerpoint/2010/main" val="33274172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259C-9CE0-839B-3CB3-03D9A6215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Takehomes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2FC3-80F1-BE06-4C0B-EC730F772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00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755</Words>
  <Application>Microsoft Macintosh PowerPoint</Application>
  <PresentationFormat>Widescreen</PresentationFormat>
  <Paragraphs>156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</vt:lpstr>
      <vt:lpstr>Aptos Display</vt:lpstr>
      <vt:lpstr>Arial</vt:lpstr>
      <vt:lpstr>Office Theme</vt:lpstr>
      <vt:lpstr>Using experiments to evaluate models of photosynthetic acclimation to global change</vt:lpstr>
      <vt:lpstr>What is photosynthetic acclimation?</vt:lpstr>
      <vt:lpstr>“A physiological, structural, or biochemical adjustment by an individual plant in response to an experimentally induced environmental stimulus that is manifested as alterations in the short-term response function of a physiological process.”</vt:lpstr>
      <vt:lpstr>Acclimation: an example</vt:lpstr>
      <vt:lpstr>Acclimation: an example</vt:lpstr>
      <vt:lpstr>Acclimation is ubiquitous and well known…</vt:lpstr>
      <vt:lpstr>…and can impact carbon cycling and climate</vt:lpstr>
      <vt:lpstr>PowerPoint Presentation</vt:lpstr>
      <vt:lpstr>LEMONTREE-developed EEO model of photosynthetic acclimation</vt:lpstr>
      <vt:lpstr>How do we know if the model is producing reliable simulations?</vt:lpstr>
      <vt:lpstr>Testing model predictions</vt:lpstr>
      <vt:lpstr>Testing model predictions</vt:lpstr>
      <vt:lpstr>Experiment types</vt:lpstr>
      <vt:lpstr>Experiment types</vt:lpstr>
      <vt:lpstr>Testing theory with experiments: field manipulation example (Cheaib et al., 2025)</vt:lpstr>
      <vt:lpstr>Testing theory with experiments: field manipulation example (Cheaib et al., 2025)</vt:lpstr>
      <vt:lpstr>Testing theory with experiments: field manipulation example (Cheaib et al., 2025)</vt:lpstr>
      <vt:lpstr>Testing theory with experiments: field manipulation example (Cheaib et al., 2025)</vt:lpstr>
      <vt:lpstr>Ongoing field manipulation work</vt:lpstr>
      <vt:lpstr>Experiment types</vt:lpstr>
      <vt:lpstr>Testing theory with experiments: glasshouse example (Waring et al., 2023)</vt:lpstr>
      <vt:lpstr>Testing theory with experiments: glasshouse example (Waring et al., 2023)</vt:lpstr>
      <vt:lpstr>Testing theory with experiments: glasshouse example (Waring et al., 2023)</vt:lpstr>
      <vt:lpstr>Testing theory with experiments: glasshouse example (Waring et al., 2023)</vt:lpstr>
      <vt:lpstr>Ongoing glasshouse work</vt:lpstr>
      <vt:lpstr>Experiment types</vt:lpstr>
      <vt:lpstr>Testing theory with experiments: growth chamber example (Perkowski et al., 2025)</vt:lpstr>
      <vt:lpstr>Testing theory with experiments: growth chamber example (Perkowski et al., 2023)</vt:lpstr>
      <vt:lpstr>Testing theory with experiments: growth chamber example (Perkowski et al., 2023)</vt:lpstr>
      <vt:lpstr>Testing theory with experiments: growth chamber example (Perkowski et al., 2023)</vt:lpstr>
      <vt:lpstr>Ongoing growth chamber work</vt:lpstr>
      <vt:lpstr>Takehomes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Nick</dc:creator>
  <cp:lastModifiedBy>Smith, Nick</cp:lastModifiedBy>
  <cp:revision>24</cp:revision>
  <dcterms:created xsi:type="dcterms:W3CDTF">2025-08-18T18:24:41Z</dcterms:created>
  <dcterms:modified xsi:type="dcterms:W3CDTF">2025-08-19T18:09:43Z</dcterms:modified>
</cp:coreProperties>
</file>