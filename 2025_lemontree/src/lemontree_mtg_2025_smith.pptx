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525" r:id="rId2"/>
    <p:sldId id="526" r:id="rId3"/>
    <p:sldId id="527" r:id="rId4"/>
    <p:sldId id="588" r:id="rId5"/>
    <p:sldId id="270" r:id="rId6"/>
    <p:sldId id="589" r:id="rId7"/>
    <p:sldId id="529" r:id="rId8"/>
    <p:sldId id="566" r:id="rId9"/>
    <p:sldId id="590" r:id="rId10"/>
    <p:sldId id="591" r:id="rId11"/>
    <p:sldId id="592" r:id="rId12"/>
    <p:sldId id="593" r:id="rId13"/>
    <p:sldId id="594" r:id="rId14"/>
    <p:sldId id="595" r:id="rId15"/>
    <p:sldId id="598" r:id="rId16"/>
    <p:sldId id="604" r:id="rId17"/>
    <p:sldId id="605" r:id="rId18"/>
    <p:sldId id="606" r:id="rId19"/>
    <p:sldId id="601" r:id="rId20"/>
    <p:sldId id="596" r:id="rId21"/>
    <p:sldId id="599" r:id="rId22"/>
    <p:sldId id="607" r:id="rId23"/>
    <p:sldId id="608" r:id="rId24"/>
    <p:sldId id="609" r:id="rId25"/>
    <p:sldId id="602" r:id="rId26"/>
    <p:sldId id="597" r:id="rId27"/>
    <p:sldId id="600" r:id="rId28"/>
    <p:sldId id="610" r:id="rId29"/>
    <p:sldId id="611" r:id="rId30"/>
    <p:sldId id="612" r:id="rId31"/>
    <p:sldId id="603" r:id="rId32"/>
    <p:sldId id="613" r:id="rId33"/>
    <p:sldId id="305"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18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796"/>
    <p:restoredTop sz="94713"/>
  </p:normalViewPr>
  <p:slideViewPr>
    <p:cSldViewPr snapToGrid="0">
      <p:cViewPr varScale="1">
        <p:scale>
          <a:sx n="146" d="100"/>
          <a:sy n="146" d="100"/>
        </p:scale>
        <p:origin x="200"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7AC-AFC8-CAFC-DACE-E7FA8039ACB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BF3EC4A-762C-682B-5242-20206BA2899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1F6A3AB-55AA-A03C-A944-C9D878B573EE}"/>
              </a:ext>
            </a:extLst>
          </p:cNvPr>
          <p:cNvSpPr>
            <a:spLocks noGrp="1"/>
          </p:cNvSpPr>
          <p:nvPr>
            <p:ph type="dt" sz="half" idx="10"/>
          </p:nvPr>
        </p:nvSpPr>
        <p:spPr/>
        <p:txBody>
          <a:bodyPr/>
          <a:lstStyle/>
          <a:p>
            <a:fld id="{AA73F032-BA39-D244-8281-1D866CB9DC4D}" type="datetimeFigureOut">
              <a:rPr lang="en-US" smtClean="0"/>
              <a:t>8/21/25</a:t>
            </a:fld>
            <a:endParaRPr lang="en-US"/>
          </a:p>
        </p:txBody>
      </p:sp>
      <p:sp>
        <p:nvSpPr>
          <p:cNvPr id="5" name="Footer Placeholder 4">
            <a:extLst>
              <a:ext uri="{FF2B5EF4-FFF2-40B4-BE49-F238E27FC236}">
                <a16:creationId xmlns:a16="http://schemas.microsoft.com/office/drawing/2014/main" id="{589BC308-8553-B24F-984F-04FA9AE290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406243-7BF2-87F7-B123-5FA9679C97A5}"/>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2616049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32004F-32CD-5C85-46E1-23358A65B5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17F82E7-AF92-2CC2-8354-3A8472C6D37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F23D5E-48E1-FEFA-A339-F968E64F7695}"/>
              </a:ext>
            </a:extLst>
          </p:cNvPr>
          <p:cNvSpPr>
            <a:spLocks noGrp="1"/>
          </p:cNvSpPr>
          <p:nvPr>
            <p:ph type="dt" sz="half" idx="10"/>
          </p:nvPr>
        </p:nvSpPr>
        <p:spPr/>
        <p:txBody>
          <a:bodyPr/>
          <a:lstStyle/>
          <a:p>
            <a:fld id="{AA73F032-BA39-D244-8281-1D866CB9DC4D}" type="datetimeFigureOut">
              <a:rPr lang="en-US" smtClean="0"/>
              <a:t>8/21/25</a:t>
            </a:fld>
            <a:endParaRPr lang="en-US"/>
          </a:p>
        </p:txBody>
      </p:sp>
      <p:sp>
        <p:nvSpPr>
          <p:cNvPr id="5" name="Footer Placeholder 4">
            <a:extLst>
              <a:ext uri="{FF2B5EF4-FFF2-40B4-BE49-F238E27FC236}">
                <a16:creationId xmlns:a16="http://schemas.microsoft.com/office/drawing/2014/main" id="{3B475004-2EFF-7B61-962F-1F80C541762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323E34-4B72-0988-FDBF-BBFC5A203765}"/>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2428378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E33B12-05EB-D219-6F85-6B78C83CFD9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9B348B0-0D4B-D4BF-F6B5-EBC261E42C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EF8747C-6E89-3D55-14E6-B0AA8812CB83}"/>
              </a:ext>
            </a:extLst>
          </p:cNvPr>
          <p:cNvSpPr>
            <a:spLocks noGrp="1"/>
          </p:cNvSpPr>
          <p:nvPr>
            <p:ph type="dt" sz="half" idx="10"/>
          </p:nvPr>
        </p:nvSpPr>
        <p:spPr/>
        <p:txBody>
          <a:bodyPr/>
          <a:lstStyle/>
          <a:p>
            <a:fld id="{AA73F032-BA39-D244-8281-1D866CB9DC4D}" type="datetimeFigureOut">
              <a:rPr lang="en-US" smtClean="0"/>
              <a:t>8/21/25</a:t>
            </a:fld>
            <a:endParaRPr lang="en-US"/>
          </a:p>
        </p:txBody>
      </p:sp>
      <p:sp>
        <p:nvSpPr>
          <p:cNvPr id="5" name="Footer Placeholder 4">
            <a:extLst>
              <a:ext uri="{FF2B5EF4-FFF2-40B4-BE49-F238E27FC236}">
                <a16:creationId xmlns:a16="http://schemas.microsoft.com/office/drawing/2014/main" id="{05073F6A-36B6-6C05-5A7C-6657E3D468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245E2A-3930-9436-828C-0FE9D067FE6D}"/>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2863517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D8AD59-E9E2-4DB3-4954-43396CABE8D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CA3BD21-85CA-00FA-242D-B626E461CC6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762FEFC-31E5-39BF-68CD-07EA8BD746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9D30912-8EE7-55BF-5271-29D2D9D8FBA7}"/>
              </a:ext>
            </a:extLst>
          </p:cNvPr>
          <p:cNvSpPr>
            <a:spLocks noGrp="1"/>
          </p:cNvSpPr>
          <p:nvPr>
            <p:ph type="dt" sz="half" idx="10"/>
          </p:nvPr>
        </p:nvSpPr>
        <p:spPr/>
        <p:txBody>
          <a:bodyPr/>
          <a:lstStyle/>
          <a:p>
            <a:fld id="{AA73F032-BA39-D244-8281-1D866CB9DC4D}" type="datetimeFigureOut">
              <a:rPr lang="en-US" smtClean="0"/>
              <a:t>8/21/25</a:t>
            </a:fld>
            <a:endParaRPr lang="en-US"/>
          </a:p>
        </p:txBody>
      </p:sp>
      <p:sp>
        <p:nvSpPr>
          <p:cNvPr id="6" name="Footer Placeholder 5">
            <a:extLst>
              <a:ext uri="{FF2B5EF4-FFF2-40B4-BE49-F238E27FC236}">
                <a16:creationId xmlns:a16="http://schemas.microsoft.com/office/drawing/2014/main" id="{D6B30B5F-934C-07DE-2F49-A195D770A0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7CA0E1-4E87-AA22-C328-2E6CC2E4EC69}"/>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28065257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6ECDF-9D04-508B-53CA-71407D36F4E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E330494-01E5-4D78-C220-05DDB63161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1341897-C4B5-CE6C-AA41-4C0E5FC3166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BA90DFC-ED66-49BD-765C-7E6BB6DB7B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3889283-7B39-EC06-675C-DEA12B7A887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360FBE5-1AF2-15F1-4501-BF6D9F63172F}"/>
              </a:ext>
            </a:extLst>
          </p:cNvPr>
          <p:cNvSpPr>
            <a:spLocks noGrp="1"/>
          </p:cNvSpPr>
          <p:nvPr>
            <p:ph type="dt" sz="half" idx="10"/>
          </p:nvPr>
        </p:nvSpPr>
        <p:spPr/>
        <p:txBody>
          <a:bodyPr/>
          <a:lstStyle/>
          <a:p>
            <a:fld id="{AA73F032-BA39-D244-8281-1D866CB9DC4D}" type="datetimeFigureOut">
              <a:rPr lang="en-US" smtClean="0"/>
              <a:t>8/21/25</a:t>
            </a:fld>
            <a:endParaRPr lang="en-US"/>
          </a:p>
        </p:txBody>
      </p:sp>
      <p:sp>
        <p:nvSpPr>
          <p:cNvPr id="8" name="Footer Placeholder 7">
            <a:extLst>
              <a:ext uri="{FF2B5EF4-FFF2-40B4-BE49-F238E27FC236}">
                <a16:creationId xmlns:a16="http://schemas.microsoft.com/office/drawing/2014/main" id="{764CDE3C-2C41-01FF-EA81-DF6371F9630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4BC2B7D-ABEF-15DC-B06D-215D5C682381}"/>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8681385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F6B8D-45B1-E230-1E58-3BE6E712779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BCBD305-8B22-91ED-B965-C7E33B6CF574}"/>
              </a:ext>
            </a:extLst>
          </p:cNvPr>
          <p:cNvSpPr>
            <a:spLocks noGrp="1"/>
          </p:cNvSpPr>
          <p:nvPr>
            <p:ph type="dt" sz="half" idx="10"/>
          </p:nvPr>
        </p:nvSpPr>
        <p:spPr/>
        <p:txBody>
          <a:bodyPr/>
          <a:lstStyle/>
          <a:p>
            <a:fld id="{AA73F032-BA39-D244-8281-1D866CB9DC4D}" type="datetimeFigureOut">
              <a:rPr lang="en-US" smtClean="0"/>
              <a:t>8/21/25</a:t>
            </a:fld>
            <a:endParaRPr lang="en-US"/>
          </a:p>
        </p:txBody>
      </p:sp>
      <p:sp>
        <p:nvSpPr>
          <p:cNvPr id="4" name="Footer Placeholder 3">
            <a:extLst>
              <a:ext uri="{FF2B5EF4-FFF2-40B4-BE49-F238E27FC236}">
                <a16:creationId xmlns:a16="http://schemas.microsoft.com/office/drawing/2014/main" id="{67856B13-8849-D3B7-6AF5-996A68EDB7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476CC4B-A5BA-B75A-C223-7B6E2C409776}"/>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4555436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3D903C0-48F6-0371-1096-63FB6569CA57}"/>
              </a:ext>
            </a:extLst>
          </p:cNvPr>
          <p:cNvSpPr>
            <a:spLocks noGrp="1"/>
          </p:cNvSpPr>
          <p:nvPr>
            <p:ph type="dt" sz="half" idx="10"/>
          </p:nvPr>
        </p:nvSpPr>
        <p:spPr/>
        <p:txBody>
          <a:bodyPr/>
          <a:lstStyle/>
          <a:p>
            <a:fld id="{AA73F032-BA39-D244-8281-1D866CB9DC4D}" type="datetimeFigureOut">
              <a:rPr lang="en-US" smtClean="0"/>
              <a:t>8/21/25</a:t>
            </a:fld>
            <a:endParaRPr lang="en-US"/>
          </a:p>
        </p:txBody>
      </p:sp>
      <p:sp>
        <p:nvSpPr>
          <p:cNvPr id="3" name="Footer Placeholder 2">
            <a:extLst>
              <a:ext uri="{FF2B5EF4-FFF2-40B4-BE49-F238E27FC236}">
                <a16:creationId xmlns:a16="http://schemas.microsoft.com/office/drawing/2014/main" id="{3D4F9CF6-F75A-7AF4-4E18-BF0EF877FCA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1D744E1-8EE3-4B34-B8D9-5EB723D53A05}"/>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8754322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AE3D6-E8E0-FDF2-E524-4C1560E32F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A08AF8D-6FC9-EE7A-993F-C0D7E444939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CA9FD3-6C09-EA0E-15CE-45EC2191F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F9EECE-5299-523C-2743-32523179A34B}"/>
              </a:ext>
            </a:extLst>
          </p:cNvPr>
          <p:cNvSpPr>
            <a:spLocks noGrp="1"/>
          </p:cNvSpPr>
          <p:nvPr>
            <p:ph type="dt" sz="half" idx="10"/>
          </p:nvPr>
        </p:nvSpPr>
        <p:spPr/>
        <p:txBody>
          <a:bodyPr/>
          <a:lstStyle/>
          <a:p>
            <a:fld id="{AA73F032-BA39-D244-8281-1D866CB9DC4D}" type="datetimeFigureOut">
              <a:rPr lang="en-US" smtClean="0"/>
              <a:t>8/21/25</a:t>
            </a:fld>
            <a:endParaRPr lang="en-US"/>
          </a:p>
        </p:txBody>
      </p:sp>
      <p:sp>
        <p:nvSpPr>
          <p:cNvPr id="6" name="Footer Placeholder 5">
            <a:extLst>
              <a:ext uri="{FF2B5EF4-FFF2-40B4-BE49-F238E27FC236}">
                <a16:creationId xmlns:a16="http://schemas.microsoft.com/office/drawing/2014/main" id="{F76561D0-296E-E8E7-9078-F1329E0C76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E630EC-38E8-28B7-2D98-A63B31C0DF9A}"/>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9991812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72239-2BDF-1472-4ADB-5CB0E0C61A4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F7C3635-61A0-17A6-9286-C22A88F593A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F926AA2-8675-9339-17C8-495A1EDAAB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249270-8869-16EA-789F-441FB3438287}"/>
              </a:ext>
            </a:extLst>
          </p:cNvPr>
          <p:cNvSpPr>
            <a:spLocks noGrp="1"/>
          </p:cNvSpPr>
          <p:nvPr>
            <p:ph type="dt" sz="half" idx="10"/>
          </p:nvPr>
        </p:nvSpPr>
        <p:spPr/>
        <p:txBody>
          <a:bodyPr/>
          <a:lstStyle/>
          <a:p>
            <a:fld id="{AA73F032-BA39-D244-8281-1D866CB9DC4D}" type="datetimeFigureOut">
              <a:rPr lang="en-US" smtClean="0"/>
              <a:t>8/21/25</a:t>
            </a:fld>
            <a:endParaRPr lang="en-US"/>
          </a:p>
        </p:txBody>
      </p:sp>
      <p:sp>
        <p:nvSpPr>
          <p:cNvPr id="6" name="Footer Placeholder 5">
            <a:extLst>
              <a:ext uri="{FF2B5EF4-FFF2-40B4-BE49-F238E27FC236}">
                <a16:creationId xmlns:a16="http://schemas.microsoft.com/office/drawing/2014/main" id="{A89742F2-A6BF-EE10-1B3E-D2A0ED8C80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860094-82DE-2876-098E-14F1CDC31D7B}"/>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2827828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B9626-1A14-0921-535D-0C541D1A059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1103D3B-386B-D292-3853-2AAC86CBBA3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13BF9DC-080E-B682-0919-81B8D8D105E3}"/>
              </a:ext>
            </a:extLst>
          </p:cNvPr>
          <p:cNvSpPr>
            <a:spLocks noGrp="1"/>
          </p:cNvSpPr>
          <p:nvPr>
            <p:ph type="dt" sz="half" idx="10"/>
          </p:nvPr>
        </p:nvSpPr>
        <p:spPr/>
        <p:txBody>
          <a:bodyPr/>
          <a:lstStyle/>
          <a:p>
            <a:fld id="{AA73F032-BA39-D244-8281-1D866CB9DC4D}" type="datetimeFigureOut">
              <a:rPr lang="en-US" smtClean="0"/>
              <a:t>8/21/25</a:t>
            </a:fld>
            <a:endParaRPr lang="en-US"/>
          </a:p>
        </p:txBody>
      </p:sp>
      <p:sp>
        <p:nvSpPr>
          <p:cNvPr id="5" name="Footer Placeholder 4">
            <a:extLst>
              <a:ext uri="{FF2B5EF4-FFF2-40B4-BE49-F238E27FC236}">
                <a16:creationId xmlns:a16="http://schemas.microsoft.com/office/drawing/2014/main" id="{993FE392-6765-A119-F8F0-6E9F44651A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BA59E8-828F-4AE1-E7BD-606FD844C984}"/>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1343442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723AB9-60D6-540E-3B79-9DCF071C2E5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9F5044-2060-36DD-B1A0-52F94BB3AAA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89D728-6A55-175D-26BC-BD8D91300BDA}"/>
              </a:ext>
            </a:extLst>
          </p:cNvPr>
          <p:cNvSpPr>
            <a:spLocks noGrp="1"/>
          </p:cNvSpPr>
          <p:nvPr>
            <p:ph type="dt" sz="half" idx="10"/>
          </p:nvPr>
        </p:nvSpPr>
        <p:spPr/>
        <p:txBody>
          <a:bodyPr/>
          <a:lstStyle/>
          <a:p>
            <a:fld id="{AA73F032-BA39-D244-8281-1D866CB9DC4D}" type="datetimeFigureOut">
              <a:rPr lang="en-US" smtClean="0"/>
              <a:t>8/21/25</a:t>
            </a:fld>
            <a:endParaRPr lang="en-US"/>
          </a:p>
        </p:txBody>
      </p:sp>
      <p:sp>
        <p:nvSpPr>
          <p:cNvPr id="5" name="Footer Placeholder 4">
            <a:extLst>
              <a:ext uri="{FF2B5EF4-FFF2-40B4-BE49-F238E27FC236}">
                <a16:creationId xmlns:a16="http://schemas.microsoft.com/office/drawing/2014/main" id="{C7962F44-B1F2-CD84-7E97-C8D96E73C6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C69C49-2083-046B-219D-8BE268226C59}"/>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32565980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C83C61-9BBA-02CE-ADDC-0209EABDC6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9E3F75C-C23C-9B67-5537-387BAFFCCB7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AFF519-C415-BCB8-6829-8900D6507F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A73F032-BA39-D244-8281-1D866CB9DC4D}" type="datetimeFigureOut">
              <a:rPr lang="en-US" smtClean="0"/>
              <a:t>8/21/25</a:t>
            </a:fld>
            <a:endParaRPr lang="en-US"/>
          </a:p>
        </p:txBody>
      </p:sp>
      <p:sp>
        <p:nvSpPr>
          <p:cNvPr id="5" name="Footer Placeholder 4">
            <a:extLst>
              <a:ext uri="{FF2B5EF4-FFF2-40B4-BE49-F238E27FC236}">
                <a16:creationId xmlns:a16="http://schemas.microsoft.com/office/drawing/2014/main" id="{1CA29978-BD1E-AFE4-83FB-79BE72BE60F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B765B39-DEA6-A88C-8D58-C98497B90C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4F4EA94-A3D1-1441-B5BD-FDC2B3C77258}" type="slidenum">
              <a:rPr lang="en-US" smtClean="0"/>
              <a:t>‹#›</a:t>
            </a:fld>
            <a:endParaRPr lang="en-US"/>
          </a:p>
        </p:txBody>
      </p:sp>
    </p:spTree>
    <p:extLst>
      <p:ext uri="{BB962C8B-B14F-4D97-AF65-F5344CB8AC3E}">
        <p14:creationId xmlns:p14="http://schemas.microsoft.com/office/powerpoint/2010/main" val="3141703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1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2.xml"/><Relationship Id="rId4" Type="http://schemas.openxmlformats.org/officeDocument/2006/relationships/image" Target="../media/image19.jpeg"/></Relationships>
</file>

<file path=ppt/slides/_rels/slide17.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3B2D5E2-AF7B-C345-BE3C-D7BD2BCEFEB1}"/>
              </a:ext>
            </a:extLst>
          </p:cNvPr>
          <p:cNvPicPr>
            <a:picLocks noChangeAspect="1"/>
          </p:cNvPicPr>
          <p:nvPr/>
        </p:nvPicPr>
        <p:blipFill rotWithShape="1">
          <a:blip r:embed="rId2"/>
          <a:srcRect t="15399"/>
          <a:stretch/>
        </p:blipFill>
        <p:spPr>
          <a:xfrm>
            <a:off x="-1" y="7336"/>
            <a:ext cx="12192000" cy="6850664"/>
          </a:xfrm>
          <a:prstGeom prst="rect">
            <a:avLst/>
          </a:prstGeom>
        </p:spPr>
      </p:pic>
      <p:sp>
        <p:nvSpPr>
          <p:cNvPr id="2" name="Title 1">
            <a:extLst>
              <a:ext uri="{FF2B5EF4-FFF2-40B4-BE49-F238E27FC236}">
                <a16:creationId xmlns:a16="http://schemas.microsoft.com/office/drawing/2014/main" id="{DDA441E5-3D55-F040-90AD-D008C8367894}"/>
              </a:ext>
            </a:extLst>
          </p:cNvPr>
          <p:cNvSpPr>
            <a:spLocks noGrp="1"/>
          </p:cNvSpPr>
          <p:nvPr>
            <p:ph type="ctrTitle"/>
          </p:nvPr>
        </p:nvSpPr>
        <p:spPr>
          <a:xfrm>
            <a:off x="1524000" y="1045068"/>
            <a:ext cx="9144000" cy="2387600"/>
          </a:xfrm>
          <a:solidFill>
            <a:schemeClr val="bg1"/>
          </a:solidFill>
          <a:ln w="76200">
            <a:solidFill>
              <a:srgbClr val="011893"/>
            </a:solidFill>
          </a:ln>
        </p:spPr>
        <p:txBody>
          <a:bodyPr>
            <a:normAutofit/>
          </a:bodyPr>
          <a:lstStyle/>
          <a:p>
            <a:r>
              <a:rPr lang="en-US" sz="4400" dirty="0">
                <a:solidFill>
                  <a:srgbClr val="011893"/>
                </a:solidFill>
              </a:rPr>
              <a:t>Using experiments to evaluate models of photosynthetic acclimation to global change</a:t>
            </a:r>
            <a:endParaRPr lang="en-US" dirty="0">
              <a:solidFill>
                <a:srgbClr val="011893"/>
              </a:solidFill>
            </a:endParaRPr>
          </a:p>
        </p:txBody>
      </p:sp>
      <p:sp>
        <p:nvSpPr>
          <p:cNvPr id="3" name="Subtitle 2">
            <a:extLst>
              <a:ext uri="{FF2B5EF4-FFF2-40B4-BE49-F238E27FC236}">
                <a16:creationId xmlns:a16="http://schemas.microsoft.com/office/drawing/2014/main" id="{33E65786-8F48-8941-8659-88E4122EC01B}"/>
              </a:ext>
            </a:extLst>
          </p:cNvPr>
          <p:cNvSpPr>
            <a:spLocks noGrp="1"/>
          </p:cNvSpPr>
          <p:nvPr>
            <p:ph type="subTitle" idx="1"/>
          </p:nvPr>
        </p:nvSpPr>
        <p:spPr>
          <a:xfrm>
            <a:off x="3041620" y="3820006"/>
            <a:ext cx="6108758" cy="2236237"/>
          </a:xfrm>
          <a:solidFill>
            <a:schemeClr val="bg1"/>
          </a:solidFill>
          <a:ln w="76200">
            <a:solidFill>
              <a:srgbClr val="011893"/>
            </a:solidFill>
          </a:ln>
        </p:spPr>
        <p:txBody>
          <a:bodyPr>
            <a:normAutofit/>
          </a:bodyPr>
          <a:lstStyle/>
          <a:p>
            <a:r>
              <a:rPr lang="en-US" sz="4400" b="1" dirty="0"/>
              <a:t>Nick Smith</a:t>
            </a:r>
          </a:p>
          <a:p>
            <a:r>
              <a:rPr lang="en-US" dirty="0">
                <a:solidFill>
                  <a:srgbClr val="011893"/>
                </a:solidFill>
              </a:rPr>
              <a:t>Department of Biological Sciences</a:t>
            </a:r>
          </a:p>
          <a:p>
            <a:r>
              <a:rPr lang="en-US" dirty="0">
                <a:solidFill>
                  <a:srgbClr val="011893"/>
                </a:solidFill>
              </a:rPr>
              <a:t>Texas Tech University</a:t>
            </a:r>
          </a:p>
          <a:p>
            <a:r>
              <a:rPr lang="en-US" dirty="0" err="1">
                <a:solidFill>
                  <a:srgbClr val="011893"/>
                </a:solidFill>
              </a:rPr>
              <a:t>nick.smith@ttu.edu</a:t>
            </a:r>
            <a:endParaRPr lang="en-US" dirty="0">
              <a:solidFill>
                <a:srgbClr val="011893"/>
              </a:solidFill>
            </a:endParaRPr>
          </a:p>
        </p:txBody>
      </p:sp>
      <p:pic>
        <p:nvPicPr>
          <p:cNvPr id="5" name="Picture 4">
            <a:extLst>
              <a:ext uri="{FF2B5EF4-FFF2-40B4-BE49-F238E27FC236}">
                <a16:creationId xmlns:a16="http://schemas.microsoft.com/office/drawing/2014/main" id="{50BB3B42-93C9-0A8E-961A-EB37E0D54B73}"/>
              </a:ext>
            </a:extLst>
          </p:cNvPr>
          <p:cNvPicPr>
            <a:picLocks noChangeAspect="1"/>
          </p:cNvPicPr>
          <p:nvPr/>
        </p:nvPicPr>
        <p:blipFill>
          <a:blip r:embed="rId3"/>
          <a:stretch>
            <a:fillRect/>
          </a:stretch>
        </p:blipFill>
        <p:spPr>
          <a:xfrm>
            <a:off x="8547538" y="5884078"/>
            <a:ext cx="3644462" cy="966586"/>
          </a:xfrm>
          <a:prstGeom prst="rect">
            <a:avLst/>
          </a:prstGeom>
        </p:spPr>
      </p:pic>
    </p:spTree>
    <p:extLst>
      <p:ext uri="{BB962C8B-B14F-4D97-AF65-F5344CB8AC3E}">
        <p14:creationId xmlns:p14="http://schemas.microsoft.com/office/powerpoint/2010/main" val="38710877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6007FC-3A78-2693-72F5-A1C202CDEC39}"/>
              </a:ext>
            </a:extLst>
          </p:cNvPr>
          <p:cNvSpPr>
            <a:spLocks noGrp="1"/>
          </p:cNvSpPr>
          <p:nvPr>
            <p:ph type="title"/>
          </p:nvPr>
        </p:nvSpPr>
        <p:spPr/>
        <p:txBody>
          <a:bodyPr/>
          <a:lstStyle/>
          <a:p>
            <a:r>
              <a:rPr lang="en-US" dirty="0">
                <a:solidFill>
                  <a:srgbClr val="011893"/>
                </a:solidFill>
              </a:rPr>
              <a:t>What is photosynthetic acclimation?</a:t>
            </a:r>
          </a:p>
        </p:txBody>
      </p:sp>
    </p:spTree>
    <p:extLst>
      <p:ext uri="{BB962C8B-B14F-4D97-AF65-F5344CB8AC3E}">
        <p14:creationId xmlns:p14="http://schemas.microsoft.com/office/powerpoint/2010/main" val="41264038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D24A37-5C31-C2C2-CA9C-AAB3B8FD4027}"/>
              </a:ext>
            </a:extLst>
          </p:cNvPr>
          <p:cNvSpPr>
            <a:spLocks noGrp="1"/>
          </p:cNvSpPr>
          <p:nvPr>
            <p:ph type="title"/>
          </p:nvPr>
        </p:nvSpPr>
        <p:spPr/>
        <p:txBody>
          <a:bodyPr>
            <a:noAutofit/>
          </a:bodyPr>
          <a:lstStyle/>
          <a:p>
            <a:r>
              <a:rPr lang="en-US" sz="4000" dirty="0">
                <a:solidFill>
                  <a:srgbClr val="011893"/>
                </a:solidFill>
              </a:rPr>
              <a:t>“A physiological, structural, or biochemical adjustment by an individual plant in response to an experimentally induced environmental stimulus that is manifested as alterations in the short-term response function of a physiological process.”</a:t>
            </a:r>
          </a:p>
        </p:txBody>
      </p:sp>
      <p:sp>
        <p:nvSpPr>
          <p:cNvPr id="4" name="TextBox 3">
            <a:extLst>
              <a:ext uri="{FF2B5EF4-FFF2-40B4-BE49-F238E27FC236}">
                <a16:creationId xmlns:a16="http://schemas.microsoft.com/office/drawing/2014/main" id="{8F695F0C-48EE-B16C-4C45-05CBFD5BBE1C}"/>
              </a:ext>
            </a:extLst>
          </p:cNvPr>
          <p:cNvSpPr txBox="1"/>
          <p:nvPr/>
        </p:nvSpPr>
        <p:spPr>
          <a:xfrm>
            <a:off x="9648419" y="6488668"/>
            <a:ext cx="2543581" cy="369332"/>
          </a:xfrm>
          <a:prstGeom prst="rect">
            <a:avLst/>
          </a:prstGeom>
          <a:noFill/>
        </p:spPr>
        <p:txBody>
          <a:bodyPr wrap="none" rtlCol="0">
            <a:spAutoFit/>
          </a:bodyPr>
          <a:lstStyle/>
          <a:p>
            <a:r>
              <a:rPr lang="en-US" dirty="0"/>
              <a:t>Smith and Dukes (2013)</a:t>
            </a:r>
          </a:p>
        </p:txBody>
      </p:sp>
    </p:spTree>
    <p:extLst>
      <p:ext uri="{BB962C8B-B14F-4D97-AF65-F5344CB8AC3E}">
        <p14:creationId xmlns:p14="http://schemas.microsoft.com/office/powerpoint/2010/main" val="1609606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503012" y="1907303"/>
            <a:ext cx="3617913" cy="523220"/>
          </a:xfrm>
          <a:prstGeom prst="rect">
            <a:avLst/>
          </a:prstGeom>
          <a:noFill/>
        </p:spPr>
        <p:txBody>
          <a:bodyPr wrap="none" rtlCol="0">
            <a:spAutoFit/>
          </a:bodyPr>
          <a:lstStyle/>
          <a:p>
            <a:r>
              <a:rPr lang="en-US" sz="2800">
                <a:solidFill>
                  <a:srgbClr val="011893"/>
                </a:solidFill>
              </a:rPr>
              <a:t>Acclimated to high light</a:t>
            </a:r>
          </a:p>
        </p:txBody>
      </p:sp>
      <p:sp>
        <p:nvSpPr>
          <p:cNvPr id="6" name="TextBox 5"/>
          <p:cNvSpPr txBox="1"/>
          <p:nvPr/>
        </p:nvSpPr>
        <p:spPr>
          <a:xfrm>
            <a:off x="6644271" y="1907303"/>
            <a:ext cx="3515834" cy="523220"/>
          </a:xfrm>
          <a:prstGeom prst="rect">
            <a:avLst/>
          </a:prstGeom>
          <a:noFill/>
        </p:spPr>
        <p:txBody>
          <a:bodyPr wrap="none" rtlCol="0">
            <a:spAutoFit/>
          </a:bodyPr>
          <a:lstStyle/>
          <a:p>
            <a:r>
              <a:rPr lang="en-US" sz="2800" dirty="0">
                <a:solidFill>
                  <a:srgbClr val="011893"/>
                </a:solidFill>
              </a:rPr>
              <a:t>Acclimated to low light</a:t>
            </a:r>
          </a:p>
        </p:txBody>
      </p:sp>
      <p:pic>
        <p:nvPicPr>
          <p:cNvPr id="3" name="Picture 2"/>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892855" y="2168913"/>
            <a:ext cx="4572000" cy="4572000"/>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5974611" y="2168913"/>
            <a:ext cx="4572000" cy="4572000"/>
          </a:xfrm>
          <a:prstGeom prst="rect">
            <a:avLst/>
          </a:prstGeom>
        </p:spPr>
      </p:pic>
      <p:sp>
        <p:nvSpPr>
          <p:cNvPr id="7" name="Title 1">
            <a:extLst>
              <a:ext uri="{FF2B5EF4-FFF2-40B4-BE49-F238E27FC236}">
                <a16:creationId xmlns:a16="http://schemas.microsoft.com/office/drawing/2014/main" id="{0F8957B7-3CFC-9345-8C20-DF08977AC20B}"/>
              </a:ext>
            </a:extLst>
          </p:cNvPr>
          <p:cNvSpPr>
            <a:spLocks noGrp="1"/>
          </p:cNvSpPr>
          <p:nvPr>
            <p:ph type="title"/>
          </p:nvPr>
        </p:nvSpPr>
        <p:spPr>
          <a:xfrm>
            <a:off x="838200" y="365125"/>
            <a:ext cx="10515600" cy="1325563"/>
          </a:xfrm>
        </p:spPr>
        <p:txBody>
          <a:bodyPr/>
          <a:lstStyle/>
          <a:p>
            <a:r>
              <a:rPr lang="en-US" dirty="0"/>
              <a:t>Acclimation: an example</a:t>
            </a:r>
          </a:p>
        </p:txBody>
      </p:sp>
    </p:spTree>
    <p:extLst>
      <p:ext uri="{BB962C8B-B14F-4D97-AF65-F5344CB8AC3E}">
        <p14:creationId xmlns:p14="http://schemas.microsoft.com/office/powerpoint/2010/main" val="33568723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503012" y="1907303"/>
            <a:ext cx="3617913" cy="523220"/>
          </a:xfrm>
          <a:prstGeom prst="rect">
            <a:avLst/>
          </a:prstGeom>
          <a:noFill/>
        </p:spPr>
        <p:txBody>
          <a:bodyPr wrap="none" rtlCol="0">
            <a:spAutoFit/>
          </a:bodyPr>
          <a:lstStyle/>
          <a:p>
            <a:r>
              <a:rPr lang="en-US" sz="2800">
                <a:solidFill>
                  <a:srgbClr val="011893"/>
                </a:solidFill>
              </a:rPr>
              <a:t>Acclimated to high light</a:t>
            </a:r>
          </a:p>
        </p:txBody>
      </p:sp>
      <p:sp>
        <p:nvSpPr>
          <p:cNvPr id="6" name="TextBox 5"/>
          <p:cNvSpPr txBox="1"/>
          <p:nvPr/>
        </p:nvSpPr>
        <p:spPr>
          <a:xfrm>
            <a:off x="6644271" y="1907303"/>
            <a:ext cx="3515834" cy="523220"/>
          </a:xfrm>
          <a:prstGeom prst="rect">
            <a:avLst/>
          </a:prstGeom>
          <a:noFill/>
        </p:spPr>
        <p:txBody>
          <a:bodyPr wrap="none" rtlCol="0">
            <a:spAutoFit/>
          </a:bodyPr>
          <a:lstStyle/>
          <a:p>
            <a:r>
              <a:rPr lang="en-US" sz="2800" dirty="0">
                <a:solidFill>
                  <a:srgbClr val="011893"/>
                </a:solidFill>
              </a:rPr>
              <a:t>Acclimated to low light</a:t>
            </a:r>
          </a:p>
        </p:txBody>
      </p:sp>
      <p:pic>
        <p:nvPicPr>
          <p:cNvPr id="3" name="Picture 2"/>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892855" y="2168913"/>
            <a:ext cx="4572000" cy="4572000"/>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5974611" y="2168913"/>
            <a:ext cx="4572000" cy="4572000"/>
          </a:xfrm>
          <a:prstGeom prst="rect">
            <a:avLst/>
          </a:prstGeom>
        </p:spPr>
      </p:pic>
      <p:sp>
        <p:nvSpPr>
          <p:cNvPr id="7" name="Title 1">
            <a:extLst>
              <a:ext uri="{FF2B5EF4-FFF2-40B4-BE49-F238E27FC236}">
                <a16:creationId xmlns:a16="http://schemas.microsoft.com/office/drawing/2014/main" id="{0F8957B7-3CFC-9345-8C20-DF08977AC20B}"/>
              </a:ext>
            </a:extLst>
          </p:cNvPr>
          <p:cNvSpPr>
            <a:spLocks noGrp="1"/>
          </p:cNvSpPr>
          <p:nvPr>
            <p:ph type="title"/>
          </p:nvPr>
        </p:nvSpPr>
        <p:spPr>
          <a:xfrm>
            <a:off x="838200" y="365125"/>
            <a:ext cx="10515600" cy="1325563"/>
          </a:xfrm>
        </p:spPr>
        <p:txBody>
          <a:bodyPr/>
          <a:lstStyle/>
          <a:p>
            <a:r>
              <a:rPr lang="en-US" dirty="0"/>
              <a:t>Acclimation: an example</a:t>
            </a:r>
          </a:p>
        </p:txBody>
      </p:sp>
      <p:cxnSp>
        <p:nvCxnSpPr>
          <p:cNvPr id="8" name="Straight Arrow Connector 7">
            <a:extLst>
              <a:ext uri="{FF2B5EF4-FFF2-40B4-BE49-F238E27FC236}">
                <a16:creationId xmlns:a16="http://schemas.microsoft.com/office/drawing/2014/main" id="{8EFAB900-405B-C14C-ADF2-622BB5585A42}"/>
              </a:ext>
            </a:extLst>
          </p:cNvPr>
          <p:cNvCxnSpPr/>
          <p:nvPr/>
        </p:nvCxnSpPr>
        <p:spPr>
          <a:xfrm flipV="1">
            <a:off x="3962400" y="3643745"/>
            <a:ext cx="0" cy="1898073"/>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F9754B4D-D408-0349-9760-DA62774653D5}"/>
              </a:ext>
            </a:extLst>
          </p:cNvPr>
          <p:cNvCxnSpPr>
            <a:cxnSpLocks/>
          </p:cNvCxnSpPr>
          <p:nvPr/>
        </p:nvCxnSpPr>
        <p:spPr>
          <a:xfrm flipV="1">
            <a:off x="8049489" y="4668982"/>
            <a:ext cx="0" cy="872837"/>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4C0DC352-F631-8C43-8EEE-2D8678BB83C1}"/>
              </a:ext>
            </a:extLst>
          </p:cNvPr>
          <p:cNvSpPr txBox="1"/>
          <p:nvPr/>
        </p:nvSpPr>
        <p:spPr>
          <a:xfrm>
            <a:off x="609600" y="6317673"/>
            <a:ext cx="9554026" cy="461665"/>
          </a:xfrm>
          <a:prstGeom prst="rect">
            <a:avLst/>
          </a:prstGeom>
          <a:noFill/>
        </p:spPr>
        <p:txBody>
          <a:bodyPr wrap="none" rtlCol="0">
            <a:spAutoFit/>
          </a:bodyPr>
          <a:lstStyle/>
          <a:p>
            <a:r>
              <a:rPr lang="en-US" sz="2400" dirty="0">
                <a:solidFill>
                  <a:srgbClr val="FF0000"/>
                </a:solidFill>
              </a:rPr>
              <a:t>Photosynthesis peaks a light level close to the level the leaf is acclimated to</a:t>
            </a:r>
          </a:p>
        </p:txBody>
      </p:sp>
    </p:spTree>
    <p:extLst>
      <p:ext uri="{BB962C8B-B14F-4D97-AF65-F5344CB8AC3E}">
        <p14:creationId xmlns:p14="http://schemas.microsoft.com/office/powerpoint/2010/main" val="8484723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Acclimation is ubiquitous and well known</a:t>
            </a:r>
            <a:r>
              <a:rPr lang="mr-IN" dirty="0"/>
              <a:t>…</a:t>
            </a:r>
            <a:endParaRPr lang="en-US" dirty="0"/>
          </a:p>
        </p:txBody>
      </p:sp>
      <p:pic>
        <p:nvPicPr>
          <p:cNvPr id="3" name="Picture 2"/>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956233" y="2829687"/>
            <a:ext cx="4469984" cy="2591547"/>
          </a:xfrm>
          <a:prstGeom prst="rect">
            <a:avLst/>
          </a:prstGeom>
        </p:spPr>
      </p:pic>
      <p:pic>
        <p:nvPicPr>
          <p:cNvPr id="4" name="Picture 3"/>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8211671" y="2829687"/>
            <a:ext cx="3617259" cy="2401219"/>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203905" y="2829687"/>
            <a:ext cx="3752328" cy="2301046"/>
          </a:xfrm>
          <a:prstGeom prst="rect">
            <a:avLst/>
          </a:prstGeom>
        </p:spPr>
      </p:pic>
      <p:sp>
        <p:nvSpPr>
          <p:cNvPr id="7" name="TextBox 6"/>
          <p:cNvSpPr txBox="1"/>
          <p:nvPr/>
        </p:nvSpPr>
        <p:spPr>
          <a:xfrm>
            <a:off x="203905" y="2354520"/>
            <a:ext cx="2503249" cy="461665"/>
          </a:xfrm>
          <a:prstGeom prst="rect">
            <a:avLst/>
          </a:prstGeom>
          <a:noFill/>
        </p:spPr>
        <p:txBody>
          <a:bodyPr wrap="none" rtlCol="0">
            <a:spAutoFit/>
          </a:bodyPr>
          <a:lstStyle/>
          <a:p>
            <a:r>
              <a:rPr lang="en-US" sz="2400" dirty="0">
                <a:solidFill>
                  <a:srgbClr val="011893"/>
                </a:solidFill>
              </a:rPr>
              <a:t>CO</a:t>
            </a:r>
            <a:r>
              <a:rPr lang="en-US" sz="2400" baseline="-25000" dirty="0">
                <a:solidFill>
                  <a:srgbClr val="011893"/>
                </a:solidFill>
              </a:rPr>
              <a:t>2</a:t>
            </a:r>
            <a:r>
              <a:rPr lang="en-US" sz="2400" dirty="0">
                <a:solidFill>
                  <a:srgbClr val="011893"/>
                </a:solidFill>
              </a:rPr>
              <a:t>: </a:t>
            </a:r>
            <a:r>
              <a:rPr lang="en-US" sz="2400" dirty="0" err="1"/>
              <a:t>Bazzaz</a:t>
            </a:r>
            <a:r>
              <a:rPr lang="en-US" sz="2400" dirty="0"/>
              <a:t> (1990)</a:t>
            </a:r>
          </a:p>
        </p:txBody>
      </p:sp>
      <p:sp>
        <p:nvSpPr>
          <p:cNvPr id="8" name="TextBox 7"/>
          <p:cNvSpPr txBox="1"/>
          <p:nvPr/>
        </p:nvSpPr>
        <p:spPr>
          <a:xfrm>
            <a:off x="4202164" y="2354519"/>
            <a:ext cx="3114635" cy="461665"/>
          </a:xfrm>
          <a:prstGeom prst="rect">
            <a:avLst/>
          </a:prstGeom>
          <a:noFill/>
        </p:spPr>
        <p:txBody>
          <a:bodyPr wrap="none" rtlCol="0">
            <a:spAutoFit/>
          </a:bodyPr>
          <a:lstStyle/>
          <a:p>
            <a:r>
              <a:rPr lang="en-US" sz="2400" dirty="0">
                <a:solidFill>
                  <a:srgbClr val="011893"/>
                </a:solidFill>
              </a:rPr>
              <a:t>Light: </a:t>
            </a:r>
            <a:r>
              <a:rPr lang="en-US" sz="2400" dirty="0"/>
              <a:t>Boardman (1977)</a:t>
            </a:r>
          </a:p>
        </p:txBody>
      </p:sp>
      <p:sp>
        <p:nvSpPr>
          <p:cNvPr id="9" name="TextBox 8"/>
          <p:cNvSpPr txBox="1"/>
          <p:nvPr/>
        </p:nvSpPr>
        <p:spPr>
          <a:xfrm>
            <a:off x="8426217" y="2013421"/>
            <a:ext cx="3595454" cy="830997"/>
          </a:xfrm>
          <a:prstGeom prst="rect">
            <a:avLst/>
          </a:prstGeom>
          <a:noFill/>
        </p:spPr>
        <p:txBody>
          <a:bodyPr wrap="square" rtlCol="0">
            <a:spAutoFit/>
          </a:bodyPr>
          <a:lstStyle/>
          <a:p>
            <a:r>
              <a:rPr lang="en-US" sz="2400" dirty="0">
                <a:solidFill>
                  <a:srgbClr val="011893"/>
                </a:solidFill>
              </a:rPr>
              <a:t>Temperature: </a:t>
            </a:r>
            <a:r>
              <a:rPr lang="en-US" sz="2400" dirty="0"/>
              <a:t>Berry &amp; </a:t>
            </a:r>
            <a:r>
              <a:rPr lang="en-US" sz="2400" dirty="0" err="1"/>
              <a:t>Björkman</a:t>
            </a:r>
            <a:r>
              <a:rPr lang="en-US" sz="2400" dirty="0"/>
              <a:t> (1980)</a:t>
            </a:r>
          </a:p>
        </p:txBody>
      </p:sp>
    </p:spTree>
    <p:extLst>
      <p:ext uri="{BB962C8B-B14F-4D97-AF65-F5344CB8AC3E}">
        <p14:creationId xmlns:p14="http://schemas.microsoft.com/office/powerpoint/2010/main" val="7610409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…and can impact carbon cycling and climate</a:t>
            </a:r>
          </a:p>
        </p:txBody>
      </p:sp>
      <p:pic>
        <p:nvPicPr>
          <p:cNvPr id="5" name="Picture 4">
            <a:extLst>
              <a:ext uri="{FF2B5EF4-FFF2-40B4-BE49-F238E27FC236}">
                <a16:creationId xmlns:a16="http://schemas.microsoft.com/office/drawing/2014/main" id="{B9B4194B-748E-4A43-BC8A-5938EB896101}"/>
              </a:ext>
            </a:extLst>
          </p:cNvPr>
          <p:cNvPicPr>
            <a:picLocks noChangeAspect="1"/>
          </p:cNvPicPr>
          <p:nvPr/>
        </p:nvPicPr>
        <p:blipFill>
          <a:blip r:embed="rId2"/>
          <a:stretch>
            <a:fillRect/>
          </a:stretch>
        </p:blipFill>
        <p:spPr>
          <a:xfrm>
            <a:off x="838200" y="1909894"/>
            <a:ext cx="4684929" cy="4283630"/>
          </a:xfrm>
          <a:prstGeom prst="rect">
            <a:avLst/>
          </a:prstGeom>
        </p:spPr>
      </p:pic>
      <p:pic>
        <p:nvPicPr>
          <p:cNvPr id="13" name="Picture 12">
            <a:extLst>
              <a:ext uri="{FF2B5EF4-FFF2-40B4-BE49-F238E27FC236}">
                <a16:creationId xmlns:a16="http://schemas.microsoft.com/office/drawing/2014/main" id="{E38C170E-0E82-DE48-8809-BD89FA368FD0}"/>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997" t="49131" r="49328" b="2402"/>
          <a:stretch/>
        </p:blipFill>
        <p:spPr>
          <a:xfrm>
            <a:off x="5959803" y="1909894"/>
            <a:ext cx="5965367" cy="3609406"/>
          </a:xfrm>
          <a:prstGeom prst="rect">
            <a:avLst/>
          </a:prstGeom>
        </p:spPr>
      </p:pic>
      <p:sp>
        <p:nvSpPr>
          <p:cNvPr id="14" name="TextBox 13">
            <a:extLst>
              <a:ext uri="{FF2B5EF4-FFF2-40B4-BE49-F238E27FC236}">
                <a16:creationId xmlns:a16="http://schemas.microsoft.com/office/drawing/2014/main" id="{4ECAEF0E-C957-D244-841C-EF9E082C232C}"/>
              </a:ext>
            </a:extLst>
          </p:cNvPr>
          <p:cNvSpPr txBox="1"/>
          <p:nvPr/>
        </p:nvSpPr>
        <p:spPr>
          <a:xfrm>
            <a:off x="9617962" y="6488668"/>
            <a:ext cx="2574038" cy="369332"/>
          </a:xfrm>
          <a:prstGeom prst="rect">
            <a:avLst/>
          </a:prstGeom>
          <a:noFill/>
        </p:spPr>
        <p:txBody>
          <a:bodyPr wrap="none" rtlCol="0">
            <a:spAutoFit/>
          </a:bodyPr>
          <a:lstStyle/>
          <a:p>
            <a:r>
              <a:rPr lang="en-US" dirty="0"/>
              <a:t>Smith et al. (2017) </a:t>
            </a:r>
            <a:r>
              <a:rPr lang="en-US" i="1" dirty="0"/>
              <a:t>JAMES</a:t>
            </a:r>
            <a:endParaRPr lang="en-US" dirty="0"/>
          </a:p>
        </p:txBody>
      </p:sp>
      <p:sp>
        <p:nvSpPr>
          <p:cNvPr id="15" name="TextBox 14">
            <a:extLst>
              <a:ext uri="{FF2B5EF4-FFF2-40B4-BE49-F238E27FC236}">
                <a16:creationId xmlns:a16="http://schemas.microsoft.com/office/drawing/2014/main" id="{4F5C5678-E5FD-4C4E-98B0-C48719C5FA09}"/>
              </a:ext>
            </a:extLst>
          </p:cNvPr>
          <p:cNvSpPr txBox="1"/>
          <p:nvPr/>
        </p:nvSpPr>
        <p:spPr>
          <a:xfrm>
            <a:off x="0" y="6488668"/>
            <a:ext cx="4135556" cy="369332"/>
          </a:xfrm>
          <a:prstGeom prst="rect">
            <a:avLst/>
          </a:prstGeom>
          <a:noFill/>
        </p:spPr>
        <p:txBody>
          <a:bodyPr wrap="none" rtlCol="0">
            <a:spAutoFit/>
          </a:bodyPr>
          <a:lstStyle/>
          <a:p>
            <a:r>
              <a:rPr lang="en-US" dirty="0"/>
              <a:t>Smith et al. (2017) </a:t>
            </a:r>
            <a:r>
              <a:rPr lang="en-US" i="1" dirty="0"/>
              <a:t>Nature Climate Change</a:t>
            </a:r>
            <a:endParaRPr lang="en-US" dirty="0"/>
          </a:p>
        </p:txBody>
      </p:sp>
      <p:sp>
        <p:nvSpPr>
          <p:cNvPr id="4" name="TextBox 3">
            <a:extLst>
              <a:ext uri="{FF2B5EF4-FFF2-40B4-BE49-F238E27FC236}">
                <a16:creationId xmlns:a16="http://schemas.microsoft.com/office/drawing/2014/main" id="{FD97DA35-D2FC-B745-97C2-A48394B37C2B}"/>
              </a:ext>
            </a:extLst>
          </p:cNvPr>
          <p:cNvSpPr txBox="1"/>
          <p:nvPr/>
        </p:nvSpPr>
        <p:spPr>
          <a:xfrm>
            <a:off x="1336029" y="1653594"/>
            <a:ext cx="4405437" cy="369332"/>
          </a:xfrm>
          <a:prstGeom prst="rect">
            <a:avLst/>
          </a:prstGeom>
          <a:noFill/>
        </p:spPr>
        <p:txBody>
          <a:bodyPr wrap="none" rtlCol="0">
            <a:spAutoFit/>
          </a:bodyPr>
          <a:lstStyle/>
          <a:p>
            <a:r>
              <a:rPr lang="en-US" dirty="0">
                <a:solidFill>
                  <a:srgbClr val="011893"/>
                </a:solidFill>
              </a:rPr>
              <a:t>Acclimation increase future C storage by ~6%</a:t>
            </a:r>
          </a:p>
        </p:txBody>
      </p:sp>
      <p:sp>
        <p:nvSpPr>
          <p:cNvPr id="16" name="TextBox 15">
            <a:extLst>
              <a:ext uri="{FF2B5EF4-FFF2-40B4-BE49-F238E27FC236}">
                <a16:creationId xmlns:a16="http://schemas.microsoft.com/office/drawing/2014/main" id="{EF31473B-A354-F543-A9AE-A2F684F7C008}"/>
              </a:ext>
            </a:extLst>
          </p:cNvPr>
          <p:cNvSpPr txBox="1"/>
          <p:nvPr/>
        </p:nvSpPr>
        <p:spPr>
          <a:xfrm>
            <a:off x="6357111" y="1653594"/>
            <a:ext cx="4498860" cy="369332"/>
          </a:xfrm>
          <a:prstGeom prst="rect">
            <a:avLst/>
          </a:prstGeom>
          <a:noFill/>
        </p:spPr>
        <p:txBody>
          <a:bodyPr wrap="none" rtlCol="0">
            <a:spAutoFit/>
          </a:bodyPr>
          <a:lstStyle/>
          <a:p>
            <a:r>
              <a:rPr lang="en-US" dirty="0">
                <a:solidFill>
                  <a:srgbClr val="011893"/>
                </a:solidFill>
              </a:rPr>
              <a:t>Acclimation alters future temperature by &gt;1°C</a:t>
            </a:r>
          </a:p>
        </p:txBody>
      </p:sp>
    </p:spTree>
    <p:extLst>
      <p:ext uri="{BB962C8B-B14F-4D97-AF65-F5344CB8AC3E}">
        <p14:creationId xmlns:p14="http://schemas.microsoft.com/office/powerpoint/2010/main" val="2456402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Graphical user interface, text, application&#10;&#10;Description automatically generated">
            <a:extLst>
              <a:ext uri="{FF2B5EF4-FFF2-40B4-BE49-F238E27FC236}">
                <a16:creationId xmlns:a16="http://schemas.microsoft.com/office/drawing/2014/main" id="{86D83E8F-D068-D74D-A64F-CE2D3C3EC5E2}"/>
              </a:ext>
            </a:extLst>
          </p:cNvPr>
          <p:cNvPicPr>
            <a:picLocks noChangeAspect="1"/>
          </p:cNvPicPr>
          <p:nvPr/>
        </p:nvPicPr>
        <p:blipFill>
          <a:blip r:embed="rId2"/>
          <a:stretch>
            <a:fillRect/>
          </a:stretch>
        </p:blipFill>
        <p:spPr>
          <a:xfrm>
            <a:off x="187571" y="3429000"/>
            <a:ext cx="6807476" cy="2307457"/>
          </a:xfrm>
          <a:prstGeom prst="rect">
            <a:avLst/>
          </a:prstGeom>
          <a:ln w="76200">
            <a:solidFill>
              <a:schemeClr val="tx1"/>
            </a:solidFill>
          </a:ln>
        </p:spPr>
      </p:pic>
      <p:pic>
        <p:nvPicPr>
          <p:cNvPr id="6" name="Picture 5">
            <a:extLst>
              <a:ext uri="{FF2B5EF4-FFF2-40B4-BE49-F238E27FC236}">
                <a16:creationId xmlns:a16="http://schemas.microsoft.com/office/drawing/2014/main" id="{CC5D14F9-48B9-14AD-09C2-8C809B8A8B3E}"/>
              </a:ext>
            </a:extLst>
          </p:cNvPr>
          <p:cNvPicPr>
            <a:picLocks noChangeAspect="1"/>
          </p:cNvPicPr>
          <p:nvPr/>
        </p:nvPicPr>
        <p:blipFill>
          <a:blip r:embed="rId3"/>
          <a:stretch>
            <a:fillRect/>
          </a:stretch>
        </p:blipFill>
        <p:spPr>
          <a:xfrm>
            <a:off x="2143036" y="369332"/>
            <a:ext cx="7905928" cy="2096814"/>
          </a:xfrm>
          <a:prstGeom prst="rect">
            <a:avLst/>
          </a:prstGeom>
        </p:spPr>
      </p:pic>
      <p:pic>
        <p:nvPicPr>
          <p:cNvPr id="8" name="Picture 7">
            <a:extLst>
              <a:ext uri="{FF2B5EF4-FFF2-40B4-BE49-F238E27FC236}">
                <a16:creationId xmlns:a16="http://schemas.microsoft.com/office/drawing/2014/main" id="{E8497C8A-2339-416B-7528-17C73AA26D3B}"/>
              </a:ext>
            </a:extLst>
          </p:cNvPr>
          <p:cNvPicPr>
            <a:picLocks noChangeAspect="1"/>
          </p:cNvPicPr>
          <p:nvPr/>
        </p:nvPicPr>
        <p:blipFill>
          <a:blip r:embed="rId4"/>
          <a:stretch>
            <a:fillRect/>
          </a:stretch>
        </p:blipFill>
        <p:spPr>
          <a:xfrm>
            <a:off x="7497057" y="2981704"/>
            <a:ext cx="4507372" cy="3506964"/>
          </a:xfrm>
          <a:prstGeom prst="rect">
            <a:avLst/>
          </a:prstGeom>
          <a:ln w="76200">
            <a:solidFill>
              <a:schemeClr val="tx1"/>
            </a:solidFill>
          </a:ln>
        </p:spPr>
      </p:pic>
    </p:spTree>
    <p:extLst>
      <p:ext uri="{BB962C8B-B14F-4D97-AF65-F5344CB8AC3E}">
        <p14:creationId xmlns:p14="http://schemas.microsoft.com/office/powerpoint/2010/main" val="35615541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3F563-5270-C0DA-0B57-90AB3BAD79EF}"/>
              </a:ext>
            </a:extLst>
          </p:cNvPr>
          <p:cNvSpPr>
            <a:spLocks noGrp="1"/>
          </p:cNvSpPr>
          <p:nvPr>
            <p:ph type="title"/>
          </p:nvPr>
        </p:nvSpPr>
        <p:spPr/>
        <p:txBody>
          <a:bodyPr/>
          <a:lstStyle/>
          <a:p>
            <a:r>
              <a:rPr lang="en-US" dirty="0"/>
              <a:t>LEMONTREE-developed EEO model of photosynthetic acclimation</a:t>
            </a:r>
          </a:p>
        </p:txBody>
      </p:sp>
      <p:sp>
        <p:nvSpPr>
          <p:cNvPr id="3" name="Content Placeholder 2">
            <a:extLst>
              <a:ext uri="{FF2B5EF4-FFF2-40B4-BE49-F238E27FC236}">
                <a16:creationId xmlns:a16="http://schemas.microsoft.com/office/drawing/2014/main" id="{C2F1A4DA-0FDB-F923-C6A3-D49C72ED90BD}"/>
              </a:ext>
            </a:extLst>
          </p:cNvPr>
          <p:cNvSpPr>
            <a:spLocks noGrp="1"/>
          </p:cNvSpPr>
          <p:nvPr>
            <p:ph idx="1"/>
          </p:nvPr>
        </p:nvSpPr>
        <p:spPr/>
        <p:txBody>
          <a:bodyPr/>
          <a:lstStyle/>
          <a:p>
            <a:r>
              <a:rPr lang="en-US" dirty="0"/>
              <a:t>Inputs</a:t>
            </a:r>
          </a:p>
          <a:p>
            <a:pPr lvl="1"/>
            <a:r>
              <a:rPr lang="en-US" dirty="0"/>
              <a:t>Environment (T, PAR, VPD, CO</a:t>
            </a:r>
            <a:r>
              <a:rPr lang="en-US" baseline="-25000" dirty="0"/>
              <a:t>2</a:t>
            </a:r>
            <a:r>
              <a:rPr lang="en-US" dirty="0"/>
              <a:t>)</a:t>
            </a:r>
          </a:p>
          <a:p>
            <a:pPr lvl="1"/>
            <a:r>
              <a:rPr lang="en-US" dirty="0"/>
              <a:t>Plant type (C3/C4, </a:t>
            </a:r>
            <a:r>
              <a:rPr lang="en-US" dirty="0" err="1"/>
              <a:t>decidousness</a:t>
            </a:r>
            <a:r>
              <a:rPr lang="en-US" dirty="0"/>
              <a:t>)</a:t>
            </a:r>
          </a:p>
          <a:p>
            <a:r>
              <a:rPr lang="en-US" dirty="0"/>
              <a:t>Outputs</a:t>
            </a:r>
          </a:p>
          <a:p>
            <a:pPr lvl="1"/>
            <a:r>
              <a:rPr lang="en-US" dirty="0"/>
              <a:t>Photosynthetic capacity</a:t>
            </a:r>
          </a:p>
          <a:p>
            <a:pPr lvl="1"/>
            <a:r>
              <a:rPr lang="en-US" dirty="0"/>
              <a:t>Stomatal conductance</a:t>
            </a:r>
          </a:p>
          <a:p>
            <a:pPr lvl="1"/>
            <a:r>
              <a:rPr lang="en-US" dirty="0"/>
              <a:t>Leaf mass per area</a:t>
            </a:r>
          </a:p>
          <a:p>
            <a:pPr lvl="1"/>
            <a:r>
              <a:rPr lang="en-US" dirty="0"/>
              <a:t>Leaf nitrogen pools</a:t>
            </a:r>
          </a:p>
          <a:p>
            <a:pPr lvl="1"/>
            <a:r>
              <a:rPr lang="en-US" dirty="0"/>
              <a:t>Photosynthetic resource use efficiency</a:t>
            </a:r>
          </a:p>
        </p:txBody>
      </p:sp>
      <p:pic>
        <p:nvPicPr>
          <p:cNvPr id="5" name="Picture 4" descr="A close-up of a diagram&#10;&#10;AI-generated content may be incorrect.">
            <a:extLst>
              <a:ext uri="{FF2B5EF4-FFF2-40B4-BE49-F238E27FC236}">
                <a16:creationId xmlns:a16="http://schemas.microsoft.com/office/drawing/2014/main" id="{40F67FAD-0DC1-4B88-0842-38B6C4B2D4BF}"/>
              </a:ext>
            </a:extLst>
          </p:cNvPr>
          <p:cNvPicPr>
            <a:picLocks noChangeAspect="1"/>
          </p:cNvPicPr>
          <p:nvPr/>
        </p:nvPicPr>
        <p:blipFill>
          <a:blip r:embed="rId2"/>
          <a:stretch>
            <a:fillRect/>
          </a:stretch>
        </p:blipFill>
        <p:spPr>
          <a:xfrm>
            <a:off x="7024688" y="1606605"/>
            <a:ext cx="5167312" cy="5167312"/>
          </a:xfrm>
          <a:prstGeom prst="rect">
            <a:avLst/>
          </a:prstGeom>
        </p:spPr>
      </p:pic>
      <p:sp>
        <p:nvSpPr>
          <p:cNvPr id="6" name="TextBox 5">
            <a:extLst>
              <a:ext uri="{FF2B5EF4-FFF2-40B4-BE49-F238E27FC236}">
                <a16:creationId xmlns:a16="http://schemas.microsoft.com/office/drawing/2014/main" id="{A775B231-7268-0FEE-695E-EB42100A6AFE}"/>
              </a:ext>
            </a:extLst>
          </p:cNvPr>
          <p:cNvSpPr txBox="1"/>
          <p:nvPr/>
        </p:nvSpPr>
        <p:spPr>
          <a:xfrm>
            <a:off x="0" y="6550223"/>
            <a:ext cx="3951403" cy="307777"/>
          </a:xfrm>
          <a:prstGeom prst="rect">
            <a:avLst/>
          </a:prstGeom>
          <a:noFill/>
        </p:spPr>
        <p:txBody>
          <a:bodyPr wrap="none" rtlCol="0">
            <a:spAutoFit/>
          </a:bodyPr>
          <a:lstStyle/>
          <a:p>
            <a:r>
              <a:rPr lang="en-US" sz="1400" dirty="0" err="1"/>
              <a:t>github.com</a:t>
            </a:r>
            <a:r>
              <a:rPr lang="en-US" sz="1400" dirty="0"/>
              <a:t>/</a:t>
            </a:r>
            <a:r>
              <a:rPr lang="en-US" sz="1400" dirty="0" err="1"/>
              <a:t>SmithEcophysLab</a:t>
            </a:r>
            <a:r>
              <a:rPr lang="en-US" sz="1400" dirty="0"/>
              <a:t>/</a:t>
            </a:r>
            <a:r>
              <a:rPr lang="en-US" sz="1400" dirty="0" err="1"/>
              <a:t>optimal_vcmax_R</a:t>
            </a:r>
            <a:endParaRPr lang="en-US" sz="1400" dirty="0"/>
          </a:p>
        </p:txBody>
      </p:sp>
    </p:spTree>
    <p:extLst>
      <p:ext uri="{BB962C8B-B14F-4D97-AF65-F5344CB8AC3E}">
        <p14:creationId xmlns:p14="http://schemas.microsoft.com/office/powerpoint/2010/main" val="4173589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3F5D7-0629-7BF9-199D-C508F9B789BB}"/>
              </a:ext>
            </a:extLst>
          </p:cNvPr>
          <p:cNvSpPr>
            <a:spLocks noGrp="1"/>
          </p:cNvSpPr>
          <p:nvPr>
            <p:ph type="title"/>
          </p:nvPr>
        </p:nvSpPr>
        <p:spPr/>
        <p:txBody>
          <a:bodyPr/>
          <a:lstStyle/>
          <a:p>
            <a:r>
              <a:rPr lang="en-US" dirty="0">
                <a:solidFill>
                  <a:srgbClr val="011893"/>
                </a:solidFill>
              </a:rPr>
              <a:t>How do we know if the model is producing reliable simulations?</a:t>
            </a:r>
          </a:p>
        </p:txBody>
      </p:sp>
      <p:sp>
        <p:nvSpPr>
          <p:cNvPr id="3" name="Text Placeholder 2">
            <a:extLst>
              <a:ext uri="{FF2B5EF4-FFF2-40B4-BE49-F238E27FC236}">
                <a16:creationId xmlns:a16="http://schemas.microsoft.com/office/drawing/2014/main" id="{8127D7B1-0CA7-CEC9-2E9E-C3BAA1E1CA00}"/>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2684405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5077C3-9CB6-FCF0-0B61-8FA34B4CF1FF}"/>
              </a:ext>
            </a:extLst>
          </p:cNvPr>
          <p:cNvSpPr>
            <a:spLocks noGrp="1"/>
          </p:cNvSpPr>
          <p:nvPr>
            <p:ph type="title"/>
          </p:nvPr>
        </p:nvSpPr>
        <p:spPr/>
        <p:txBody>
          <a:bodyPr/>
          <a:lstStyle/>
          <a:p>
            <a:r>
              <a:rPr lang="en-US" dirty="0"/>
              <a:t>Testing model predictions</a:t>
            </a:r>
          </a:p>
        </p:txBody>
      </p:sp>
      <p:sp>
        <p:nvSpPr>
          <p:cNvPr id="3" name="Content Placeholder 2">
            <a:extLst>
              <a:ext uri="{FF2B5EF4-FFF2-40B4-BE49-F238E27FC236}">
                <a16:creationId xmlns:a16="http://schemas.microsoft.com/office/drawing/2014/main" id="{A68CDBA3-F889-E6C2-4B92-F5D4799827C4}"/>
              </a:ext>
            </a:extLst>
          </p:cNvPr>
          <p:cNvSpPr>
            <a:spLocks noGrp="1"/>
          </p:cNvSpPr>
          <p:nvPr>
            <p:ph idx="1"/>
          </p:nvPr>
        </p:nvSpPr>
        <p:spPr/>
        <p:txBody>
          <a:bodyPr/>
          <a:lstStyle/>
          <a:p>
            <a:pPr marL="514350" indent="-514350">
              <a:buFont typeface="+mj-lt"/>
              <a:buAutoNum type="arabicPeriod"/>
            </a:pPr>
            <a:r>
              <a:rPr lang="en-US" dirty="0">
                <a:solidFill>
                  <a:srgbClr val="011893"/>
                </a:solidFill>
              </a:rPr>
              <a:t>Compare output to observations</a:t>
            </a:r>
          </a:p>
          <a:p>
            <a:pPr lvl="1"/>
            <a:r>
              <a:rPr lang="en-US" dirty="0"/>
              <a:t>Pros: data are from ”real world”</a:t>
            </a:r>
          </a:p>
          <a:p>
            <a:pPr lvl="1"/>
            <a:r>
              <a:rPr lang="en-US" dirty="0"/>
              <a:t>Cons: multiple interacting factors at play</a:t>
            </a:r>
          </a:p>
        </p:txBody>
      </p:sp>
    </p:spTree>
    <p:extLst>
      <p:ext uri="{BB962C8B-B14F-4D97-AF65-F5344CB8AC3E}">
        <p14:creationId xmlns:p14="http://schemas.microsoft.com/office/powerpoint/2010/main" val="15955677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C2D93-766F-15E9-FC6D-FE83D16D5B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2B0EBD-435E-B55E-B657-0FD5B289DD97}"/>
              </a:ext>
            </a:extLst>
          </p:cNvPr>
          <p:cNvSpPr>
            <a:spLocks noGrp="1"/>
          </p:cNvSpPr>
          <p:nvPr>
            <p:ph type="title"/>
          </p:nvPr>
        </p:nvSpPr>
        <p:spPr/>
        <p:txBody>
          <a:bodyPr/>
          <a:lstStyle/>
          <a:p>
            <a:r>
              <a:rPr lang="en-US" dirty="0"/>
              <a:t>Testing model predictions</a:t>
            </a:r>
          </a:p>
        </p:txBody>
      </p:sp>
      <p:sp>
        <p:nvSpPr>
          <p:cNvPr id="3" name="Content Placeholder 2">
            <a:extLst>
              <a:ext uri="{FF2B5EF4-FFF2-40B4-BE49-F238E27FC236}">
                <a16:creationId xmlns:a16="http://schemas.microsoft.com/office/drawing/2014/main" id="{83C7A9E4-1213-C386-EE14-786DE030A862}"/>
              </a:ext>
            </a:extLst>
          </p:cNvPr>
          <p:cNvSpPr>
            <a:spLocks noGrp="1"/>
          </p:cNvSpPr>
          <p:nvPr>
            <p:ph idx="1"/>
          </p:nvPr>
        </p:nvSpPr>
        <p:spPr/>
        <p:txBody>
          <a:bodyPr/>
          <a:lstStyle/>
          <a:p>
            <a:pPr marL="514350" indent="-514350">
              <a:buFont typeface="+mj-lt"/>
              <a:buAutoNum type="arabicPeriod"/>
            </a:pPr>
            <a:r>
              <a:rPr lang="en-US" dirty="0">
                <a:solidFill>
                  <a:schemeClr val="bg2"/>
                </a:solidFill>
              </a:rPr>
              <a:t>Compare output to observations</a:t>
            </a:r>
          </a:p>
          <a:p>
            <a:pPr lvl="1"/>
            <a:r>
              <a:rPr lang="en-US" dirty="0">
                <a:solidFill>
                  <a:schemeClr val="bg2"/>
                </a:solidFill>
              </a:rPr>
              <a:t>Pros: data are from ”real world”</a:t>
            </a:r>
          </a:p>
          <a:p>
            <a:pPr lvl="1"/>
            <a:r>
              <a:rPr lang="en-US" dirty="0">
                <a:solidFill>
                  <a:schemeClr val="bg2"/>
                </a:solidFill>
              </a:rPr>
              <a:t>Cons: multiple interacting factors at play</a:t>
            </a:r>
          </a:p>
          <a:p>
            <a:pPr marL="514350" indent="-514350">
              <a:buFont typeface="+mj-lt"/>
              <a:buAutoNum type="arabicPeriod"/>
            </a:pPr>
            <a:r>
              <a:rPr lang="en-US" dirty="0">
                <a:solidFill>
                  <a:srgbClr val="011893"/>
                </a:solidFill>
              </a:rPr>
              <a:t>Experimentally alter conditions and compare responses</a:t>
            </a:r>
          </a:p>
          <a:p>
            <a:pPr lvl="1"/>
            <a:r>
              <a:rPr lang="en-US" dirty="0"/>
              <a:t>Pros: can test factors directly</a:t>
            </a:r>
          </a:p>
          <a:p>
            <a:pPr lvl="1"/>
            <a:r>
              <a:rPr lang="en-US" dirty="0"/>
              <a:t>Cons: level of “realism” may vary by experiment</a:t>
            </a:r>
          </a:p>
        </p:txBody>
      </p:sp>
    </p:spTree>
    <p:extLst>
      <p:ext uri="{BB962C8B-B14F-4D97-AF65-F5344CB8AC3E}">
        <p14:creationId xmlns:p14="http://schemas.microsoft.com/office/powerpoint/2010/main" val="5998138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10456-6B83-521A-C44A-86183A691FBB}"/>
              </a:ext>
            </a:extLst>
          </p:cNvPr>
          <p:cNvSpPr>
            <a:spLocks noGrp="1"/>
          </p:cNvSpPr>
          <p:nvPr>
            <p:ph type="title"/>
          </p:nvPr>
        </p:nvSpPr>
        <p:spPr/>
        <p:txBody>
          <a:bodyPr/>
          <a:lstStyle/>
          <a:p>
            <a:r>
              <a:rPr lang="en-US" dirty="0"/>
              <a:t>Experiment types</a:t>
            </a:r>
          </a:p>
        </p:txBody>
      </p:sp>
      <p:sp>
        <p:nvSpPr>
          <p:cNvPr id="3" name="Content Placeholder 2">
            <a:extLst>
              <a:ext uri="{FF2B5EF4-FFF2-40B4-BE49-F238E27FC236}">
                <a16:creationId xmlns:a16="http://schemas.microsoft.com/office/drawing/2014/main" id="{186E8486-3028-0415-BFDB-60E559FC74AB}"/>
              </a:ext>
            </a:extLst>
          </p:cNvPr>
          <p:cNvSpPr>
            <a:spLocks noGrp="1"/>
          </p:cNvSpPr>
          <p:nvPr>
            <p:ph idx="1"/>
          </p:nvPr>
        </p:nvSpPr>
        <p:spPr/>
        <p:txBody>
          <a:bodyPr/>
          <a:lstStyle/>
          <a:p>
            <a:r>
              <a:rPr lang="en-US" dirty="0"/>
              <a:t>Growth chamber experiments</a:t>
            </a:r>
          </a:p>
          <a:p>
            <a:endParaRPr lang="en-US" dirty="0"/>
          </a:p>
          <a:p>
            <a:endParaRPr lang="en-US" dirty="0"/>
          </a:p>
          <a:p>
            <a:r>
              <a:rPr lang="en-US" dirty="0"/>
              <a:t>Glasshouse experiments</a:t>
            </a:r>
          </a:p>
          <a:p>
            <a:endParaRPr lang="en-US" dirty="0"/>
          </a:p>
          <a:p>
            <a:endParaRPr lang="en-US" dirty="0"/>
          </a:p>
          <a:p>
            <a:r>
              <a:rPr lang="en-US" dirty="0"/>
              <a:t>Field manipulation experiments</a:t>
            </a:r>
          </a:p>
        </p:txBody>
      </p:sp>
      <p:sp>
        <p:nvSpPr>
          <p:cNvPr id="5" name="Left-Right Arrow 4">
            <a:extLst>
              <a:ext uri="{FF2B5EF4-FFF2-40B4-BE49-F238E27FC236}">
                <a16:creationId xmlns:a16="http://schemas.microsoft.com/office/drawing/2014/main" id="{923E9259-B48C-AA7B-1D20-2E56529AB739}"/>
              </a:ext>
            </a:extLst>
          </p:cNvPr>
          <p:cNvSpPr/>
          <p:nvPr/>
        </p:nvSpPr>
        <p:spPr>
          <a:xfrm rot="16200000">
            <a:off x="8448294"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Realism</a:t>
            </a:r>
          </a:p>
        </p:txBody>
      </p:sp>
      <p:sp>
        <p:nvSpPr>
          <p:cNvPr id="6" name="Left-Right Arrow 5">
            <a:extLst>
              <a:ext uri="{FF2B5EF4-FFF2-40B4-BE49-F238E27FC236}">
                <a16:creationId xmlns:a16="http://schemas.microsoft.com/office/drawing/2014/main" id="{69DAF230-9512-1C10-69EA-85FD4C461DFB}"/>
              </a:ext>
            </a:extLst>
          </p:cNvPr>
          <p:cNvSpPr/>
          <p:nvPr/>
        </p:nvSpPr>
        <p:spPr>
          <a:xfrm rot="16200000">
            <a:off x="6491478"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Logistics</a:t>
            </a:r>
          </a:p>
        </p:txBody>
      </p:sp>
      <p:sp>
        <p:nvSpPr>
          <p:cNvPr id="7" name="Left-Right Arrow 6">
            <a:extLst>
              <a:ext uri="{FF2B5EF4-FFF2-40B4-BE49-F238E27FC236}">
                <a16:creationId xmlns:a16="http://schemas.microsoft.com/office/drawing/2014/main" id="{C79D0B77-D5D4-3A9A-986A-C42BAEB43F24}"/>
              </a:ext>
            </a:extLst>
          </p:cNvPr>
          <p:cNvSpPr/>
          <p:nvPr/>
        </p:nvSpPr>
        <p:spPr>
          <a:xfrm rot="16200000">
            <a:off x="4534662"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Level of Control</a:t>
            </a:r>
          </a:p>
        </p:txBody>
      </p:sp>
      <p:sp>
        <p:nvSpPr>
          <p:cNvPr id="8" name="TextBox 7">
            <a:extLst>
              <a:ext uri="{FF2B5EF4-FFF2-40B4-BE49-F238E27FC236}">
                <a16:creationId xmlns:a16="http://schemas.microsoft.com/office/drawing/2014/main" id="{3B8C29BC-2CAE-0EE8-88B4-09F7A971ECD3}"/>
              </a:ext>
            </a:extLst>
          </p:cNvPr>
          <p:cNvSpPr txBox="1"/>
          <p:nvPr/>
        </p:nvSpPr>
        <p:spPr>
          <a:xfrm>
            <a:off x="6184696" y="690677"/>
            <a:ext cx="1255472" cy="707886"/>
          </a:xfrm>
          <a:prstGeom prst="rect">
            <a:avLst/>
          </a:prstGeom>
          <a:noFill/>
        </p:spPr>
        <p:txBody>
          <a:bodyPr wrap="none" rtlCol="0">
            <a:spAutoFit/>
          </a:bodyPr>
          <a:lstStyle/>
          <a:p>
            <a:pPr algn="ctr"/>
            <a:r>
              <a:rPr lang="en-US" sz="4000" b="1" dirty="0">
                <a:solidFill>
                  <a:srgbClr val="011893"/>
                </a:solidFill>
              </a:rPr>
              <a:t>High</a:t>
            </a:r>
          </a:p>
        </p:txBody>
      </p:sp>
      <p:sp>
        <p:nvSpPr>
          <p:cNvPr id="9" name="TextBox 8">
            <a:extLst>
              <a:ext uri="{FF2B5EF4-FFF2-40B4-BE49-F238E27FC236}">
                <a16:creationId xmlns:a16="http://schemas.microsoft.com/office/drawing/2014/main" id="{C4B64A5F-1948-0FC6-1224-D028F33F2BE8}"/>
              </a:ext>
            </a:extLst>
          </p:cNvPr>
          <p:cNvSpPr txBox="1"/>
          <p:nvPr/>
        </p:nvSpPr>
        <p:spPr>
          <a:xfrm>
            <a:off x="6296527" y="6053328"/>
            <a:ext cx="1130566" cy="707886"/>
          </a:xfrm>
          <a:prstGeom prst="rect">
            <a:avLst/>
          </a:prstGeom>
          <a:noFill/>
        </p:spPr>
        <p:txBody>
          <a:bodyPr wrap="none" rtlCol="0">
            <a:spAutoFit/>
          </a:bodyPr>
          <a:lstStyle/>
          <a:p>
            <a:pPr algn="ctr"/>
            <a:r>
              <a:rPr lang="en-US" sz="4000" b="1" dirty="0">
                <a:solidFill>
                  <a:srgbClr val="FF0000"/>
                </a:solidFill>
              </a:rPr>
              <a:t>Low</a:t>
            </a:r>
          </a:p>
        </p:txBody>
      </p:sp>
      <p:sp>
        <p:nvSpPr>
          <p:cNvPr id="10" name="TextBox 9">
            <a:extLst>
              <a:ext uri="{FF2B5EF4-FFF2-40B4-BE49-F238E27FC236}">
                <a16:creationId xmlns:a16="http://schemas.microsoft.com/office/drawing/2014/main" id="{DC075BCC-F438-E936-5149-EE4280EF3A25}"/>
              </a:ext>
            </a:extLst>
          </p:cNvPr>
          <p:cNvSpPr txBox="1"/>
          <p:nvPr/>
        </p:nvSpPr>
        <p:spPr>
          <a:xfrm>
            <a:off x="8181496" y="689712"/>
            <a:ext cx="1274260" cy="707886"/>
          </a:xfrm>
          <a:prstGeom prst="rect">
            <a:avLst/>
          </a:prstGeom>
          <a:noFill/>
        </p:spPr>
        <p:txBody>
          <a:bodyPr wrap="none" rtlCol="0">
            <a:spAutoFit/>
          </a:bodyPr>
          <a:lstStyle/>
          <a:p>
            <a:pPr algn="ctr"/>
            <a:r>
              <a:rPr lang="en-US" sz="4000" b="1" dirty="0">
                <a:solidFill>
                  <a:srgbClr val="011893"/>
                </a:solidFill>
              </a:rPr>
              <a:t>Easy</a:t>
            </a:r>
          </a:p>
        </p:txBody>
      </p:sp>
      <p:sp>
        <p:nvSpPr>
          <p:cNvPr id="11" name="TextBox 10">
            <a:extLst>
              <a:ext uri="{FF2B5EF4-FFF2-40B4-BE49-F238E27FC236}">
                <a16:creationId xmlns:a16="http://schemas.microsoft.com/office/drawing/2014/main" id="{661AC877-BC87-8106-169D-B33B5B8ACA0F}"/>
              </a:ext>
            </a:extLst>
          </p:cNvPr>
          <p:cNvSpPr txBox="1"/>
          <p:nvPr/>
        </p:nvSpPr>
        <p:spPr>
          <a:xfrm>
            <a:off x="8155303" y="6053328"/>
            <a:ext cx="1326645" cy="707886"/>
          </a:xfrm>
          <a:prstGeom prst="rect">
            <a:avLst/>
          </a:prstGeom>
          <a:noFill/>
        </p:spPr>
        <p:txBody>
          <a:bodyPr wrap="none" rtlCol="0">
            <a:spAutoFit/>
          </a:bodyPr>
          <a:lstStyle/>
          <a:p>
            <a:pPr algn="ctr"/>
            <a:r>
              <a:rPr lang="en-US" sz="4000" b="1" dirty="0">
                <a:solidFill>
                  <a:srgbClr val="FF0000"/>
                </a:solidFill>
              </a:rPr>
              <a:t>Hard</a:t>
            </a:r>
          </a:p>
        </p:txBody>
      </p:sp>
      <p:sp>
        <p:nvSpPr>
          <p:cNvPr id="12" name="TextBox 11">
            <a:extLst>
              <a:ext uri="{FF2B5EF4-FFF2-40B4-BE49-F238E27FC236}">
                <a16:creationId xmlns:a16="http://schemas.microsoft.com/office/drawing/2014/main" id="{3B4B8E1C-78E9-000D-C51A-7B56F2236F45}"/>
              </a:ext>
            </a:extLst>
          </p:cNvPr>
          <p:cNvSpPr txBox="1"/>
          <p:nvPr/>
        </p:nvSpPr>
        <p:spPr>
          <a:xfrm>
            <a:off x="10128823" y="696328"/>
            <a:ext cx="1283749" cy="707886"/>
          </a:xfrm>
          <a:prstGeom prst="rect">
            <a:avLst/>
          </a:prstGeom>
          <a:noFill/>
        </p:spPr>
        <p:txBody>
          <a:bodyPr wrap="none" rtlCol="0">
            <a:spAutoFit/>
          </a:bodyPr>
          <a:lstStyle/>
          <a:p>
            <a:pPr algn="ctr"/>
            <a:r>
              <a:rPr lang="en-US" sz="4000" b="1" dirty="0">
                <a:solidFill>
                  <a:srgbClr val="FF0000"/>
                </a:solidFill>
              </a:rPr>
              <a:t>Fake</a:t>
            </a:r>
          </a:p>
        </p:txBody>
      </p:sp>
      <p:sp>
        <p:nvSpPr>
          <p:cNvPr id="13" name="TextBox 12">
            <a:extLst>
              <a:ext uri="{FF2B5EF4-FFF2-40B4-BE49-F238E27FC236}">
                <a16:creationId xmlns:a16="http://schemas.microsoft.com/office/drawing/2014/main" id="{A7678E14-9344-3BF7-1A73-BAC58657D84D}"/>
              </a:ext>
            </a:extLst>
          </p:cNvPr>
          <p:cNvSpPr txBox="1"/>
          <p:nvPr/>
        </p:nvSpPr>
        <p:spPr>
          <a:xfrm>
            <a:off x="10159728" y="6053328"/>
            <a:ext cx="1231427" cy="707886"/>
          </a:xfrm>
          <a:prstGeom prst="rect">
            <a:avLst/>
          </a:prstGeom>
          <a:noFill/>
        </p:spPr>
        <p:txBody>
          <a:bodyPr wrap="none" rtlCol="0">
            <a:spAutoFit/>
          </a:bodyPr>
          <a:lstStyle/>
          <a:p>
            <a:pPr algn="ctr"/>
            <a:r>
              <a:rPr lang="en-US" sz="4000" b="1" dirty="0">
                <a:solidFill>
                  <a:srgbClr val="011893"/>
                </a:solidFill>
              </a:rPr>
              <a:t>Real</a:t>
            </a:r>
          </a:p>
        </p:txBody>
      </p:sp>
      <p:pic>
        <p:nvPicPr>
          <p:cNvPr id="1026" name="Picture 2" descr="LED-41L2 LED Plant Growth Chamber | Geneva Scientific">
            <a:extLst>
              <a:ext uri="{FF2B5EF4-FFF2-40B4-BE49-F238E27FC236}">
                <a16:creationId xmlns:a16="http://schemas.microsoft.com/office/drawing/2014/main" id="{D31072EE-CA97-AF08-F56F-1E1C21B281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53689" y="2266725"/>
            <a:ext cx="854860" cy="12994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espoke Glasshouse Canopy &amp; Pergola - Hartley Botanic">
            <a:extLst>
              <a:ext uri="{FF2B5EF4-FFF2-40B4-BE49-F238E27FC236}">
                <a16:creationId xmlns:a16="http://schemas.microsoft.com/office/drawing/2014/main" id="{7B2D33E0-9EA5-0B55-8297-6875765EC9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25359" y="3831583"/>
            <a:ext cx="2599944" cy="103997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Our Very own Time Machine: The Boston Area Climate Experiment - Waltham  Field Station">
            <a:extLst>
              <a:ext uri="{FF2B5EF4-FFF2-40B4-BE49-F238E27FC236}">
                <a16:creationId xmlns:a16="http://schemas.microsoft.com/office/drawing/2014/main" id="{1A13DC18-38EB-EAB6-5EA6-C019D2B476D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60564" y="5353812"/>
            <a:ext cx="1865376" cy="13990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704705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AE632-3754-4AA2-0EB8-8B6A22D8AF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C32E1F-5AA9-2C24-4D24-938724285454}"/>
              </a:ext>
            </a:extLst>
          </p:cNvPr>
          <p:cNvSpPr>
            <a:spLocks noGrp="1"/>
          </p:cNvSpPr>
          <p:nvPr>
            <p:ph type="title"/>
          </p:nvPr>
        </p:nvSpPr>
        <p:spPr/>
        <p:txBody>
          <a:bodyPr/>
          <a:lstStyle/>
          <a:p>
            <a:r>
              <a:rPr lang="en-US" dirty="0"/>
              <a:t>Experiment types</a:t>
            </a:r>
          </a:p>
        </p:txBody>
      </p:sp>
      <p:sp>
        <p:nvSpPr>
          <p:cNvPr id="3" name="Content Placeholder 2">
            <a:extLst>
              <a:ext uri="{FF2B5EF4-FFF2-40B4-BE49-F238E27FC236}">
                <a16:creationId xmlns:a16="http://schemas.microsoft.com/office/drawing/2014/main" id="{DEFBFA08-C843-FEEE-EEDC-22056D627F07}"/>
              </a:ext>
            </a:extLst>
          </p:cNvPr>
          <p:cNvSpPr>
            <a:spLocks noGrp="1"/>
          </p:cNvSpPr>
          <p:nvPr>
            <p:ph idx="1"/>
          </p:nvPr>
        </p:nvSpPr>
        <p:spPr/>
        <p:txBody>
          <a:bodyPr/>
          <a:lstStyle/>
          <a:p>
            <a:r>
              <a:rPr lang="en-US" dirty="0">
                <a:solidFill>
                  <a:schemeClr val="bg2"/>
                </a:solidFill>
              </a:rPr>
              <a:t>Growth chamber experiments</a:t>
            </a:r>
          </a:p>
          <a:p>
            <a:endParaRPr lang="en-US" dirty="0">
              <a:solidFill>
                <a:schemeClr val="bg2"/>
              </a:solidFill>
            </a:endParaRPr>
          </a:p>
          <a:p>
            <a:endParaRPr lang="en-US" dirty="0">
              <a:solidFill>
                <a:schemeClr val="bg2"/>
              </a:solidFill>
            </a:endParaRPr>
          </a:p>
          <a:p>
            <a:r>
              <a:rPr lang="en-US" dirty="0">
                <a:solidFill>
                  <a:schemeClr val="bg2"/>
                </a:solidFill>
              </a:rPr>
              <a:t>Glasshouse experiments</a:t>
            </a:r>
          </a:p>
          <a:p>
            <a:endParaRPr lang="en-US" dirty="0"/>
          </a:p>
          <a:p>
            <a:endParaRPr lang="en-US" dirty="0"/>
          </a:p>
          <a:p>
            <a:r>
              <a:rPr lang="en-US" dirty="0"/>
              <a:t>Field manipulation experiments</a:t>
            </a:r>
          </a:p>
        </p:txBody>
      </p:sp>
      <p:sp>
        <p:nvSpPr>
          <p:cNvPr id="5" name="Left-Right Arrow 4">
            <a:extLst>
              <a:ext uri="{FF2B5EF4-FFF2-40B4-BE49-F238E27FC236}">
                <a16:creationId xmlns:a16="http://schemas.microsoft.com/office/drawing/2014/main" id="{3689E20C-009E-1A9E-C861-29CF9BEE9A0E}"/>
              </a:ext>
            </a:extLst>
          </p:cNvPr>
          <p:cNvSpPr/>
          <p:nvPr/>
        </p:nvSpPr>
        <p:spPr>
          <a:xfrm rot="16200000">
            <a:off x="8448294"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Realism</a:t>
            </a:r>
          </a:p>
        </p:txBody>
      </p:sp>
      <p:sp>
        <p:nvSpPr>
          <p:cNvPr id="6" name="Left-Right Arrow 5">
            <a:extLst>
              <a:ext uri="{FF2B5EF4-FFF2-40B4-BE49-F238E27FC236}">
                <a16:creationId xmlns:a16="http://schemas.microsoft.com/office/drawing/2014/main" id="{D1054868-DB83-C1F7-7457-739A4647FD1E}"/>
              </a:ext>
            </a:extLst>
          </p:cNvPr>
          <p:cNvSpPr/>
          <p:nvPr/>
        </p:nvSpPr>
        <p:spPr>
          <a:xfrm rot="16200000">
            <a:off x="6491478"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Logistics</a:t>
            </a:r>
          </a:p>
        </p:txBody>
      </p:sp>
      <p:sp>
        <p:nvSpPr>
          <p:cNvPr id="7" name="Left-Right Arrow 6">
            <a:extLst>
              <a:ext uri="{FF2B5EF4-FFF2-40B4-BE49-F238E27FC236}">
                <a16:creationId xmlns:a16="http://schemas.microsoft.com/office/drawing/2014/main" id="{9F4E66A7-B14F-C546-BCFD-83092581ED31}"/>
              </a:ext>
            </a:extLst>
          </p:cNvPr>
          <p:cNvSpPr/>
          <p:nvPr/>
        </p:nvSpPr>
        <p:spPr>
          <a:xfrm rot="16200000">
            <a:off x="4534662"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Level of Control</a:t>
            </a:r>
          </a:p>
        </p:txBody>
      </p:sp>
      <p:sp>
        <p:nvSpPr>
          <p:cNvPr id="8" name="TextBox 7">
            <a:extLst>
              <a:ext uri="{FF2B5EF4-FFF2-40B4-BE49-F238E27FC236}">
                <a16:creationId xmlns:a16="http://schemas.microsoft.com/office/drawing/2014/main" id="{37C55A82-E803-3EF9-E2DA-5CF2EFBAECF2}"/>
              </a:ext>
            </a:extLst>
          </p:cNvPr>
          <p:cNvSpPr txBox="1"/>
          <p:nvPr/>
        </p:nvSpPr>
        <p:spPr>
          <a:xfrm>
            <a:off x="6184696" y="690677"/>
            <a:ext cx="1255472" cy="707886"/>
          </a:xfrm>
          <a:prstGeom prst="rect">
            <a:avLst/>
          </a:prstGeom>
          <a:noFill/>
        </p:spPr>
        <p:txBody>
          <a:bodyPr wrap="none" rtlCol="0">
            <a:spAutoFit/>
          </a:bodyPr>
          <a:lstStyle/>
          <a:p>
            <a:pPr algn="ctr"/>
            <a:r>
              <a:rPr lang="en-US" sz="4000" b="1" dirty="0">
                <a:solidFill>
                  <a:srgbClr val="011893"/>
                </a:solidFill>
              </a:rPr>
              <a:t>High</a:t>
            </a:r>
          </a:p>
        </p:txBody>
      </p:sp>
      <p:sp>
        <p:nvSpPr>
          <p:cNvPr id="9" name="TextBox 8">
            <a:extLst>
              <a:ext uri="{FF2B5EF4-FFF2-40B4-BE49-F238E27FC236}">
                <a16:creationId xmlns:a16="http://schemas.microsoft.com/office/drawing/2014/main" id="{17492A52-E93E-11EA-0620-C0E83520F41C}"/>
              </a:ext>
            </a:extLst>
          </p:cNvPr>
          <p:cNvSpPr txBox="1"/>
          <p:nvPr/>
        </p:nvSpPr>
        <p:spPr>
          <a:xfrm>
            <a:off x="6296527" y="6053328"/>
            <a:ext cx="1130566" cy="707886"/>
          </a:xfrm>
          <a:prstGeom prst="rect">
            <a:avLst/>
          </a:prstGeom>
          <a:noFill/>
        </p:spPr>
        <p:txBody>
          <a:bodyPr wrap="none" rtlCol="0">
            <a:spAutoFit/>
          </a:bodyPr>
          <a:lstStyle/>
          <a:p>
            <a:pPr algn="ctr"/>
            <a:r>
              <a:rPr lang="en-US" sz="4000" b="1" dirty="0">
                <a:solidFill>
                  <a:srgbClr val="FF0000"/>
                </a:solidFill>
              </a:rPr>
              <a:t>Low</a:t>
            </a:r>
          </a:p>
        </p:txBody>
      </p:sp>
      <p:sp>
        <p:nvSpPr>
          <p:cNvPr id="10" name="TextBox 9">
            <a:extLst>
              <a:ext uri="{FF2B5EF4-FFF2-40B4-BE49-F238E27FC236}">
                <a16:creationId xmlns:a16="http://schemas.microsoft.com/office/drawing/2014/main" id="{5B545B73-F90F-D6AE-3C70-0938A5C6B1B1}"/>
              </a:ext>
            </a:extLst>
          </p:cNvPr>
          <p:cNvSpPr txBox="1"/>
          <p:nvPr/>
        </p:nvSpPr>
        <p:spPr>
          <a:xfrm>
            <a:off x="8181496" y="689712"/>
            <a:ext cx="1274260" cy="707886"/>
          </a:xfrm>
          <a:prstGeom prst="rect">
            <a:avLst/>
          </a:prstGeom>
          <a:noFill/>
        </p:spPr>
        <p:txBody>
          <a:bodyPr wrap="none" rtlCol="0">
            <a:spAutoFit/>
          </a:bodyPr>
          <a:lstStyle/>
          <a:p>
            <a:pPr algn="ctr"/>
            <a:r>
              <a:rPr lang="en-US" sz="4000" b="1" dirty="0">
                <a:solidFill>
                  <a:srgbClr val="011893"/>
                </a:solidFill>
              </a:rPr>
              <a:t>Easy</a:t>
            </a:r>
          </a:p>
        </p:txBody>
      </p:sp>
      <p:sp>
        <p:nvSpPr>
          <p:cNvPr id="11" name="TextBox 10">
            <a:extLst>
              <a:ext uri="{FF2B5EF4-FFF2-40B4-BE49-F238E27FC236}">
                <a16:creationId xmlns:a16="http://schemas.microsoft.com/office/drawing/2014/main" id="{C0CDAA46-6894-5548-8A97-0D2457D9C549}"/>
              </a:ext>
            </a:extLst>
          </p:cNvPr>
          <p:cNvSpPr txBox="1"/>
          <p:nvPr/>
        </p:nvSpPr>
        <p:spPr>
          <a:xfrm>
            <a:off x="8155303" y="6053328"/>
            <a:ext cx="1326645" cy="707886"/>
          </a:xfrm>
          <a:prstGeom prst="rect">
            <a:avLst/>
          </a:prstGeom>
          <a:noFill/>
        </p:spPr>
        <p:txBody>
          <a:bodyPr wrap="none" rtlCol="0">
            <a:spAutoFit/>
          </a:bodyPr>
          <a:lstStyle/>
          <a:p>
            <a:pPr algn="ctr"/>
            <a:r>
              <a:rPr lang="en-US" sz="4000" b="1" dirty="0">
                <a:solidFill>
                  <a:srgbClr val="FF0000"/>
                </a:solidFill>
              </a:rPr>
              <a:t>Hard</a:t>
            </a:r>
          </a:p>
        </p:txBody>
      </p:sp>
      <p:sp>
        <p:nvSpPr>
          <p:cNvPr id="12" name="TextBox 11">
            <a:extLst>
              <a:ext uri="{FF2B5EF4-FFF2-40B4-BE49-F238E27FC236}">
                <a16:creationId xmlns:a16="http://schemas.microsoft.com/office/drawing/2014/main" id="{E79B7892-5E56-E7CE-A4AD-C29D684749A6}"/>
              </a:ext>
            </a:extLst>
          </p:cNvPr>
          <p:cNvSpPr txBox="1"/>
          <p:nvPr/>
        </p:nvSpPr>
        <p:spPr>
          <a:xfrm>
            <a:off x="10128823" y="696328"/>
            <a:ext cx="1283749" cy="707886"/>
          </a:xfrm>
          <a:prstGeom prst="rect">
            <a:avLst/>
          </a:prstGeom>
          <a:noFill/>
        </p:spPr>
        <p:txBody>
          <a:bodyPr wrap="none" rtlCol="0">
            <a:spAutoFit/>
          </a:bodyPr>
          <a:lstStyle/>
          <a:p>
            <a:pPr algn="ctr"/>
            <a:r>
              <a:rPr lang="en-US" sz="4000" b="1" dirty="0">
                <a:solidFill>
                  <a:srgbClr val="FF0000"/>
                </a:solidFill>
              </a:rPr>
              <a:t>Fake</a:t>
            </a:r>
          </a:p>
        </p:txBody>
      </p:sp>
      <p:sp>
        <p:nvSpPr>
          <p:cNvPr id="13" name="TextBox 12">
            <a:extLst>
              <a:ext uri="{FF2B5EF4-FFF2-40B4-BE49-F238E27FC236}">
                <a16:creationId xmlns:a16="http://schemas.microsoft.com/office/drawing/2014/main" id="{0B8D092C-F7AA-9073-ADF8-D7037D5AE7DB}"/>
              </a:ext>
            </a:extLst>
          </p:cNvPr>
          <p:cNvSpPr txBox="1"/>
          <p:nvPr/>
        </p:nvSpPr>
        <p:spPr>
          <a:xfrm>
            <a:off x="10159728" y="6053328"/>
            <a:ext cx="1231427" cy="707886"/>
          </a:xfrm>
          <a:prstGeom prst="rect">
            <a:avLst/>
          </a:prstGeom>
          <a:noFill/>
        </p:spPr>
        <p:txBody>
          <a:bodyPr wrap="none" rtlCol="0">
            <a:spAutoFit/>
          </a:bodyPr>
          <a:lstStyle/>
          <a:p>
            <a:pPr algn="ctr"/>
            <a:r>
              <a:rPr lang="en-US" sz="4000" b="1" dirty="0">
                <a:solidFill>
                  <a:srgbClr val="011893"/>
                </a:solidFill>
              </a:rPr>
              <a:t>Real</a:t>
            </a:r>
          </a:p>
        </p:txBody>
      </p:sp>
      <p:pic>
        <p:nvPicPr>
          <p:cNvPr id="1026" name="Picture 2" descr="LED-41L2 LED Plant Growth Chamber | Geneva Scientific">
            <a:extLst>
              <a:ext uri="{FF2B5EF4-FFF2-40B4-BE49-F238E27FC236}">
                <a16:creationId xmlns:a16="http://schemas.microsoft.com/office/drawing/2014/main" id="{60E9254C-8A76-D2EC-C4C1-CBDCC663D6CD}"/>
              </a:ext>
            </a:extLst>
          </p:cNvPr>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5053689" y="2266725"/>
            <a:ext cx="854860" cy="12994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espoke Glasshouse Canopy &amp; Pergola - Hartley Botanic">
            <a:extLst>
              <a:ext uri="{FF2B5EF4-FFF2-40B4-BE49-F238E27FC236}">
                <a16:creationId xmlns:a16="http://schemas.microsoft.com/office/drawing/2014/main" id="{973CB5EE-2C75-7AA1-EF37-B970ECE0D2A3}"/>
              </a:ext>
            </a:extLst>
          </p:cNvPr>
          <p:cNvPicPr>
            <a:picLocks noChangeAspect="1" noChangeArrowheads="1"/>
          </p:cNvPicPr>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2825359" y="3831583"/>
            <a:ext cx="2599944" cy="103997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Our Very own Time Machine: The Boston Area Climate Experiment - Waltham  Field Station">
            <a:extLst>
              <a:ext uri="{FF2B5EF4-FFF2-40B4-BE49-F238E27FC236}">
                <a16:creationId xmlns:a16="http://schemas.microsoft.com/office/drawing/2014/main" id="{3711CC58-EF62-E6FF-DC9E-AFF0765B43A5}"/>
              </a:ext>
            </a:extLst>
          </p:cNvPr>
          <p:cNvPicPr>
            <a:picLocks noChangeAspect="1" noChangeArrowheads="1"/>
          </p:cNvPicPr>
          <p:nvPr/>
        </p:nvPicPr>
        <p:blipFill>
          <a:blip r:embed="rId4">
            <a:alphaModFix/>
            <a:extLst>
              <a:ext uri="{28A0092B-C50C-407E-A947-70E740481C1C}">
                <a14:useLocalDpi xmlns:a14="http://schemas.microsoft.com/office/drawing/2010/main" val="0"/>
              </a:ext>
            </a:extLst>
          </a:blip>
          <a:srcRect/>
          <a:stretch>
            <a:fillRect/>
          </a:stretch>
        </p:blipFill>
        <p:spPr bwMode="auto">
          <a:xfrm>
            <a:off x="1460564" y="5353812"/>
            <a:ext cx="1865376" cy="13990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05011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C18E3-7ED4-D54F-D0A2-3A98496E32FF}"/>
              </a:ext>
            </a:extLst>
          </p:cNvPr>
          <p:cNvSpPr>
            <a:spLocks noGrp="1"/>
          </p:cNvSpPr>
          <p:nvPr>
            <p:ph type="title"/>
          </p:nvPr>
        </p:nvSpPr>
        <p:spPr/>
        <p:txBody>
          <a:bodyPr/>
          <a:lstStyle/>
          <a:p>
            <a:r>
              <a:rPr lang="en-US" dirty="0"/>
              <a:t>Testing theory with experiments: </a:t>
            </a:r>
            <a:r>
              <a:rPr lang="en-US" dirty="0">
                <a:solidFill>
                  <a:srgbClr val="011893"/>
                </a:solidFill>
              </a:rPr>
              <a:t>field manipulation</a:t>
            </a:r>
            <a:r>
              <a:rPr lang="en-US" dirty="0"/>
              <a:t> example (</a:t>
            </a:r>
            <a:r>
              <a:rPr lang="en-US" dirty="0" err="1"/>
              <a:t>Cheaib</a:t>
            </a:r>
            <a:r>
              <a:rPr lang="en-US" dirty="0"/>
              <a:t> et al., 2025)</a:t>
            </a:r>
          </a:p>
        </p:txBody>
      </p:sp>
      <p:pic>
        <p:nvPicPr>
          <p:cNvPr id="4" name="Picture 3">
            <a:extLst>
              <a:ext uri="{FF2B5EF4-FFF2-40B4-BE49-F238E27FC236}">
                <a16:creationId xmlns:a16="http://schemas.microsoft.com/office/drawing/2014/main" id="{A8F2B2CD-CD9D-335B-A1F6-8ED75B0C9816}"/>
              </a:ext>
            </a:extLst>
          </p:cNvPr>
          <p:cNvPicPr>
            <a:picLocks noChangeAspect="1"/>
          </p:cNvPicPr>
          <p:nvPr/>
        </p:nvPicPr>
        <p:blipFill>
          <a:blip r:embed="rId2"/>
          <a:stretch>
            <a:fillRect/>
          </a:stretch>
        </p:blipFill>
        <p:spPr>
          <a:xfrm>
            <a:off x="1330288" y="2430094"/>
            <a:ext cx="9531423" cy="2973803"/>
          </a:xfrm>
          <a:prstGeom prst="rect">
            <a:avLst/>
          </a:prstGeom>
        </p:spPr>
      </p:pic>
    </p:spTree>
    <p:extLst>
      <p:ext uri="{BB962C8B-B14F-4D97-AF65-F5344CB8AC3E}">
        <p14:creationId xmlns:p14="http://schemas.microsoft.com/office/powerpoint/2010/main" val="5238166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3CF80-F1D0-9E33-B32F-CF5552D945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08CC0A-201B-C771-8EB1-D2599376EB15}"/>
              </a:ext>
            </a:extLst>
          </p:cNvPr>
          <p:cNvSpPr>
            <a:spLocks noGrp="1"/>
          </p:cNvSpPr>
          <p:nvPr>
            <p:ph type="title"/>
          </p:nvPr>
        </p:nvSpPr>
        <p:spPr/>
        <p:txBody>
          <a:bodyPr/>
          <a:lstStyle/>
          <a:p>
            <a:r>
              <a:rPr lang="en-US" dirty="0"/>
              <a:t>Testing theory with experiments: </a:t>
            </a:r>
            <a:r>
              <a:rPr lang="en-US" dirty="0">
                <a:solidFill>
                  <a:srgbClr val="011893"/>
                </a:solidFill>
              </a:rPr>
              <a:t>field manipulation</a:t>
            </a:r>
            <a:r>
              <a:rPr lang="en-US" dirty="0"/>
              <a:t> example (</a:t>
            </a:r>
            <a:r>
              <a:rPr lang="en-US" dirty="0" err="1"/>
              <a:t>Cheaib</a:t>
            </a:r>
            <a:r>
              <a:rPr lang="en-US" dirty="0"/>
              <a:t> et al., 2025)</a:t>
            </a:r>
          </a:p>
        </p:txBody>
      </p:sp>
      <p:sp>
        <p:nvSpPr>
          <p:cNvPr id="3" name="Content Placeholder 2">
            <a:extLst>
              <a:ext uri="{FF2B5EF4-FFF2-40B4-BE49-F238E27FC236}">
                <a16:creationId xmlns:a16="http://schemas.microsoft.com/office/drawing/2014/main" id="{28C71732-C2AF-B189-FBF5-D93F1EF6342F}"/>
              </a:ext>
            </a:extLst>
          </p:cNvPr>
          <p:cNvSpPr>
            <a:spLocks noGrp="1"/>
          </p:cNvSpPr>
          <p:nvPr>
            <p:ph idx="1"/>
          </p:nvPr>
        </p:nvSpPr>
        <p:spPr/>
        <p:txBody>
          <a:bodyPr/>
          <a:lstStyle/>
          <a:p>
            <a:r>
              <a:rPr lang="en-US" b="1" u="sng" dirty="0">
                <a:solidFill>
                  <a:srgbClr val="011893"/>
                </a:solidFill>
              </a:rPr>
              <a:t>Theory</a:t>
            </a:r>
            <a:r>
              <a:rPr lang="en-US" dirty="0"/>
              <a:t>: photosynthetic nitrogen demand should increase with light and decrease with temperature and water availability</a:t>
            </a:r>
          </a:p>
        </p:txBody>
      </p:sp>
      <p:pic>
        <p:nvPicPr>
          <p:cNvPr id="5" name="Picture 4" descr="A blue line with black text&#10;&#10;AI-generated content may be incorrect.">
            <a:extLst>
              <a:ext uri="{FF2B5EF4-FFF2-40B4-BE49-F238E27FC236}">
                <a16:creationId xmlns:a16="http://schemas.microsoft.com/office/drawing/2014/main" id="{132669FD-DB13-F752-531F-BD673E19CC1D}"/>
              </a:ext>
            </a:extLst>
          </p:cNvPr>
          <p:cNvPicPr>
            <a:picLocks noChangeAspect="1"/>
          </p:cNvPicPr>
          <p:nvPr/>
        </p:nvPicPr>
        <p:blipFill>
          <a:blip r:embed="rId2"/>
          <a:stretch>
            <a:fillRect/>
          </a:stretch>
        </p:blipFill>
        <p:spPr>
          <a:xfrm>
            <a:off x="838200" y="3094083"/>
            <a:ext cx="3217817" cy="3217817"/>
          </a:xfrm>
          <a:prstGeom prst="rect">
            <a:avLst/>
          </a:prstGeom>
        </p:spPr>
      </p:pic>
      <p:pic>
        <p:nvPicPr>
          <p:cNvPr id="7" name="Picture 6" descr="A graph showing the temperature&#10;&#10;AI-generated content may be incorrect.">
            <a:extLst>
              <a:ext uri="{FF2B5EF4-FFF2-40B4-BE49-F238E27FC236}">
                <a16:creationId xmlns:a16="http://schemas.microsoft.com/office/drawing/2014/main" id="{0D4C524C-00E4-AFD3-48B2-95F123FA6170}"/>
              </a:ext>
            </a:extLst>
          </p:cNvPr>
          <p:cNvPicPr>
            <a:picLocks noChangeAspect="1"/>
          </p:cNvPicPr>
          <p:nvPr/>
        </p:nvPicPr>
        <p:blipFill>
          <a:blip r:embed="rId3"/>
          <a:stretch>
            <a:fillRect/>
          </a:stretch>
        </p:blipFill>
        <p:spPr>
          <a:xfrm>
            <a:off x="4152175" y="3094082"/>
            <a:ext cx="3217818" cy="3217818"/>
          </a:xfrm>
          <a:prstGeom prst="rect">
            <a:avLst/>
          </a:prstGeom>
        </p:spPr>
      </p:pic>
      <p:pic>
        <p:nvPicPr>
          <p:cNvPr id="9" name="Picture 8" descr="A blue line on a white background&#10;&#10;AI-generated content may be incorrect.">
            <a:extLst>
              <a:ext uri="{FF2B5EF4-FFF2-40B4-BE49-F238E27FC236}">
                <a16:creationId xmlns:a16="http://schemas.microsoft.com/office/drawing/2014/main" id="{E5E6A52E-0B13-1066-B439-04760EE9B531}"/>
              </a:ext>
            </a:extLst>
          </p:cNvPr>
          <p:cNvPicPr>
            <a:picLocks noChangeAspect="1"/>
          </p:cNvPicPr>
          <p:nvPr/>
        </p:nvPicPr>
        <p:blipFill>
          <a:blip r:embed="rId4"/>
          <a:stretch>
            <a:fillRect/>
          </a:stretch>
        </p:blipFill>
        <p:spPr>
          <a:xfrm>
            <a:off x="7466151" y="3094082"/>
            <a:ext cx="3217818" cy="3217818"/>
          </a:xfrm>
          <a:prstGeom prst="rect">
            <a:avLst/>
          </a:prstGeom>
        </p:spPr>
      </p:pic>
    </p:spTree>
    <p:extLst>
      <p:ext uri="{BB962C8B-B14F-4D97-AF65-F5344CB8AC3E}">
        <p14:creationId xmlns:p14="http://schemas.microsoft.com/office/powerpoint/2010/main" val="8697688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B2BB6-E4FA-24FE-8552-6660F86966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E03E82-DD9B-DA88-377E-FA2E509E4DEA}"/>
              </a:ext>
            </a:extLst>
          </p:cNvPr>
          <p:cNvSpPr>
            <a:spLocks noGrp="1"/>
          </p:cNvSpPr>
          <p:nvPr>
            <p:ph type="title"/>
          </p:nvPr>
        </p:nvSpPr>
        <p:spPr/>
        <p:txBody>
          <a:bodyPr/>
          <a:lstStyle/>
          <a:p>
            <a:r>
              <a:rPr lang="en-US" dirty="0"/>
              <a:t>Testing theory with experiments: </a:t>
            </a:r>
            <a:r>
              <a:rPr lang="en-US" dirty="0">
                <a:solidFill>
                  <a:srgbClr val="011893"/>
                </a:solidFill>
              </a:rPr>
              <a:t>field manipulation</a:t>
            </a:r>
            <a:r>
              <a:rPr lang="en-US" dirty="0"/>
              <a:t> example (</a:t>
            </a:r>
            <a:r>
              <a:rPr lang="en-US" dirty="0" err="1"/>
              <a:t>Cheaib</a:t>
            </a:r>
            <a:r>
              <a:rPr lang="en-US" dirty="0"/>
              <a:t> et al., 2025)</a:t>
            </a:r>
          </a:p>
        </p:txBody>
      </p:sp>
      <p:sp>
        <p:nvSpPr>
          <p:cNvPr id="3" name="Content Placeholder 2">
            <a:extLst>
              <a:ext uri="{FF2B5EF4-FFF2-40B4-BE49-F238E27FC236}">
                <a16:creationId xmlns:a16="http://schemas.microsoft.com/office/drawing/2014/main" id="{B5762AD5-0ADD-3278-160C-8164D4ACE1C5}"/>
              </a:ext>
            </a:extLst>
          </p:cNvPr>
          <p:cNvSpPr>
            <a:spLocks noGrp="1"/>
          </p:cNvSpPr>
          <p:nvPr>
            <p:ph idx="1"/>
          </p:nvPr>
        </p:nvSpPr>
        <p:spPr/>
        <p:txBody>
          <a:bodyPr/>
          <a:lstStyle/>
          <a:p>
            <a:r>
              <a:rPr lang="en-US" b="1" u="sng" dirty="0">
                <a:solidFill>
                  <a:srgbClr val="011893"/>
                </a:solidFill>
              </a:rPr>
              <a:t>Results</a:t>
            </a:r>
            <a:r>
              <a:rPr lang="en-US" dirty="0"/>
              <a:t>: theory confirmed for temperature and water, but not light</a:t>
            </a:r>
          </a:p>
        </p:txBody>
      </p:sp>
      <p:pic>
        <p:nvPicPr>
          <p:cNvPr id="1026" name="Picture 2" descr="Details are in the caption following the image">
            <a:extLst>
              <a:ext uri="{FF2B5EF4-FFF2-40B4-BE49-F238E27FC236}">
                <a16:creationId xmlns:a16="http://schemas.microsoft.com/office/drawing/2014/main" id="{7AD06074-36C6-1627-B469-0F45E61E163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51238"/>
          <a:stretch>
            <a:fillRect/>
          </a:stretch>
        </p:blipFill>
        <p:spPr bwMode="auto">
          <a:xfrm>
            <a:off x="331787" y="2699657"/>
            <a:ext cx="11022013" cy="33440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731345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C18F5-78A4-B235-AC4E-8DBBCD44B9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BE50E9-DC92-1610-D842-465CA7105EC0}"/>
              </a:ext>
            </a:extLst>
          </p:cNvPr>
          <p:cNvSpPr>
            <a:spLocks noGrp="1"/>
          </p:cNvSpPr>
          <p:nvPr>
            <p:ph type="title"/>
          </p:nvPr>
        </p:nvSpPr>
        <p:spPr/>
        <p:txBody>
          <a:bodyPr/>
          <a:lstStyle/>
          <a:p>
            <a:r>
              <a:rPr lang="en-US" dirty="0"/>
              <a:t>Testing theory with experiments: </a:t>
            </a:r>
            <a:r>
              <a:rPr lang="en-US" dirty="0">
                <a:solidFill>
                  <a:srgbClr val="011893"/>
                </a:solidFill>
              </a:rPr>
              <a:t>field manipulation</a:t>
            </a:r>
            <a:r>
              <a:rPr lang="en-US" dirty="0"/>
              <a:t> example (</a:t>
            </a:r>
            <a:r>
              <a:rPr lang="en-US" dirty="0" err="1"/>
              <a:t>Cheaib</a:t>
            </a:r>
            <a:r>
              <a:rPr lang="en-US" dirty="0"/>
              <a:t> et al., 2025)</a:t>
            </a:r>
          </a:p>
        </p:txBody>
      </p:sp>
      <p:sp>
        <p:nvSpPr>
          <p:cNvPr id="3" name="Content Placeholder 2">
            <a:extLst>
              <a:ext uri="{FF2B5EF4-FFF2-40B4-BE49-F238E27FC236}">
                <a16:creationId xmlns:a16="http://schemas.microsoft.com/office/drawing/2014/main" id="{B4F873E9-C7E5-9E52-8BAF-81BADC946256}"/>
              </a:ext>
            </a:extLst>
          </p:cNvPr>
          <p:cNvSpPr>
            <a:spLocks noGrp="1"/>
          </p:cNvSpPr>
          <p:nvPr>
            <p:ph idx="1"/>
          </p:nvPr>
        </p:nvSpPr>
        <p:spPr/>
        <p:txBody>
          <a:bodyPr/>
          <a:lstStyle/>
          <a:p>
            <a:r>
              <a:rPr lang="en-US" dirty="0"/>
              <a:t>Summary</a:t>
            </a:r>
          </a:p>
          <a:p>
            <a:pPr lvl="1"/>
            <a:r>
              <a:rPr lang="en-US" dirty="0"/>
              <a:t>Multi-site field manipulation data can be useful for testing theory</a:t>
            </a:r>
          </a:p>
          <a:p>
            <a:pPr lvl="1"/>
            <a:r>
              <a:rPr lang="en-US" dirty="0"/>
              <a:t>Such large-scale, field data are difficult to obtain</a:t>
            </a:r>
          </a:p>
          <a:p>
            <a:pPr lvl="2"/>
            <a:r>
              <a:rPr lang="en-US" dirty="0"/>
              <a:t>Particularly for “hard” traits</a:t>
            </a:r>
          </a:p>
          <a:p>
            <a:pPr lvl="1"/>
            <a:r>
              <a:rPr lang="en-US" dirty="0"/>
              <a:t>Directly testing mechanisms requires complimentary approaches</a:t>
            </a:r>
          </a:p>
        </p:txBody>
      </p:sp>
    </p:spTree>
    <p:extLst>
      <p:ext uri="{BB962C8B-B14F-4D97-AF65-F5344CB8AC3E}">
        <p14:creationId xmlns:p14="http://schemas.microsoft.com/office/powerpoint/2010/main" val="22626734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A6E3C-8E03-4ECA-6BF9-735331C603FF}"/>
              </a:ext>
            </a:extLst>
          </p:cNvPr>
          <p:cNvSpPr>
            <a:spLocks noGrp="1"/>
          </p:cNvSpPr>
          <p:nvPr>
            <p:ph type="title"/>
          </p:nvPr>
        </p:nvSpPr>
        <p:spPr/>
        <p:txBody>
          <a:bodyPr/>
          <a:lstStyle/>
          <a:p>
            <a:r>
              <a:rPr lang="en-US" dirty="0"/>
              <a:t>Ongoing </a:t>
            </a:r>
            <a:r>
              <a:rPr lang="en-US" dirty="0">
                <a:solidFill>
                  <a:srgbClr val="011893"/>
                </a:solidFill>
              </a:rPr>
              <a:t>field manipulation</a:t>
            </a:r>
            <a:r>
              <a:rPr lang="en-US" dirty="0"/>
              <a:t> work</a:t>
            </a:r>
          </a:p>
        </p:txBody>
      </p:sp>
      <p:sp>
        <p:nvSpPr>
          <p:cNvPr id="3" name="Content Placeholder 2">
            <a:extLst>
              <a:ext uri="{FF2B5EF4-FFF2-40B4-BE49-F238E27FC236}">
                <a16:creationId xmlns:a16="http://schemas.microsoft.com/office/drawing/2014/main" id="{BB04C471-4A6B-54DE-88A2-8BF284D13877}"/>
              </a:ext>
            </a:extLst>
          </p:cNvPr>
          <p:cNvSpPr>
            <a:spLocks noGrp="1"/>
          </p:cNvSpPr>
          <p:nvPr>
            <p:ph idx="1"/>
          </p:nvPr>
        </p:nvSpPr>
        <p:spPr/>
        <p:txBody>
          <a:bodyPr>
            <a:normAutofit/>
          </a:bodyPr>
          <a:lstStyle/>
          <a:p>
            <a:r>
              <a:rPr lang="en-US" b="1" u="sng" dirty="0">
                <a:solidFill>
                  <a:srgbClr val="011893"/>
                </a:solidFill>
              </a:rPr>
              <a:t>Individual and community </a:t>
            </a:r>
            <a:r>
              <a:rPr lang="en-US" dirty="0"/>
              <a:t>trait responses to soil resource availability across climatic gradients (PhD Monika Kelley)</a:t>
            </a:r>
          </a:p>
          <a:p>
            <a:pPr lvl="1"/>
            <a:r>
              <a:rPr lang="en-US" dirty="0"/>
              <a:t>Physiological, morphological, and biochemical traits</a:t>
            </a:r>
          </a:p>
          <a:p>
            <a:r>
              <a:rPr lang="en-US" dirty="0"/>
              <a:t>Connection between plant trait-environment relationships and </a:t>
            </a:r>
            <a:r>
              <a:rPr lang="en-US" b="1" u="sng" dirty="0">
                <a:solidFill>
                  <a:srgbClr val="011893"/>
                </a:solidFill>
              </a:rPr>
              <a:t>population dynamics </a:t>
            </a:r>
            <a:r>
              <a:rPr lang="en-US" dirty="0"/>
              <a:t>(postdoc </a:t>
            </a:r>
            <a:r>
              <a:rPr lang="en-US" dirty="0" err="1"/>
              <a:t>Alissar</a:t>
            </a:r>
            <a:r>
              <a:rPr lang="en-US" dirty="0"/>
              <a:t> </a:t>
            </a:r>
            <a:r>
              <a:rPr lang="en-US" dirty="0" err="1"/>
              <a:t>Cheaib</a:t>
            </a:r>
            <a:r>
              <a:rPr lang="en-US" dirty="0"/>
              <a:t>)</a:t>
            </a:r>
          </a:p>
          <a:p>
            <a:pPr lvl="1"/>
            <a:r>
              <a:rPr lang="en-US" dirty="0"/>
              <a:t>New approach can explore how trait responses influence population dynamics</a:t>
            </a:r>
          </a:p>
          <a:p>
            <a:r>
              <a:rPr lang="en-US" dirty="0"/>
              <a:t>Plant trait responses to experimental warming across </a:t>
            </a:r>
            <a:r>
              <a:rPr lang="en-US" b="1" u="sng" dirty="0">
                <a:solidFill>
                  <a:srgbClr val="011893"/>
                </a:solidFill>
              </a:rPr>
              <a:t>elevation</a:t>
            </a:r>
            <a:r>
              <a:rPr lang="en-US" dirty="0"/>
              <a:t> (postdoc </a:t>
            </a:r>
            <a:r>
              <a:rPr lang="en-US" dirty="0" err="1"/>
              <a:t>Alissar</a:t>
            </a:r>
            <a:r>
              <a:rPr lang="en-US" dirty="0"/>
              <a:t> </a:t>
            </a:r>
            <a:r>
              <a:rPr lang="en-US" dirty="0" err="1"/>
              <a:t>Cheaib</a:t>
            </a:r>
            <a:r>
              <a:rPr lang="en-US" dirty="0"/>
              <a:t>)</a:t>
            </a:r>
          </a:p>
          <a:p>
            <a:pPr lvl="1"/>
            <a:r>
              <a:rPr lang="en-US" dirty="0"/>
              <a:t>Temperature and non-temperature drivers of elevational responses</a:t>
            </a:r>
          </a:p>
        </p:txBody>
      </p:sp>
    </p:spTree>
    <p:extLst>
      <p:ext uri="{BB962C8B-B14F-4D97-AF65-F5344CB8AC3E}">
        <p14:creationId xmlns:p14="http://schemas.microsoft.com/office/powerpoint/2010/main" val="35230848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116F5-FAE1-8348-B08C-A507CD8BA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55551-1985-B12C-46D3-CA0AF50F6B50}"/>
              </a:ext>
            </a:extLst>
          </p:cNvPr>
          <p:cNvSpPr>
            <a:spLocks noGrp="1"/>
          </p:cNvSpPr>
          <p:nvPr>
            <p:ph type="title"/>
          </p:nvPr>
        </p:nvSpPr>
        <p:spPr/>
        <p:txBody>
          <a:bodyPr/>
          <a:lstStyle/>
          <a:p>
            <a:r>
              <a:rPr lang="en-US" dirty="0"/>
              <a:t>Experiment types</a:t>
            </a:r>
          </a:p>
        </p:txBody>
      </p:sp>
      <p:sp>
        <p:nvSpPr>
          <p:cNvPr id="3" name="Content Placeholder 2">
            <a:extLst>
              <a:ext uri="{FF2B5EF4-FFF2-40B4-BE49-F238E27FC236}">
                <a16:creationId xmlns:a16="http://schemas.microsoft.com/office/drawing/2014/main" id="{004A29F8-B6CB-1EDE-147A-F2D13F377046}"/>
              </a:ext>
            </a:extLst>
          </p:cNvPr>
          <p:cNvSpPr>
            <a:spLocks noGrp="1"/>
          </p:cNvSpPr>
          <p:nvPr>
            <p:ph idx="1"/>
          </p:nvPr>
        </p:nvSpPr>
        <p:spPr/>
        <p:txBody>
          <a:bodyPr/>
          <a:lstStyle/>
          <a:p>
            <a:r>
              <a:rPr lang="en-US" dirty="0">
                <a:solidFill>
                  <a:schemeClr val="bg2"/>
                </a:solidFill>
              </a:rPr>
              <a:t>Growth chamber experiments</a:t>
            </a:r>
          </a:p>
          <a:p>
            <a:endParaRPr lang="en-US" dirty="0"/>
          </a:p>
          <a:p>
            <a:endParaRPr lang="en-US" dirty="0"/>
          </a:p>
          <a:p>
            <a:r>
              <a:rPr lang="en-US" dirty="0"/>
              <a:t>Glasshouse experiments</a:t>
            </a:r>
          </a:p>
          <a:p>
            <a:endParaRPr lang="en-US" dirty="0"/>
          </a:p>
          <a:p>
            <a:endParaRPr lang="en-US" dirty="0"/>
          </a:p>
          <a:p>
            <a:r>
              <a:rPr lang="en-US" dirty="0">
                <a:solidFill>
                  <a:schemeClr val="bg2"/>
                </a:solidFill>
              </a:rPr>
              <a:t>Field manipulation experiments</a:t>
            </a:r>
          </a:p>
        </p:txBody>
      </p:sp>
      <p:sp>
        <p:nvSpPr>
          <p:cNvPr id="5" name="Left-Right Arrow 4">
            <a:extLst>
              <a:ext uri="{FF2B5EF4-FFF2-40B4-BE49-F238E27FC236}">
                <a16:creationId xmlns:a16="http://schemas.microsoft.com/office/drawing/2014/main" id="{8322FE0F-1BA2-86CD-6B4C-B6C328A574BC}"/>
              </a:ext>
            </a:extLst>
          </p:cNvPr>
          <p:cNvSpPr/>
          <p:nvPr/>
        </p:nvSpPr>
        <p:spPr>
          <a:xfrm rot="16200000">
            <a:off x="8448294"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Realism</a:t>
            </a:r>
          </a:p>
        </p:txBody>
      </p:sp>
      <p:sp>
        <p:nvSpPr>
          <p:cNvPr id="6" name="Left-Right Arrow 5">
            <a:extLst>
              <a:ext uri="{FF2B5EF4-FFF2-40B4-BE49-F238E27FC236}">
                <a16:creationId xmlns:a16="http://schemas.microsoft.com/office/drawing/2014/main" id="{1DBD77E5-A821-5FDD-CAEC-E13B85ED8471}"/>
              </a:ext>
            </a:extLst>
          </p:cNvPr>
          <p:cNvSpPr/>
          <p:nvPr/>
        </p:nvSpPr>
        <p:spPr>
          <a:xfrm rot="16200000">
            <a:off x="6491478"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Logistics</a:t>
            </a:r>
          </a:p>
        </p:txBody>
      </p:sp>
      <p:sp>
        <p:nvSpPr>
          <p:cNvPr id="7" name="Left-Right Arrow 6">
            <a:extLst>
              <a:ext uri="{FF2B5EF4-FFF2-40B4-BE49-F238E27FC236}">
                <a16:creationId xmlns:a16="http://schemas.microsoft.com/office/drawing/2014/main" id="{B65DA3CD-F0EF-0835-E9BC-1B5CA20BA02A}"/>
              </a:ext>
            </a:extLst>
          </p:cNvPr>
          <p:cNvSpPr/>
          <p:nvPr/>
        </p:nvSpPr>
        <p:spPr>
          <a:xfrm rot="16200000">
            <a:off x="4534662"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Level of Control</a:t>
            </a:r>
          </a:p>
        </p:txBody>
      </p:sp>
      <p:sp>
        <p:nvSpPr>
          <p:cNvPr id="8" name="TextBox 7">
            <a:extLst>
              <a:ext uri="{FF2B5EF4-FFF2-40B4-BE49-F238E27FC236}">
                <a16:creationId xmlns:a16="http://schemas.microsoft.com/office/drawing/2014/main" id="{17176E94-DA1C-6E9F-0B0A-EA0CA7C7D441}"/>
              </a:ext>
            </a:extLst>
          </p:cNvPr>
          <p:cNvSpPr txBox="1"/>
          <p:nvPr/>
        </p:nvSpPr>
        <p:spPr>
          <a:xfrm>
            <a:off x="6184696" y="690677"/>
            <a:ext cx="1255472" cy="707886"/>
          </a:xfrm>
          <a:prstGeom prst="rect">
            <a:avLst/>
          </a:prstGeom>
          <a:noFill/>
        </p:spPr>
        <p:txBody>
          <a:bodyPr wrap="none" rtlCol="0">
            <a:spAutoFit/>
          </a:bodyPr>
          <a:lstStyle/>
          <a:p>
            <a:pPr algn="ctr"/>
            <a:r>
              <a:rPr lang="en-US" sz="4000" b="1" dirty="0">
                <a:solidFill>
                  <a:srgbClr val="011893"/>
                </a:solidFill>
              </a:rPr>
              <a:t>High</a:t>
            </a:r>
          </a:p>
        </p:txBody>
      </p:sp>
      <p:sp>
        <p:nvSpPr>
          <p:cNvPr id="9" name="TextBox 8">
            <a:extLst>
              <a:ext uri="{FF2B5EF4-FFF2-40B4-BE49-F238E27FC236}">
                <a16:creationId xmlns:a16="http://schemas.microsoft.com/office/drawing/2014/main" id="{341414C7-8159-3A3B-A1D7-33CE328B172C}"/>
              </a:ext>
            </a:extLst>
          </p:cNvPr>
          <p:cNvSpPr txBox="1"/>
          <p:nvPr/>
        </p:nvSpPr>
        <p:spPr>
          <a:xfrm>
            <a:off x="6296527" y="6053328"/>
            <a:ext cx="1130566" cy="707886"/>
          </a:xfrm>
          <a:prstGeom prst="rect">
            <a:avLst/>
          </a:prstGeom>
          <a:noFill/>
        </p:spPr>
        <p:txBody>
          <a:bodyPr wrap="none" rtlCol="0">
            <a:spAutoFit/>
          </a:bodyPr>
          <a:lstStyle/>
          <a:p>
            <a:pPr algn="ctr"/>
            <a:r>
              <a:rPr lang="en-US" sz="4000" b="1" dirty="0">
                <a:solidFill>
                  <a:srgbClr val="FF0000"/>
                </a:solidFill>
              </a:rPr>
              <a:t>Low</a:t>
            </a:r>
          </a:p>
        </p:txBody>
      </p:sp>
      <p:sp>
        <p:nvSpPr>
          <p:cNvPr id="10" name="TextBox 9">
            <a:extLst>
              <a:ext uri="{FF2B5EF4-FFF2-40B4-BE49-F238E27FC236}">
                <a16:creationId xmlns:a16="http://schemas.microsoft.com/office/drawing/2014/main" id="{E41DDE10-7591-02B2-3D9D-467098C8E540}"/>
              </a:ext>
            </a:extLst>
          </p:cNvPr>
          <p:cNvSpPr txBox="1"/>
          <p:nvPr/>
        </p:nvSpPr>
        <p:spPr>
          <a:xfrm>
            <a:off x="8181496" y="689712"/>
            <a:ext cx="1274260" cy="707886"/>
          </a:xfrm>
          <a:prstGeom prst="rect">
            <a:avLst/>
          </a:prstGeom>
          <a:noFill/>
        </p:spPr>
        <p:txBody>
          <a:bodyPr wrap="none" rtlCol="0">
            <a:spAutoFit/>
          </a:bodyPr>
          <a:lstStyle/>
          <a:p>
            <a:pPr algn="ctr"/>
            <a:r>
              <a:rPr lang="en-US" sz="4000" b="1" dirty="0">
                <a:solidFill>
                  <a:srgbClr val="011893"/>
                </a:solidFill>
              </a:rPr>
              <a:t>Easy</a:t>
            </a:r>
          </a:p>
        </p:txBody>
      </p:sp>
      <p:sp>
        <p:nvSpPr>
          <p:cNvPr id="11" name="TextBox 10">
            <a:extLst>
              <a:ext uri="{FF2B5EF4-FFF2-40B4-BE49-F238E27FC236}">
                <a16:creationId xmlns:a16="http://schemas.microsoft.com/office/drawing/2014/main" id="{56F360CA-3822-24D7-6B78-8FCF995E8F28}"/>
              </a:ext>
            </a:extLst>
          </p:cNvPr>
          <p:cNvSpPr txBox="1"/>
          <p:nvPr/>
        </p:nvSpPr>
        <p:spPr>
          <a:xfrm>
            <a:off x="8155303" y="6053328"/>
            <a:ext cx="1326645" cy="707886"/>
          </a:xfrm>
          <a:prstGeom prst="rect">
            <a:avLst/>
          </a:prstGeom>
          <a:noFill/>
        </p:spPr>
        <p:txBody>
          <a:bodyPr wrap="none" rtlCol="0">
            <a:spAutoFit/>
          </a:bodyPr>
          <a:lstStyle/>
          <a:p>
            <a:pPr algn="ctr"/>
            <a:r>
              <a:rPr lang="en-US" sz="4000" b="1" dirty="0">
                <a:solidFill>
                  <a:srgbClr val="FF0000"/>
                </a:solidFill>
              </a:rPr>
              <a:t>Hard</a:t>
            </a:r>
          </a:p>
        </p:txBody>
      </p:sp>
      <p:sp>
        <p:nvSpPr>
          <p:cNvPr id="12" name="TextBox 11">
            <a:extLst>
              <a:ext uri="{FF2B5EF4-FFF2-40B4-BE49-F238E27FC236}">
                <a16:creationId xmlns:a16="http://schemas.microsoft.com/office/drawing/2014/main" id="{EC5C209B-7F45-99CA-3C73-1C705693B26A}"/>
              </a:ext>
            </a:extLst>
          </p:cNvPr>
          <p:cNvSpPr txBox="1"/>
          <p:nvPr/>
        </p:nvSpPr>
        <p:spPr>
          <a:xfrm>
            <a:off x="10128823" y="696328"/>
            <a:ext cx="1283749" cy="707886"/>
          </a:xfrm>
          <a:prstGeom prst="rect">
            <a:avLst/>
          </a:prstGeom>
          <a:noFill/>
        </p:spPr>
        <p:txBody>
          <a:bodyPr wrap="none" rtlCol="0">
            <a:spAutoFit/>
          </a:bodyPr>
          <a:lstStyle/>
          <a:p>
            <a:pPr algn="ctr"/>
            <a:r>
              <a:rPr lang="en-US" sz="4000" b="1" dirty="0">
                <a:solidFill>
                  <a:srgbClr val="FF0000"/>
                </a:solidFill>
              </a:rPr>
              <a:t>Fake</a:t>
            </a:r>
          </a:p>
        </p:txBody>
      </p:sp>
      <p:sp>
        <p:nvSpPr>
          <p:cNvPr id="13" name="TextBox 12">
            <a:extLst>
              <a:ext uri="{FF2B5EF4-FFF2-40B4-BE49-F238E27FC236}">
                <a16:creationId xmlns:a16="http://schemas.microsoft.com/office/drawing/2014/main" id="{E77E3EE3-D74B-39D0-CEC8-34F55D83BA51}"/>
              </a:ext>
            </a:extLst>
          </p:cNvPr>
          <p:cNvSpPr txBox="1"/>
          <p:nvPr/>
        </p:nvSpPr>
        <p:spPr>
          <a:xfrm>
            <a:off x="10159728" y="6053328"/>
            <a:ext cx="1231427" cy="707886"/>
          </a:xfrm>
          <a:prstGeom prst="rect">
            <a:avLst/>
          </a:prstGeom>
          <a:noFill/>
        </p:spPr>
        <p:txBody>
          <a:bodyPr wrap="none" rtlCol="0">
            <a:spAutoFit/>
          </a:bodyPr>
          <a:lstStyle/>
          <a:p>
            <a:pPr algn="ctr"/>
            <a:r>
              <a:rPr lang="en-US" sz="4000" b="1" dirty="0">
                <a:solidFill>
                  <a:srgbClr val="011893"/>
                </a:solidFill>
              </a:rPr>
              <a:t>Real</a:t>
            </a:r>
          </a:p>
        </p:txBody>
      </p:sp>
      <p:pic>
        <p:nvPicPr>
          <p:cNvPr id="1026" name="Picture 2" descr="LED-41L2 LED Plant Growth Chamber | Geneva Scientific">
            <a:extLst>
              <a:ext uri="{FF2B5EF4-FFF2-40B4-BE49-F238E27FC236}">
                <a16:creationId xmlns:a16="http://schemas.microsoft.com/office/drawing/2014/main" id="{C4D4BCBD-B4CC-6506-1781-BC2D6866DADF}"/>
              </a:ext>
            </a:extLst>
          </p:cNvPr>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5053689" y="2266725"/>
            <a:ext cx="854860" cy="12994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espoke Glasshouse Canopy &amp; Pergola - Hartley Botanic">
            <a:extLst>
              <a:ext uri="{FF2B5EF4-FFF2-40B4-BE49-F238E27FC236}">
                <a16:creationId xmlns:a16="http://schemas.microsoft.com/office/drawing/2014/main" id="{1F01F3E4-A53B-E641-6C65-88E9BDD5D1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25359" y="3831583"/>
            <a:ext cx="2599944" cy="103997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Our Very own Time Machine: The Boston Area Climate Experiment - Waltham  Field Station">
            <a:extLst>
              <a:ext uri="{FF2B5EF4-FFF2-40B4-BE49-F238E27FC236}">
                <a16:creationId xmlns:a16="http://schemas.microsoft.com/office/drawing/2014/main" id="{CF02182C-F30C-1663-7BE0-FDE1944852E7}"/>
              </a:ext>
            </a:extLst>
          </p:cNvPr>
          <p:cNvPicPr>
            <a:picLocks noChangeAspect="1" noChangeArrowheads="1"/>
          </p:cNvPicPr>
          <p:nvPr/>
        </p:nvPicPr>
        <p:blipFill>
          <a:blip r:embed="rId4">
            <a:alphaModFix amt="30000"/>
            <a:extLst>
              <a:ext uri="{28A0092B-C50C-407E-A947-70E740481C1C}">
                <a14:useLocalDpi xmlns:a14="http://schemas.microsoft.com/office/drawing/2010/main" val="0"/>
              </a:ext>
            </a:extLst>
          </a:blip>
          <a:srcRect/>
          <a:stretch>
            <a:fillRect/>
          </a:stretch>
        </p:blipFill>
        <p:spPr bwMode="auto">
          <a:xfrm>
            <a:off x="1460564" y="5353812"/>
            <a:ext cx="1865376" cy="13990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12603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A14B2-011E-6D4A-8213-F19EA8E46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73EC72-E7B4-14BD-E752-C3E2F4F54CA7}"/>
              </a:ext>
            </a:extLst>
          </p:cNvPr>
          <p:cNvSpPr>
            <a:spLocks noGrp="1"/>
          </p:cNvSpPr>
          <p:nvPr>
            <p:ph type="title"/>
          </p:nvPr>
        </p:nvSpPr>
        <p:spPr/>
        <p:txBody>
          <a:bodyPr/>
          <a:lstStyle/>
          <a:p>
            <a:r>
              <a:rPr lang="en-US" dirty="0"/>
              <a:t>Testing theory with experiments: </a:t>
            </a:r>
            <a:r>
              <a:rPr lang="en-US" dirty="0">
                <a:solidFill>
                  <a:srgbClr val="011893"/>
                </a:solidFill>
              </a:rPr>
              <a:t>glasshouse</a:t>
            </a:r>
            <a:r>
              <a:rPr lang="en-US" dirty="0"/>
              <a:t> example (Waring et al., 2023)</a:t>
            </a:r>
          </a:p>
        </p:txBody>
      </p:sp>
      <p:pic>
        <p:nvPicPr>
          <p:cNvPr id="4" name="Picture 3">
            <a:extLst>
              <a:ext uri="{FF2B5EF4-FFF2-40B4-BE49-F238E27FC236}">
                <a16:creationId xmlns:a16="http://schemas.microsoft.com/office/drawing/2014/main" id="{B1E45408-0676-3B3A-DA88-4470FAEB14D4}"/>
              </a:ext>
            </a:extLst>
          </p:cNvPr>
          <p:cNvPicPr>
            <a:picLocks noChangeAspect="1"/>
          </p:cNvPicPr>
          <p:nvPr/>
        </p:nvPicPr>
        <p:blipFill>
          <a:blip r:embed="rId2"/>
          <a:stretch>
            <a:fillRect/>
          </a:stretch>
        </p:blipFill>
        <p:spPr>
          <a:xfrm>
            <a:off x="2209800" y="2241732"/>
            <a:ext cx="7772400" cy="3454400"/>
          </a:xfrm>
          <a:prstGeom prst="rect">
            <a:avLst/>
          </a:prstGeom>
        </p:spPr>
      </p:pic>
    </p:spTree>
    <p:extLst>
      <p:ext uri="{BB962C8B-B14F-4D97-AF65-F5344CB8AC3E}">
        <p14:creationId xmlns:p14="http://schemas.microsoft.com/office/powerpoint/2010/main" val="41709752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DF85F-3EB1-B273-8979-2EC937FA8D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8DFFA2-6F0A-87BB-9DB5-E1BB6A102EEC}"/>
              </a:ext>
            </a:extLst>
          </p:cNvPr>
          <p:cNvSpPr>
            <a:spLocks noGrp="1"/>
          </p:cNvSpPr>
          <p:nvPr>
            <p:ph type="title"/>
          </p:nvPr>
        </p:nvSpPr>
        <p:spPr/>
        <p:txBody>
          <a:bodyPr/>
          <a:lstStyle/>
          <a:p>
            <a:r>
              <a:rPr lang="en-US" dirty="0"/>
              <a:t>Testing theory with experiments: </a:t>
            </a:r>
            <a:r>
              <a:rPr lang="en-US" dirty="0">
                <a:solidFill>
                  <a:srgbClr val="011893"/>
                </a:solidFill>
              </a:rPr>
              <a:t>glasshouse</a:t>
            </a:r>
            <a:r>
              <a:rPr lang="en-US" dirty="0"/>
              <a:t> example (Waring et al., 2023)</a:t>
            </a:r>
          </a:p>
        </p:txBody>
      </p:sp>
      <p:sp>
        <p:nvSpPr>
          <p:cNvPr id="3" name="Content Placeholder 2">
            <a:extLst>
              <a:ext uri="{FF2B5EF4-FFF2-40B4-BE49-F238E27FC236}">
                <a16:creationId xmlns:a16="http://schemas.microsoft.com/office/drawing/2014/main" id="{72E87A98-6830-9233-3A9C-25BF13B9BC17}"/>
              </a:ext>
            </a:extLst>
          </p:cNvPr>
          <p:cNvSpPr>
            <a:spLocks noGrp="1"/>
          </p:cNvSpPr>
          <p:nvPr>
            <p:ph idx="1"/>
          </p:nvPr>
        </p:nvSpPr>
        <p:spPr/>
        <p:txBody>
          <a:bodyPr/>
          <a:lstStyle/>
          <a:p>
            <a:r>
              <a:rPr lang="en-US" b="1" u="sng" dirty="0">
                <a:solidFill>
                  <a:srgbClr val="011893"/>
                </a:solidFill>
              </a:rPr>
              <a:t>Theory</a:t>
            </a:r>
            <a:r>
              <a:rPr lang="en-US" dirty="0"/>
              <a:t>: photosynthetic capacity increases strongly with light, but weakly with soil nitrogen availability </a:t>
            </a:r>
          </a:p>
        </p:txBody>
      </p:sp>
      <p:pic>
        <p:nvPicPr>
          <p:cNvPr id="5" name="Picture 4" descr="A blue line on a white background&#10;&#10;AI-generated content may be incorrect.">
            <a:extLst>
              <a:ext uri="{FF2B5EF4-FFF2-40B4-BE49-F238E27FC236}">
                <a16:creationId xmlns:a16="http://schemas.microsoft.com/office/drawing/2014/main" id="{CB916B37-2295-281D-9A3A-F45E12DB54ED}"/>
              </a:ext>
            </a:extLst>
          </p:cNvPr>
          <p:cNvPicPr>
            <a:picLocks noChangeAspect="1"/>
          </p:cNvPicPr>
          <p:nvPr/>
        </p:nvPicPr>
        <p:blipFill>
          <a:blip r:embed="rId2"/>
          <a:stretch>
            <a:fillRect/>
          </a:stretch>
        </p:blipFill>
        <p:spPr>
          <a:xfrm>
            <a:off x="1976845" y="3168378"/>
            <a:ext cx="3324497" cy="3324497"/>
          </a:xfrm>
          <a:prstGeom prst="rect">
            <a:avLst/>
          </a:prstGeom>
        </p:spPr>
      </p:pic>
      <p:pic>
        <p:nvPicPr>
          <p:cNvPr id="7" name="Picture 6" descr="A graph with a blue line&#10;&#10;AI-generated content may be incorrect.">
            <a:extLst>
              <a:ext uri="{FF2B5EF4-FFF2-40B4-BE49-F238E27FC236}">
                <a16:creationId xmlns:a16="http://schemas.microsoft.com/office/drawing/2014/main" id="{47A30800-D93B-FBBA-037F-766F1F3B096F}"/>
              </a:ext>
            </a:extLst>
          </p:cNvPr>
          <p:cNvPicPr>
            <a:picLocks noChangeAspect="1"/>
          </p:cNvPicPr>
          <p:nvPr/>
        </p:nvPicPr>
        <p:blipFill>
          <a:blip r:embed="rId3"/>
          <a:stretch>
            <a:fillRect/>
          </a:stretch>
        </p:blipFill>
        <p:spPr>
          <a:xfrm>
            <a:off x="5767254" y="3168378"/>
            <a:ext cx="3324497" cy="3324497"/>
          </a:xfrm>
          <a:prstGeom prst="rect">
            <a:avLst/>
          </a:prstGeom>
        </p:spPr>
      </p:pic>
    </p:spTree>
    <p:extLst>
      <p:ext uri="{BB962C8B-B14F-4D97-AF65-F5344CB8AC3E}">
        <p14:creationId xmlns:p14="http://schemas.microsoft.com/office/powerpoint/2010/main" val="21886753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D5382-9007-1CC5-77F4-AE391474B1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EECEC5-39D4-BF1A-14DF-B218C411D3FF}"/>
              </a:ext>
            </a:extLst>
          </p:cNvPr>
          <p:cNvSpPr>
            <a:spLocks noGrp="1"/>
          </p:cNvSpPr>
          <p:nvPr>
            <p:ph type="title"/>
          </p:nvPr>
        </p:nvSpPr>
        <p:spPr/>
        <p:txBody>
          <a:bodyPr/>
          <a:lstStyle/>
          <a:p>
            <a:r>
              <a:rPr lang="en-US" dirty="0"/>
              <a:t>Testing theory with experiments: </a:t>
            </a:r>
            <a:r>
              <a:rPr lang="en-US" dirty="0">
                <a:solidFill>
                  <a:srgbClr val="011893"/>
                </a:solidFill>
              </a:rPr>
              <a:t>glasshouse</a:t>
            </a:r>
            <a:r>
              <a:rPr lang="en-US" dirty="0"/>
              <a:t> example (Waring et al., 2023)</a:t>
            </a:r>
          </a:p>
        </p:txBody>
      </p:sp>
      <p:sp>
        <p:nvSpPr>
          <p:cNvPr id="3" name="Content Placeholder 2">
            <a:extLst>
              <a:ext uri="{FF2B5EF4-FFF2-40B4-BE49-F238E27FC236}">
                <a16:creationId xmlns:a16="http://schemas.microsoft.com/office/drawing/2014/main" id="{D6089DEA-3A14-9405-4300-7D32FD7695E1}"/>
              </a:ext>
            </a:extLst>
          </p:cNvPr>
          <p:cNvSpPr>
            <a:spLocks noGrp="1"/>
          </p:cNvSpPr>
          <p:nvPr>
            <p:ph idx="1"/>
          </p:nvPr>
        </p:nvSpPr>
        <p:spPr/>
        <p:txBody>
          <a:bodyPr/>
          <a:lstStyle/>
          <a:p>
            <a:r>
              <a:rPr lang="en-US" b="1" u="sng" dirty="0">
                <a:solidFill>
                  <a:srgbClr val="011893"/>
                </a:solidFill>
              </a:rPr>
              <a:t>Results</a:t>
            </a:r>
            <a:r>
              <a:rPr lang="en-US" dirty="0"/>
              <a:t>: theory confirmed, with additional insight into species differences</a:t>
            </a:r>
          </a:p>
        </p:txBody>
      </p:sp>
      <p:pic>
        <p:nvPicPr>
          <p:cNvPr id="2050" name="Picture 2" descr="The response of G. hirsutum (left panels) and G. max (right panels) Vcmax25 (A, B), Jmax25 (C, D), and Chlarea (E, F) to nitrogen fertilization in the 0% (red), 30% (orange), 50% (blue), and 80% (purple) shade treatments. The dots represent individual data points and the lines are fitted lines from the linear mixed effects models at each shade treatment value. Separate lines are plotted for each shading treatment, with colors corresponding to the shading treatments. Solid lines are statistically significant trends (P&lt;0.05) and dashed lines are non-significant trends (P&gt;0.05). Because there was no fertilizer treatment by shading treatment interaction effect for any variable (Table 3), a black line is plotted to show the average trend across shading treatments for each species, and per shading treatments are shown as transparent lines. Nitrogen fertilizer amount (x-axis) is in parts per million (ppm) added twice per week and is jittered for visibility.">
            <a:extLst>
              <a:ext uri="{FF2B5EF4-FFF2-40B4-BE49-F238E27FC236}">
                <a16:creationId xmlns:a16="http://schemas.microsoft.com/office/drawing/2014/main" id="{24906792-E037-8CBA-C0D5-247C667BFA9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64699"/>
          <a:stretch>
            <a:fillRect/>
          </a:stretch>
        </p:blipFill>
        <p:spPr bwMode="auto">
          <a:xfrm>
            <a:off x="1379275" y="2967809"/>
            <a:ext cx="9433449" cy="33440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5713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4DD92-30E8-BC92-4A07-0214F1D30A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4AD451-B5A9-B820-68C6-6C8AADC63A2B}"/>
              </a:ext>
            </a:extLst>
          </p:cNvPr>
          <p:cNvSpPr>
            <a:spLocks noGrp="1"/>
          </p:cNvSpPr>
          <p:nvPr>
            <p:ph type="title"/>
          </p:nvPr>
        </p:nvSpPr>
        <p:spPr/>
        <p:txBody>
          <a:bodyPr/>
          <a:lstStyle/>
          <a:p>
            <a:r>
              <a:rPr lang="en-US" dirty="0"/>
              <a:t>Testing theory with experiments: </a:t>
            </a:r>
            <a:r>
              <a:rPr lang="en-US" dirty="0">
                <a:solidFill>
                  <a:srgbClr val="011893"/>
                </a:solidFill>
              </a:rPr>
              <a:t>glasshouse</a:t>
            </a:r>
            <a:r>
              <a:rPr lang="en-US" dirty="0"/>
              <a:t> example (Waring et al., 2023)</a:t>
            </a:r>
          </a:p>
        </p:txBody>
      </p:sp>
      <p:sp>
        <p:nvSpPr>
          <p:cNvPr id="3" name="Content Placeholder 2">
            <a:extLst>
              <a:ext uri="{FF2B5EF4-FFF2-40B4-BE49-F238E27FC236}">
                <a16:creationId xmlns:a16="http://schemas.microsoft.com/office/drawing/2014/main" id="{C49DFB02-96C3-F8C1-0AB4-24EE6503DD68}"/>
              </a:ext>
            </a:extLst>
          </p:cNvPr>
          <p:cNvSpPr>
            <a:spLocks noGrp="1"/>
          </p:cNvSpPr>
          <p:nvPr>
            <p:ph idx="1"/>
          </p:nvPr>
        </p:nvSpPr>
        <p:spPr/>
        <p:txBody>
          <a:bodyPr/>
          <a:lstStyle/>
          <a:p>
            <a:r>
              <a:rPr lang="en-US" b="1" u="sng" dirty="0">
                <a:solidFill>
                  <a:srgbClr val="011893"/>
                </a:solidFill>
              </a:rPr>
              <a:t>Summary</a:t>
            </a:r>
          </a:p>
          <a:p>
            <a:pPr lvl="1"/>
            <a:r>
              <a:rPr lang="en-US" dirty="0"/>
              <a:t>Can test direct physiological process responses to altered environmental conditions</a:t>
            </a:r>
          </a:p>
          <a:p>
            <a:pPr lvl="1"/>
            <a:r>
              <a:rPr lang="en-US" dirty="0"/>
              <a:t>Limitation in conditions that can be considered</a:t>
            </a:r>
          </a:p>
        </p:txBody>
      </p:sp>
    </p:spTree>
    <p:extLst>
      <p:ext uri="{BB962C8B-B14F-4D97-AF65-F5344CB8AC3E}">
        <p14:creationId xmlns:p14="http://schemas.microsoft.com/office/powerpoint/2010/main" val="16883337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A5417-1B81-79ED-EA2A-94114B593B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6149F4-B956-71E3-BD05-DA14D4827EEC}"/>
              </a:ext>
            </a:extLst>
          </p:cNvPr>
          <p:cNvSpPr>
            <a:spLocks noGrp="1"/>
          </p:cNvSpPr>
          <p:nvPr>
            <p:ph type="title"/>
          </p:nvPr>
        </p:nvSpPr>
        <p:spPr/>
        <p:txBody>
          <a:bodyPr/>
          <a:lstStyle/>
          <a:p>
            <a:r>
              <a:rPr lang="en-US" dirty="0"/>
              <a:t>Ongoing </a:t>
            </a:r>
            <a:r>
              <a:rPr lang="en-US" dirty="0">
                <a:solidFill>
                  <a:srgbClr val="011893"/>
                </a:solidFill>
              </a:rPr>
              <a:t>glasshouse </a:t>
            </a:r>
            <a:r>
              <a:rPr lang="en-US" dirty="0"/>
              <a:t>work</a:t>
            </a:r>
          </a:p>
        </p:txBody>
      </p:sp>
      <p:sp>
        <p:nvSpPr>
          <p:cNvPr id="3" name="Content Placeholder 2">
            <a:extLst>
              <a:ext uri="{FF2B5EF4-FFF2-40B4-BE49-F238E27FC236}">
                <a16:creationId xmlns:a16="http://schemas.microsoft.com/office/drawing/2014/main" id="{8E80B3E3-9C16-9592-359B-01514E837AD3}"/>
              </a:ext>
            </a:extLst>
          </p:cNvPr>
          <p:cNvSpPr>
            <a:spLocks noGrp="1"/>
          </p:cNvSpPr>
          <p:nvPr>
            <p:ph idx="1"/>
          </p:nvPr>
        </p:nvSpPr>
        <p:spPr/>
        <p:txBody>
          <a:bodyPr>
            <a:normAutofit fontScale="92500"/>
          </a:bodyPr>
          <a:lstStyle/>
          <a:p>
            <a:r>
              <a:rPr lang="en-US" dirty="0"/>
              <a:t>Separation of soil </a:t>
            </a:r>
            <a:r>
              <a:rPr lang="en-US" b="1" u="sng" dirty="0">
                <a:solidFill>
                  <a:srgbClr val="011893"/>
                </a:solidFill>
              </a:rPr>
              <a:t>water and nutrients </a:t>
            </a:r>
            <a:r>
              <a:rPr lang="en-US" dirty="0"/>
              <a:t>on plant traits (postdoc </a:t>
            </a:r>
            <a:r>
              <a:rPr lang="en-US" dirty="0" err="1"/>
              <a:t>Alissar</a:t>
            </a:r>
            <a:r>
              <a:rPr lang="en-US" dirty="0"/>
              <a:t> </a:t>
            </a:r>
            <a:r>
              <a:rPr lang="en-US" dirty="0" err="1"/>
              <a:t>Cheaib</a:t>
            </a:r>
            <a:r>
              <a:rPr lang="en-US" dirty="0"/>
              <a:t>)</a:t>
            </a:r>
          </a:p>
          <a:p>
            <a:pPr lvl="1"/>
            <a:r>
              <a:rPr lang="en-US" dirty="0"/>
              <a:t>Explores how water influences nutrient availability and impact on theoretical understanding</a:t>
            </a:r>
          </a:p>
          <a:p>
            <a:r>
              <a:rPr lang="en-US" dirty="0"/>
              <a:t>Plant trait responses to </a:t>
            </a:r>
            <a:r>
              <a:rPr lang="en-US" b="1" u="sng" dirty="0">
                <a:solidFill>
                  <a:srgbClr val="011893"/>
                </a:solidFill>
              </a:rPr>
              <a:t>phosphorus</a:t>
            </a:r>
            <a:r>
              <a:rPr lang="en-US" dirty="0"/>
              <a:t> demand and availability in C3/C4 </a:t>
            </a:r>
            <a:r>
              <a:rPr lang="en-US" dirty="0" err="1"/>
              <a:t>spcies</a:t>
            </a:r>
            <a:r>
              <a:rPr lang="en-US" dirty="0"/>
              <a:t> (PhD Monika Kelley)</a:t>
            </a:r>
          </a:p>
          <a:p>
            <a:pPr lvl="1"/>
            <a:r>
              <a:rPr lang="en-US" dirty="0"/>
              <a:t>Will be comparable to Waring et al. (2023) results, but for P</a:t>
            </a:r>
          </a:p>
          <a:p>
            <a:r>
              <a:rPr lang="en-US" dirty="0"/>
              <a:t>Plant trait responses to environment under </a:t>
            </a:r>
            <a:r>
              <a:rPr lang="en-US" b="1" u="sng" dirty="0">
                <a:solidFill>
                  <a:srgbClr val="011893"/>
                </a:solidFill>
              </a:rPr>
              <a:t>mycorrhizal associations </a:t>
            </a:r>
            <a:r>
              <a:rPr lang="en-US" dirty="0"/>
              <a:t>(PhD </a:t>
            </a:r>
            <a:r>
              <a:rPr lang="en-US" dirty="0" err="1"/>
              <a:t>Snehanjana</a:t>
            </a:r>
            <a:r>
              <a:rPr lang="en-US" dirty="0"/>
              <a:t> Chatterjee and postdoc </a:t>
            </a:r>
            <a:r>
              <a:rPr lang="en-US" dirty="0" err="1"/>
              <a:t>Alissar</a:t>
            </a:r>
            <a:r>
              <a:rPr lang="en-US" dirty="0"/>
              <a:t> </a:t>
            </a:r>
            <a:r>
              <a:rPr lang="en-US" dirty="0" err="1"/>
              <a:t>Cheaib</a:t>
            </a:r>
            <a:r>
              <a:rPr lang="en-US" dirty="0"/>
              <a:t>)</a:t>
            </a:r>
          </a:p>
          <a:p>
            <a:pPr lvl="1"/>
            <a:r>
              <a:rPr lang="en-US" dirty="0"/>
              <a:t>Multiple projects using different mycorrhizal and environmental treatments</a:t>
            </a:r>
          </a:p>
        </p:txBody>
      </p:sp>
    </p:spTree>
    <p:extLst>
      <p:ext uri="{BB962C8B-B14F-4D97-AF65-F5344CB8AC3E}">
        <p14:creationId xmlns:p14="http://schemas.microsoft.com/office/powerpoint/2010/main" val="24738467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B7BA4-9422-10A6-2929-402DC312E8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D6E2B2-3352-C04F-4B24-AB83B07426F7}"/>
              </a:ext>
            </a:extLst>
          </p:cNvPr>
          <p:cNvSpPr>
            <a:spLocks noGrp="1"/>
          </p:cNvSpPr>
          <p:nvPr>
            <p:ph type="title"/>
          </p:nvPr>
        </p:nvSpPr>
        <p:spPr/>
        <p:txBody>
          <a:bodyPr/>
          <a:lstStyle/>
          <a:p>
            <a:r>
              <a:rPr lang="en-US" dirty="0"/>
              <a:t>Experiment types</a:t>
            </a:r>
          </a:p>
        </p:txBody>
      </p:sp>
      <p:sp>
        <p:nvSpPr>
          <p:cNvPr id="3" name="Content Placeholder 2">
            <a:extLst>
              <a:ext uri="{FF2B5EF4-FFF2-40B4-BE49-F238E27FC236}">
                <a16:creationId xmlns:a16="http://schemas.microsoft.com/office/drawing/2014/main" id="{64764B66-92C5-756E-421D-0E5288D44DA8}"/>
              </a:ext>
            </a:extLst>
          </p:cNvPr>
          <p:cNvSpPr>
            <a:spLocks noGrp="1"/>
          </p:cNvSpPr>
          <p:nvPr>
            <p:ph idx="1"/>
          </p:nvPr>
        </p:nvSpPr>
        <p:spPr/>
        <p:txBody>
          <a:bodyPr/>
          <a:lstStyle/>
          <a:p>
            <a:r>
              <a:rPr lang="en-US" dirty="0"/>
              <a:t>Growth chamber experiments</a:t>
            </a:r>
          </a:p>
          <a:p>
            <a:endParaRPr lang="en-US" dirty="0"/>
          </a:p>
          <a:p>
            <a:endParaRPr lang="en-US" dirty="0"/>
          </a:p>
          <a:p>
            <a:r>
              <a:rPr lang="en-US" dirty="0">
                <a:solidFill>
                  <a:schemeClr val="bg2"/>
                </a:solidFill>
              </a:rPr>
              <a:t>Glasshouse experiments</a:t>
            </a:r>
          </a:p>
          <a:p>
            <a:endParaRPr lang="en-US" dirty="0">
              <a:solidFill>
                <a:schemeClr val="bg2"/>
              </a:solidFill>
            </a:endParaRPr>
          </a:p>
          <a:p>
            <a:endParaRPr lang="en-US" dirty="0">
              <a:solidFill>
                <a:schemeClr val="bg2"/>
              </a:solidFill>
            </a:endParaRPr>
          </a:p>
          <a:p>
            <a:r>
              <a:rPr lang="en-US" dirty="0">
                <a:solidFill>
                  <a:schemeClr val="bg2"/>
                </a:solidFill>
              </a:rPr>
              <a:t>Field manipulation experiments</a:t>
            </a:r>
          </a:p>
        </p:txBody>
      </p:sp>
      <p:sp>
        <p:nvSpPr>
          <p:cNvPr id="5" name="Left-Right Arrow 4">
            <a:extLst>
              <a:ext uri="{FF2B5EF4-FFF2-40B4-BE49-F238E27FC236}">
                <a16:creationId xmlns:a16="http://schemas.microsoft.com/office/drawing/2014/main" id="{FCA58711-5CAD-411C-25DF-58E8A8DAF87E}"/>
              </a:ext>
            </a:extLst>
          </p:cNvPr>
          <p:cNvSpPr/>
          <p:nvPr/>
        </p:nvSpPr>
        <p:spPr>
          <a:xfrm rot="16200000">
            <a:off x="8448294"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Realism</a:t>
            </a:r>
          </a:p>
        </p:txBody>
      </p:sp>
      <p:sp>
        <p:nvSpPr>
          <p:cNvPr id="6" name="Left-Right Arrow 5">
            <a:extLst>
              <a:ext uri="{FF2B5EF4-FFF2-40B4-BE49-F238E27FC236}">
                <a16:creationId xmlns:a16="http://schemas.microsoft.com/office/drawing/2014/main" id="{1DA49950-81BF-8B2F-93D6-4A735CD0B0B3}"/>
              </a:ext>
            </a:extLst>
          </p:cNvPr>
          <p:cNvSpPr/>
          <p:nvPr/>
        </p:nvSpPr>
        <p:spPr>
          <a:xfrm rot="16200000">
            <a:off x="6491478"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Logistics</a:t>
            </a:r>
          </a:p>
        </p:txBody>
      </p:sp>
      <p:sp>
        <p:nvSpPr>
          <p:cNvPr id="7" name="Left-Right Arrow 6">
            <a:extLst>
              <a:ext uri="{FF2B5EF4-FFF2-40B4-BE49-F238E27FC236}">
                <a16:creationId xmlns:a16="http://schemas.microsoft.com/office/drawing/2014/main" id="{BC13D6CB-68BE-C5F0-EC8C-02C3F1525786}"/>
              </a:ext>
            </a:extLst>
          </p:cNvPr>
          <p:cNvSpPr/>
          <p:nvPr/>
        </p:nvSpPr>
        <p:spPr>
          <a:xfrm rot="16200000">
            <a:off x="4534662"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Level of Control</a:t>
            </a:r>
          </a:p>
        </p:txBody>
      </p:sp>
      <p:sp>
        <p:nvSpPr>
          <p:cNvPr id="8" name="TextBox 7">
            <a:extLst>
              <a:ext uri="{FF2B5EF4-FFF2-40B4-BE49-F238E27FC236}">
                <a16:creationId xmlns:a16="http://schemas.microsoft.com/office/drawing/2014/main" id="{2154BC99-E592-CA75-445B-00E58D1B24F6}"/>
              </a:ext>
            </a:extLst>
          </p:cNvPr>
          <p:cNvSpPr txBox="1"/>
          <p:nvPr/>
        </p:nvSpPr>
        <p:spPr>
          <a:xfrm>
            <a:off x="6184696" y="690677"/>
            <a:ext cx="1255472" cy="707886"/>
          </a:xfrm>
          <a:prstGeom prst="rect">
            <a:avLst/>
          </a:prstGeom>
          <a:noFill/>
        </p:spPr>
        <p:txBody>
          <a:bodyPr wrap="none" rtlCol="0">
            <a:spAutoFit/>
          </a:bodyPr>
          <a:lstStyle/>
          <a:p>
            <a:pPr algn="ctr"/>
            <a:r>
              <a:rPr lang="en-US" sz="4000" b="1" dirty="0">
                <a:solidFill>
                  <a:srgbClr val="011893"/>
                </a:solidFill>
              </a:rPr>
              <a:t>High</a:t>
            </a:r>
          </a:p>
        </p:txBody>
      </p:sp>
      <p:sp>
        <p:nvSpPr>
          <p:cNvPr id="9" name="TextBox 8">
            <a:extLst>
              <a:ext uri="{FF2B5EF4-FFF2-40B4-BE49-F238E27FC236}">
                <a16:creationId xmlns:a16="http://schemas.microsoft.com/office/drawing/2014/main" id="{67EE8BC9-6A28-6A39-CB09-EBFB36F9387E}"/>
              </a:ext>
            </a:extLst>
          </p:cNvPr>
          <p:cNvSpPr txBox="1"/>
          <p:nvPr/>
        </p:nvSpPr>
        <p:spPr>
          <a:xfrm>
            <a:off x="6296527" y="6053328"/>
            <a:ext cx="1130566" cy="707886"/>
          </a:xfrm>
          <a:prstGeom prst="rect">
            <a:avLst/>
          </a:prstGeom>
          <a:noFill/>
        </p:spPr>
        <p:txBody>
          <a:bodyPr wrap="none" rtlCol="0">
            <a:spAutoFit/>
          </a:bodyPr>
          <a:lstStyle/>
          <a:p>
            <a:pPr algn="ctr"/>
            <a:r>
              <a:rPr lang="en-US" sz="4000" b="1" dirty="0">
                <a:solidFill>
                  <a:srgbClr val="FF0000"/>
                </a:solidFill>
              </a:rPr>
              <a:t>Low</a:t>
            </a:r>
          </a:p>
        </p:txBody>
      </p:sp>
      <p:sp>
        <p:nvSpPr>
          <p:cNvPr id="10" name="TextBox 9">
            <a:extLst>
              <a:ext uri="{FF2B5EF4-FFF2-40B4-BE49-F238E27FC236}">
                <a16:creationId xmlns:a16="http://schemas.microsoft.com/office/drawing/2014/main" id="{D8F4642E-FF40-9729-718F-0D389E77DB06}"/>
              </a:ext>
            </a:extLst>
          </p:cNvPr>
          <p:cNvSpPr txBox="1"/>
          <p:nvPr/>
        </p:nvSpPr>
        <p:spPr>
          <a:xfrm>
            <a:off x="8181496" y="689712"/>
            <a:ext cx="1274260" cy="707886"/>
          </a:xfrm>
          <a:prstGeom prst="rect">
            <a:avLst/>
          </a:prstGeom>
          <a:noFill/>
        </p:spPr>
        <p:txBody>
          <a:bodyPr wrap="none" rtlCol="0">
            <a:spAutoFit/>
          </a:bodyPr>
          <a:lstStyle/>
          <a:p>
            <a:pPr algn="ctr"/>
            <a:r>
              <a:rPr lang="en-US" sz="4000" b="1" dirty="0">
                <a:solidFill>
                  <a:srgbClr val="011893"/>
                </a:solidFill>
              </a:rPr>
              <a:t>Easy</a:t>
            </a:r>
          </a:p>
        </p:txBody>
      </p:sp>
      <p:sp>
        <p:nvSpPr>
          <p:cNvPr id="11" name="TextBox 10">
            <a:extLst>
              <a:ext uri="{FF2B5EF4-FFF2-40B4-BE49-F238E27FC236}">
                <a16:creationId xmlns:a16="http://schemas.microsoft.com/office/drawing/2014/main" id="{E29F43B7-3B63-77CE-31ED-1A616B39CAEE}"/>
              </a:ext>
            </a:extLst>
          </p:cNvPr>
          <p:cNvSpPr txBox="1"/>
          <p:nvPr/>
        </p:nvSpPr>
        <p:spPr>
          <a:xfrm>
            <a:off x="8155303" y="6053328"/>
            <a:ext cx="1326645" cy="707886"/>
          </a:xfrm>
          <a:prstGeom prst="rect">
            <a:avLst/>
          </a:prstGeom>
          <a:noFill/>
        </p:spPr>
        <p:txBody>
          <a:bodyPr wrap="none" rtlCol="0">
            <a:spAutoFit/>
          </a:bodyPr>
          <a:lstStyle/>
          <a:p>
            <a:pPr algn="ctr"/>
            <a:r>
              <a:rPr lang="en-US" sz="4000" b="1" dirty="0">
                <a:solidFill>
                  <a:srgbClr val="FF0000"/>
                </a:solidFill>
              </a:rPr>
              <a:t>Hard</a:t>
            </a:r>
          </a:p>
        </p:txBody>
      </p:sp>
      <p:sp>
        <p:nvSpPr>
          <p:cNvPr id="12" name="TextBox 11">
            <a:extLst>
              <a:ext uri="{FF2B5EF4-FFF2-40B4-BE49-F238E27FC236}">
                <a16:creationId xmlns:a16="http://schemas.microsoft.com/office/drawing/2014/main" id="{EBCF897C-AED9-0320-0C8A-9E40343A3343}"/>
              </a:ext>
            </a:extLst>
          </p:cNvPr>
          <p:cNvSpPr txBox="1"/>
          <p:nvPr/>
        </p:nvSpPr>
        <p:spPr>
          <a:xfrm>
            <a:off x="10128823" y="696328"/>
            <a:ext cx="1283749" cy="707886"/>
          </a:xfrm>
          <a:prstGeom prst="rect">
            <a:avLst/>
          </a:prstGeom>
          <a:noFill/>
        </p:spPr>
        <p:txBody>
          <a:bodyPr wrap="none" rtlCol="0">
            <a:spAutoFit/>
          </a:bodyPr>
          <a:lstStyle/>
          <a:p>
            <a:pPr algn="ctr"/>
            <a:r>
              <a:rPr lang="en-US" sz="4000" b="1" dirty="0">
                <a:solidFill>
                  <a:srgbClr val="FF0000"/>
                </a:solidFill>
              </a:rPr>
              <a:t>Fake</a:t>
            </a:r>
          </a:p>
        </p:txBody>
      </p:sp>
      <p:sp>
        <p:nvSpPr>
          <p:cNvPr id="13" name="TextBox 12">
            <a:extLst>
              <a:ext uri="{FF2B5EF4-FFF2-40B4-BE49-F238E27FC236}">
                <a16:creationId xmlns:a16="http://schemas.microsoft.com/office/drawing/2014/main" id="{C096C020-24E5-2822-7277-573E2238F455}"/>
              </a:ext>
            </a:extLst>
          </p:cNvPr>
          <p:cNvSpPr txBox="1"/>
          <p:nvPr/>
        </p:nvSpPr>
        <p:spPr>
          <a:xfrm>
            <a:off x="10159728" y="6053328"/>
            <a:ext cx="1231427" cy="707886"/>
          </a:xfrm>
          <a:prstGeom prst="rect">
            <a:avLst/>
          </a:prstGeom>
          <a:noFill/>
        </p:spPr>
        <p:txBody>
          <a:bodyPr wrap="none" rtlCol="0">
            <a:spAutoFit/>
          </a:bodyPr>
          <a:lstStyle/>
          <a:p>
            <a:pPr algn="ctr"/>
            <a:r>
              <a:rPr lang="en-US" sz="4000" b="1" dirty="0">
                <a:solidFill>
                  <a:srgbClr val="011893"/>
                </a:solidFill>
              </a:rPr>
              <a:t>Real</a:t>
            </a:r>
          </a:p>
        </p:txBody>
      </p:sp>
      <p:pic>
        <p:nvPicPr>
          <p:cNvPr id="1026" name="Picture 2" descr="LED-41L2 LED Plant Growth Chamber | Geneva Scientific">
            <a:extLst>
              <a:ext uri="{FF2B5EF4-FFF2-40B4-BE49-F238E27FC236}">
                <a16:creationId xmlns:a16="http://schemas.microsoft.com/office/drawing/2014/main" id="{79B29B0B-2667-9B2E-B938-C8FA8149A5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53689" y="2266725"/>
            <a:ext cx="854860" cy="12994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espoke Glasshouse Canopy &amp; Pergola - Hartley Botanic">
            <a:extLst>
              <a:ext uri="{FF2B5EF4-FFF2-40B4-BE49-F238E27FC236}">
                <a16:creationId xmlns:a16="http://schemas.microsoft.com/office/drawing/2014/main" id="{BE9506B3-1FF3-FC48-6BE9-3B34FD105B30}"/>
              </a:ext>
            </a:extLst>
          </p:cNvPr>
          <p:cNvPicPr>
            <a:picLocks noChangeAspect="1" noChangeArrowheads="1"/>
          </p:cNvPicPr>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2825359" y="3831583"/>
            <a:ext cx="2599944" cy="103997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Our Very own Time Machine: The Boston Area Climate Experiment - Waltham  Field Station">
            <a:extLst>
              <a:ext uri="{FF2B5EF4-FFF2-40B4-BE49-F238E27FC236}">
                <a16:creationId xmlns:a16="http://schemas.microsoft.com/office/drawing/2014/main" id="{73DF32BB-0F07-06D6-3C27-8B7AC197A315}"/>
              </a:ext>
            </a:extLst>
          </p:cNvPr>
          <p:cNvPicPr>
            <a:picLocks noChangeAspect="1" noChangeArrowheads="1"/>
          </p:cNvPicPr>
          <p:nvPr/>
        </p:nvPicPr>
        <p:blipFill>
          <a:blip r:embed="rId4">
            <a:alphaModFix amt="30000"/>
            <a:extLst>
              <a:ext uri="{28A0092B-C50C-407E-A947-70E740481C1C}">
                <a14:useLocalDpi xmlns:a14="http://schemas.microsoft.com/office/drawing/2010/main" val="0"/>
              </a:ext>
            </a:extLst>
          </a:blip>
          <a:srcRect/>
          <a:stretch>
            <a:fillRect/>
          </a:stretch>
        </p:blipFill>
        <p:spPr bwMode="auto">
          <a:xfrm>
            <a:off x="1460564" y="5353812"/>
            <a:ext cx="1865376" cy="13990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68830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F3F2E-0C15-E3CA-C859-957496067C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EADAB1-E102-DADA-E749-5FEE3F46BDBD}"/>
              </a:ext>
            </a:extLst>
          </p:cNvPr>
          <p:cNvSpPr>
            <a:spLocks noGrp="1"/>
          </p:cNvSpPr>
          <p:nvPr>
            <p:ph type="title"/>
          </p:nvPr>
        </p:nvSpPr>
        <p:spPr/>
        <p:txBody>
          <a:bodyPr/>
          <a:lstStyle/>
          <a:p>
            <a:r>
              <a:rPr lang="en-US" dirty="0"/>
              <a:t>Testing theory with experiments: </a:t>
            </a:r>
            <a:r>
              <a:rPr lang="en-US" dirty="0">
                <a:solidFill>
                  <a:srgbClr val="011893"/>
                </a:solidFill>
              </a:rPr>
              <a:t>growth chamber</a:t>
            </a:r>
            <a:r>
              <a:rPr lang="en-US" dirty="0"/>
              <a:t> example (Perkowski et al., 2025)</a:t>
            </a:r>
          </a:p>
        </p:txBody>
      </p:sp>
      <p:pic>
        <p:nvPicPr>
          <p:cNvPr id="4" name="Picture 3">
            <a:extLst>
              <a:ext uri="{FF2B5EF4-FFF2-40B4-BE49-F238E27FC236}">
                <a16:creationId xmlns:a16="http://schemas.microsoft.com/office/drawing/2014/main" id="{92022BA8-43A2-E33A-4D6A-8C4A1A1D84C3}"/>
              </a:ext>
            </a:extLst>
          </p:cNvPr>
          <p:cNvPicPr>
            <a:picLocks noChangeAspect="1"/>
          </p:cNvPicPr>
          <p:nvPr/>
        </p:nvPicPr>
        <p:blipFill>
          <a:blip r:embed="rId2"/>
          <a:stretch>
            <a:fillRect/>
          </a:stretch>
        </p:blipFill>
        <p:spPr>
          <a:xfrm>
            <a:off x="2209800" y="2302180"/>
            <a:ext cx="7772400" cy="3525092"/>
          </a:xfrm>
          <a:prstGeom prst="rect">
            <a:avLst/>
          </a:prstGeom>
        </p:spPr>
      </p:pic>
    </p:spTree>
    <p:extLst>
      <p:ext uri="{BB962C8B-B14F-4D97-AF65-F5344CB8AC3E}">
        <p14:creationId xmlns:p14="http://schemas.microsoft.com/office/powerpoint/2010/main" val="28034228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D9524-4F75-C5E3-C39D-662B7D64E0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5ABC27-DAD5-E1B8-EE37-C0454587C59E}"/>
              </a:ext>
            </a:extLst>
          </p:cNvPr>
          <p:cNvSpPr>
            <a:spLocks noGrp="1"/>
          </p:cNvSpPr>
          <p:nvPr>
            <p:ph type="title"/>
          </p:nvPr>
        </p:nvSpPr>
        <p:spPr/>
        <p:txBody>
          <a:bodyPr/>
          <a:lstStyle/>
          <a:p>
            <a:r>
              <a:rPr lang="en-US" dirty="0"/>
              <a:t>Testing theory with experiments: </a:t>
            </a:r>
            <a:r>
              <a:rPr lang="en-US" dirty="0">
                <a:solidFill>
                  <a:srgbClr val="011893"/>
                </a:solidFill>
              </a:rPr>
              <a:t>growth chamber</a:t>
            </a:r>
            <a:r>
              <a:rPr lang="en-US" dirty="0"/>
              <a:t> example (Perkowski et al., 2023)</a:t>
            </a:r>
          </a:p>
        </p:txBody>
      </p:sp>
      <p:sp>
        <p:nvSpPr>
          <p:cNvPr id="3" name="Content Placeholder 2">
            <a:extLst>
              <a:ext uri="{FF2B5EF4-FFF2-40B4-BE49-F238E27FC236}">
                <a16:creationId xmlns:a16="http://schemas.microsoft.com/office/drawing/2014/main" id="{CB8F27F6-1D94-6647-1C50-8C39EE82D03F}"/>
              </a:ext>
            </a:extLst>
          </p:cNvPr>
          <p:cNvSpPr>
            <a:spLocks noGrp="1"/>
          </p:cNvSpPr>
          <p:nvPr>
            <p:ph idx="1"/>
          </p:nvPr>
        </p:nvSpPr>
        <p:spPr/>
        <p:txBody>
          <a:bodyPr/>
          <a:lstStyle/>
          <a:p>
            <a:r>
              <a:rPr lang="en-US" b="1" u="sng" dirty="0"/>
              <a:t>Theory</a:t>
            </a:r>
            <a:r>
              <a:rPr lang="en-US" dirty="0"/>
              <a:t>: elevated CO</a:t>
            </a:r>
            <a:r>
              <a:rPr lang="en-US" baseline="-25000" dirty="0"/>
              <a:t>2</a:t>
            </a:r>
            <a:r>
              <a:rPr lang="en-US" dirty="0"/>
              <a:t> should reduce photosynthetic capacity regardless of context</a:t>
            </a:r>
          </a:p>
        </p:txBody>
      </p:sp>
      <p:pic>
        <p:nvPicPr>
          <p:cNvPr id="5" name="Picture 4" descr="A graph of a curve&#10;&#10;AI-generated content may be incorrect.">
            <a:extLst>
              <a:ext uri="{FF2B5EF4-FFF2-40B4-BE49-F238E27FC236}">
                <a16:creationId xmlns:a16="http://schemas.microsoft.com/office/drawing/2014/main" id="{EB46D91D-2749-B453-3080-521C9910F447}"/>
              </a:ext>
            </a:extLst>
          </p:cNvPr>
          <p:cNvPicPr>
            <a:picLocks noChangeAspect="1"/>
          </p:cNvPicPr>
          <p:nvPr/>
        </p:nvPicPr>
        <p:blipFill>
          <a:blip r:embed="rId2"/>
          <a:stretch>
            <a:fillRect/>
          </a:stretch>
        </p:blipFill>
        <p:spPr>
          <a:xfrm>
            <a:off x="4201114" y="2968080"/>
            <a:ext cx="3789771" cy="3789771"/>
          </a:xfrm>
          <a:prstGeom prst="rect">
            <a:avLst/>
          </a:prstGeom>
        </p:spPr>
      </p:pic>
    </p:spTree>
    <p:extLst>
      <p:ext uri="{BB962C8B-B14F-4D97-AF65-F5344CB8AC3E}">
        <p14:creationId xmlns:p14="http://schemas.microsoft.com/office/powerpoint/2010/main" val="27927782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D6245-3F3C-1AF2-9C72-C33E85EB0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827BBE-CA30-7CB5-A003-F2852B56521F}"/>
              </a:ext>
            </a:extLst>
          </p:cNvPr>
          <p:cNvSpPr>
            <a:spLocks noGrp="1"/>
          </p:cNvSpPr>
          <p:nvPr>
            <p:ph type="title"/>
          </p:nvPr>
        </p:nvSpPr>
        <p:spPr/>
        <p:txBody>
          <a:bodyPr/>
          <a:lstStyle/>
          <a:p>
            <a:r>
              <a:rPr lang="en-US" dirty="0"/>
              <a:t>Testing theory with experiments: </a:t>
            </a:r>
            <a:r>
              <a:rPr lang="en-US" dirty="0">
                <a:solidFill>
                  <a:srgbClr val="011893"/>
                </a:solidFill>
              </a:rPr>
              <a:t>growth chamber</a:t>
            </a:r>
            <a:r>
              <a:rPr lang="en-US" dirty="0"/>
              <a:t> example (Perkowski et al., 2023)</a:t>
            </a:r>
          </a:p>
        </p:txBody>
      </p:sp>
      <p:sp>
        <p:nvSpPr>
          <p:cNvPr id="3" name="Content Placeholder 2">
            <a:extLst>
              <a:ext uri="{FF2B5EF4-FFF2-40B4-BE49-F238E27FC236}">
                <a16:creationId xmlns:a16="http://schemas.microsoft.com/office/drawing/2014/main" id="{6BF74611-9C82-A5C7-20C2-152E8775B0A7}"/>
              </a:ext>
            </a:extLst>
          </p:cNvPr>
          <p:cNvSpPr>
            <a:spLocks noGrp="1"/>
          </p:cNvSpPr>
          <p:nvPr>
            <p:ph idx="1"/>
          </p:nvPr>
        </p:nvSpPr>
        <p:spPr/>
        <p:txBody>
          <a:bodyPr/>
          <a:lstStyle/>
          <a:p>
            <a:r>
              <a:rPr lang="en-US" b="1" u="sng" dirty="0">
                <a:solidFill>
                  <a:srgbClr val="011893"/>
                </a:solidFill>
              </a:rPr>
              <a:t>Results</a:t>
            </a:r>
            <a:r>
              <a:rPr lang="en-US" dirty="0"/>
              <a:t>: lack of context dependency of CO</a:t>
            </a:r>
            <a:r>
              <a:rPr lang="en-US" baseline="-25000" dirty="0"/>
              <a:t>2</a:t>
            </a:r>
            <a:r>
              <a:rPr lang="en-US" dirty="0"/>
              <a:t> acclimation confirmed</a:t>
            </a:r>
          </a:p>
        </p:txBody>
      </p:sp>
      <p:pic>
        <p:nvPicPr>
          <p:cNvPr id="3074" name="Picture 2" descr="Effects of CO2 concentration, inoculation, and nitrogen fertilization on leaf photosynthetic traits. The effects on net photosynthesis measured under growth CO2 concentration (A), the apparent maximum rate of Rubisco carboxylation at 25 °C (B), the apparent maximum rate of electron transport for RuBP regeneration at 25 °C (C), and the ratio of the apparent maximum rate of electron transport for RuBP regeneration to the apparent maximum rate of Rubisco carboxylation (D) are shown. Nitrogen fertilization is on the x-axis in all panels. Red shaded points and trendlines indicate plants grown under elevated CO2, while blue shaded points and trendlines indicate plants grown under ambient CO2. Light blue and light red circular points and trendlines indicate measurements collected from uninoculated plants, while dark blue and dark red triangular points indicate measurements collected from inoculated plants. Solid trendlines indicate regression slopes that are different from zero (P&lt;0.05), while dashed trendlines indicate slopes that are not distinguishable from zero (P&gt;0.05). Error ribbons of each trendline represent the upper and lower 95% confidence intervals.">
            <a:extLst>
              <a:ext uri="{FF2B5EF4-FFF2-40B4-BE49-F238E27FC236}">
                <a16:creationId xmlns:a16="http://schemas.microsoft.com/office/drawing/2014/main" id="{DF774BF3-622C-E981-FDBC-C3D1447EE1E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6378" r="24677" b="50984"/>
          <a:stretch>
            <a:fillRect/>
          </a:stretch>
        </p:blipFill>
        <p:spPr bwMode="auto">
          <a:xfrm>
            <a:off x="3283131" y="2950391"/>
            <a:ext cx="4058194" cy="336150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Effects of CO2 concentration, inoculation, and nitrogen fertilization on leaf photosynthetic traits. The effects on net photosynthesis measured under growth CO2 concentration (A), the apparent maximum rate of Rubisco carboxylation at 25 °C (B), the apparent maximum rate of electron transport for RuBP regeneration at 25 °C (C), and the ratio of the apparent maximum rate of electron transport for RuBP regeneration to the apparent maximum rate of Rubisco carboxylation (D) are shown. Nitrogen fertilization is on the x-axis in all panels. Red shaded points and trendlines indicate plants grown under elevated CO2, while blue shaded points and trendlines indicate plants grown under ambient CO2. Light blue and light red circular points and trendlines indicate measurements collected from uninoculated plants, while dark blue and dark red triangular points indicate measurements collected from inoculated plants. Solid trendlines indicate regression slopes that are different from zero (P&lt;0.05), while dashed trendlines indicate slopes that are not distinguishable from zero (P&gt;0.05). Error ribbons of each trendline represent the upper and lower 95% confidence intervals.">
            <a:extLst>
              <a:ext uri="{FF2B5EF4-FFF2-40B4-BE49-F238E27FC236}">
                <a16:creationId xmlns:a16="http://schemas.microsoft.com/office/drawing/2014/main" id="{DCD66E95-10A6-56AF-C897-2BD4DE441DA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4863" t="40123" r="-687" b="39179"/>
          <a:stretch>
            <a:fillRect/>
          </a:stretch>
        </p:blipFill>
        <p:spPr bwMode="auto">
          <a:xfrm>
            <a:off x="7602582" y="3779520"/>
            <a:ext cx="2690949" cy="14194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10727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6DACB-2BAD-9F62-9E30-ED9DC1F2D5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CB9FA6-F4AF-8093-4872-E6ADC992FDD4}"/>
              </a:ext>
            </a:extLst>
          </p:cNvPr>
          <p:cNvSpPr>
            <a:spLocks noGrp="1"/>
          </p:cNvSpPr>
          <p:nvPr>
            <p:ph type="title"/>
          </p:nvPr>
        </p:nvSpPr>
        <p:spPr/>
        <p:txBody>
          <a:bodyPr/>
          <a:lstStyle/>
          <a:p>
            <a:r>
              <a:rPr lang="en-US" dirty="0"/>
              <a:t>Testing theory with experiments: </a:t>
            </a:r>
            <a:r>
              <a:rPr lang="en-US" dirty="0">
                <a:solidFill>
                  <a:srgbClr val="011893"/>
                </a:solidFill>
              </a:rPr>
              <a:t>growth chamber</a:t>
            </a:r>
            <a:r>
              <a:rPr lang="en-US" dirty="0"/>
              <a:t> example (Perkowski et al., 2023)</a:t>
            </a:r>
          </a:p>
        </p:txBody>
      </p:sp>
      <p:sp>
        <p:nvSpPr>
          <p:cNvPr id="3" name="Content Placeholder 2">
            <a:extLst>
              <a:ext uri="{FF2B5EF4-FFF2-40B4-BE49-F238E27FC236}">
                <a16:creationId xmlns:a16="http://schemas.microsoft.com/office/drawing/2014/main" id="{79C85876-1964-C2F4-57AF-83F4E7A3B17F}"/>
              </a:ext>
            </a:extLst>
          </p:cNvPr>
          <p:cNvSpPr>
            <a:spLocks noGrp="1"/>
          </p:cNvSpPr>
          <p:nvPr>
            <p:ph idx="1"/>
          </p:nvPr>
        </p:nvSpPr>
        <p:spPr/>
        <p:txBody>
          <a:bodyPr/>
          <a:lstStyle/>
          <a:p>
            <a:r>
              <a:rPr lang="en-US" b="1" u="sng" dirty="0">
                <a:solidFill>
                  <a:srgbClr val="011893"/>
                </a:solidFill>
              </a:rPr>
              <a:t>Summary</a:t>
            </a:r>
          </a:p>
          <a:p>
            <a:pPr lvl="1"/>
            <a:r>
              <a:rPr lang="en-US" dirty="0"/>
              <a:t>Growth chambers allow for theory testing under many different environmental conditions</a:t>
            </a:r>
          </a:p>
          <a:p>
            <a:pPr lvl="1"/>
            <a:r>
              <a:rPr lang="en-US" dirty="0"/>
              <a:t>Realism may need to be checked alongside field data</a:t>
            </a:r>
          </a:p>
        </p:txBody>
      </p:sp>
    </p:spTree>
    <p:extLst>
      <p:ext uri="{BB962C8B-B14F-4D97-AF65-F5344CB8AC3E}">
        <p14:creationId xmlns:p14="http://schemas.microsoft.com/office/powerpoint/2010/main" val="16103050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FFD7B-FF67-520B-35A4-32481E1B8D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00B234-3B21-5D49-B0FF-DB6DE38931E0}"/>
              </a:ext>
            </a:extLst>
          </p:cNvPr>
          <p:cNvSpPr>
            <a:spLocks noGrp="1"/>
          </p:cNvSpPr>
          <p:nvPr>
            <p:ph type="title"/>
          </p:nvPr>
        </p:nvSpPr>
        <p:spPr/>
        <p:txBody>
          <a:bodyPr/>
          <a:lstStyle/>
          <a:p>
            <a:r>
              <a:rPr lang="en-US" dirty="0"/>
              <a:t>Ongoing </a:t>
            </a:r>
            <a:r>
              <a:rPr lang="en-US" dirty="0">
                <a:solidFill>
                  <a:srgbClr val="011893"/>
                </a:solidFill>
              </a:rPr>
              <a:t>growth chamber </a:t>
            </a:r>
            <a:r>
              <a:rPr lang="en-US" dirty="0"/>
              <a:t>work</a:t>
            </a:r>
          </a:p>
        </p:txBody>
      </p:sp>
      <p:sp>
        <p:nvSpPr>
          <p:cNvPr id="3" name="Content Placeholder 2">
            <a:extLst>
              <a:ext uri="{FF2B5EF4-FFF2-40B4-BE49-F238E27FC236}">
                <a16:creationId xmlns:a16="http://schemas.microsoft.com/office/drawing/2014/main" id="{85BD9599-37F6-99C7-2B58-113970707F5A}"/>
              </a:ext>
            </a:extLst>
          </p:cNvPr>
          <p:cNvSpPr>
            <a:spLocks noGrp="1"/>
          </p:cNvSpPr>
          <p:nvPr>
            <p:ph idx="1"/>
          </p:nvPr>
        </p:nvSpPr>
        <p:spPr/>
        <p:txBody>
          <a:bodyPr>
            <a:normAutofit lnSpcReduction="10000"/>
          </a:bodyPr>
          <a:lstStyle/>
          <a:p>
            <a:r>
              <a:rPr lang="en-US" dirty="0"/>
              <a:t>Testing mechanisms driving </a:t>
            </a:r>
            <a:r>
              <a:rPr lang="en-US" b="1" u="sng" dirty="0">
                <a:solidFill>
                  <a:srgbClr val="011893"/>
                </a:solidFill>
              </a:rPr>
              <a:t>temperature acclimation </a:t>
            </a:r>
            <a:r>
              <a:rPr lang="en-US" dirty="0"/>
              <a:t>responses, including interactions with nutrients (PhD Dan Owusu Kwakye)</a:t>
            </a:r>
          </a:p>
          <a:p>
            <a:pPr lvl="1"/>
            <a:r>
              <a:rPr lang="en-US" dirty="0"/>
              <a:t>Hope to explain variable responses seen in literature</a:t>
            </a:r>
          </a:p>
          <a:p>
            <a:r>
              <a:rPr lang="en-US" dirty="0"/>
              <a:t>Testing more mechanistic representations of </a:t>
            </a:r>
            <a:r>
              <a:rPr lang="en-US" b="1" u="sng" dirty="0">
                <a:solidFill>
                  <a:srgbClr val="011893"/>
                </a:solidFill>
              </a:rPr>
              <a:t>light reactions </a:t>
            </a:r>
            <a:r>
              <a:rPr lang="en-US" dirty="0"/>
              <a:t>and their acclimation responses (PhD Garry Garza)</a:t>
            </a:r>
          </a:p>
          <a:p>
            <a:pPr lvl="1"/>
            <a:r>
              <a:rPr lang="en-US" dirty="0"/>
              <a:t>Including quantum yield and cytochrome b6f</a:t>
            </a:r>
          </a:p>
          <a:p>
            <a:r>
              <a:rPr lang="en-US" dirty="0"/>
              <a:t>Comparing temperature and CO</a:t>
            </a:r>
            <a:r>
              <a:rPr lang="en-US" baseline="-25000" dirty="0"/>
              <a:t>2</a:t>
            </a:r>
            <a:r>
              <a:rPr lang="en-US" dirty="0"/>
              <a:t> acclimation between </a:t>
            </a:r>
            <a:r>
              <a:rPr lang="en-US" b="1" u="sng" dirty="0">
                <a:solidFill>
                  <a:srgbClr val="011893"/>
                </a:solidFill>
              </a:rPr>
              <a:t>C</a:t>
            </a:r>
            <a:r>
              <a:rPr lang="en-US" b="1" u="sng" baseline="-25000" dirty="0">
                <a:solidFill>
                  <a:srgbClr val="011893"/>
                </a:solidFill>
              </a:rPr>
              <a:t>3</a:t>
            </a:r>
            <a:r>
              <a:rPr lang="en-US" b="1" u="sng" dirty="0">
                <a:solidFill>
                  <a:srgbClr val="011893"/>
                </a:solidFill>
              </a:rPr>
              <a:t> and C</a:t>
            </a:r>
            <a:r>
              <a:rPr lang="en-US" b="1" u="sng" baseline="-25000" dirty="0">
                <a:solidFill>
                  <a:srgbClr val="011893"/>
                </a:solidFill>
              </a:rPr>
              <a:t>4</a:t>
            </a:r>
            <a:r>
              <a:rPr lang="en-US" b="1" u="sng" dirty="0">
                <a:solidFill>
                  <a:srgbClr val="011893"/>
                </a:solidFill>
              </a:rPr>
              <a:t> </a:t>
            </a:r>
            <a:r>
              <a:rPr lang="en-US" dirty="0"/>
              <a:t>grasses (MS </a:t>
            </a:r>
            <a:r>
              <a:rPr lang="en-US" dirty="0" err="1"/>
              <a:t>Zinny</a:t>
            </a:r>
            <a:r>
              <a:rPr lang="en-US" dirty="0"/>
              <a:t> </a:t>
            </a:r>
            <a:r>
              <a:rPr lang="en-US" dirty="0" err="1"/>
              <a:t>Ezekannagha</a:t>
            </a:r>
            <a:r>
              <a:rPr lang="en-US" dirty="0"/>
              <a:t>)</a:t>
            </a:r>
          </a:p>
          <a:p>
            <a:pPr lvl="1"/>
            <a:r>
              <a:rPr lang="en-US" dirty="0"/>
              <a:t>Both acclimate to temperature, but C</a:t>
            </a:r>
            <a:r>
              <a:rPr lang="en-US" baseline="-25000" dirty="0"/>
              <a:t>4</a:t>
            </a:r>
            <a:r>
              <a:rPr lang="en-US" dirty="0"/>
              <a:t> shows little response to CO</a:t>
            </a:r>
            <a:r>
              <a:rPr lang="en-US" baseline="-25000" dirty="0"/>
              <a:t>2</a:t>
            </a:r>
          </a:p>
          <a:p>
            <a:r>
              <a:rPr lang="en-US" dirty="0"/>
              <a:t>Exploring </a:t>
            </a:r>
            <a:r>
              <a:rPr lang="en-US" b="1" u="sng" dirty="0">
                <a:solidFill>
                  <a:srgbClr val="011893"/>
                </a:solidFill>
              </a:rPr>
              <a:t>timescales</a:t>
            </a:r>
            <a:r>
              <a:rPr lang="en-US" dirty="0"/>
              <a:t> and responses to </a:t>
            </a:r>
            <a:r>
              <a:rPr lang="en-US" b="1" u="sng" dirty="0">
                <a:solidFill>
                  <a:srgbClr val="011893"/>
                </a:solidFill>
              </a:rPr>
              <a:t>variability</a:t>
            </a:r>
            <a:r>
              <a:rPr lang="en-US" dirty="0"/>
              <a:t> (MS Eve Gray and Christine </a:t>
            </a:r>
            <a:r>
              <a:rPr lang="en-US" dirty="0" err="1"/>
              <a:t>Vanginault</a:t>
            </a:r>
            <a:r>
              <a:rPr lang="en-US" dirty="0"/>
              <a:t>)</a:t>
            </a:r>
          </a:p>
        </p:txBody>
      </p:sp>
    </p:spTree>
    <p:extLst>
      <p:ext uri="{BB962C8B-B14F-4D97-AF65-F5344CB8AC3E}">
        <p14:creationId xmlns:p14="http://schemas.microsoft.com/office/powerpoint/2010/main" val="33274172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B259C-9CE0-839B-3CB3-03D9A6215A2A}"/>
              </a:ext>
            </a:extLst>
          </p:cNvPr>
          <p:cNvSpPr>
            <a:spLocks noGrp="1"/>
          </p:cNvSpPr>
          <p:nvPr>
            <p:ph type="title"/>
          </p:nvPr>
        </p:nvSpPr>
        <p:spPr/>
        <p:txBody>
          <a:bodyPr/>
          <a:lstStyle/>
          <a:p>
            <a:r>
              <a:rPr lang="en-US" dirty="0" err="1"/>
              <a:t>Takehomes</a:t>
            </a:r>
            <a:endParaRPr lang="en-US" dirty="0"/>
          </a:p>
        </p:txBody>
      </p:sp>
      <p:sp>
        <p:nvSpPr>
          <p:cNvPr id="3" name="Content Placeholder 2">
            <a:extLst>
              <a:ext uri="{FF2B5EF4-FFF2-40B4-BE49-F238E27FC236}">
                <a16:creationId xmlns:a16="http://schemas.microsoft.com/office/drawing/2014/main" id="{EE532FC3-80F1-BE06-4C0B-EC730F772A4A}"/>
              </a:ext>
            </a:extLst>
          </p:cNvPr>
          <p:cNvSpPr>
            <a:spLocks noGrp="1"/>
          </p:cNvSpPr>
          <p:nvPr>
            <p:ph idx="1"/>
          </p:nvPr>
        </p:nvSpPr>
        <p:spPr/>
        <p:txBody>
          <a:bodyPr/>
          <a:lstStyle/>
          <a:p>
            <a:r>
              <a:rPr lang="en-US" dirty="0"/>
              <a:t>Multiple approaches are needed to test theory</a:t>
            </a:r>
          </a:p>
          <a:p>
            <a:r>
              <a:rPr lang="en-US" dirty="0"/>
              <a:t>Experiments can complement observational data</a:t>
            </a:r>
          </a:p>
          <a:p>
            <a:pPr lvl="1"/>
            <a:r>
              <a:rPr lang="en-US" dirty="0"/>
              <a:t>Allows for control of different factors</a:t>
            </a:r>
          </a:p>
          <a:p>
            <a:r>
              <a:rPr lang="en-US" dirty="0"/>
              <a:t>Experiments have tradeoffs</a:t>
            </a:r>
          </a:p>
          <a:p>
            <a:pPr lvl="1"/>
            <a:r>
              <a:rPr lang="en-US" dirty="0"/>
              <a:t>Level of control</a:t>
            </a:r>
          </a:p>
          <a:p>
            <a:pPr lvl="1"/>
            <a:r>
              <a:rPr lang="en-US" dirty="0"/>
              <a:t>Logistics</a:t>
            </a:r>
          </a:p>
          <a:p>
            <a:pPr lvl="1"/>
            <a:r>
              <a:rPr lang="en-US" dirty="0"/>
              <a:t>Realism</a:t>
            </a:r>
          </a:p>
          <a:p>
            <a:r>
              <a:rPr lang="en-US" dirty="0"/>
              <a:t>Multiple types of experiments may be needed to robustly test mechanisms</a:t>
            </a:r>
          </a:p>
        </p:txBody>
      </p:sp>
    </p:spTree>
    <p:extLst>
      <p:ext uri="{BB962C8B-B14F-4D97-AF65-F5344CB8AC3E}">
        <p14:creationId xmlns:p14="http://schemas.microsoft.com/office/powerpoint/2010/main" val="8850003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1201004" y="19484"/>
            <a:ext cx="9630770" cy="6838516"/>
          </a:xfrm>
          <a:prstGeom prst="rect">
            <a:avLst/>
          </a:prstGeom>
        </p:spPr>
      </p:pic>
      <p:sp>
        <p:nvSpPr>
          <p:cNvPr id="4" name="Oval Callout 3"/>
          <p:cNvSpPr/>
          <p:nvPr/>
        </p:nvSpPr>
        <p:spPr>
          <a:xfrm>
            <a:off x="7812741" y="2286000"/>
            <a:ext cx="2070847" cy="1452282"/>
          </a:xfrm>
          <a:prstGeom prst="wedgeEllipseCallout">
            <a:avLst>
              <a:gd name="adj1" fmla="val -76028"/>
              <a:gd name="adj2" fmla="val 84722"/>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Thanks!</a:t>
            </a:r>
          </a:p>
        </p:txBody>
      </p:sp>
      <p:sp>
        <p:nvSpPr>
          <p:cNvPr id="2" name="TextBox 1">
            <a:extLst>
              <a:ext uri="{FF2B5EF4-FFF2-40B4-BE49-F238E27FC236}">
                <a16:creationId xmlns:a16="http://schemas.microsoft.com/office/drawing/2014/main" id="{B24F0BB1-5183-D24C-9A32-AECF3E7CDD10}"/>
              </a:ext>
            </a:extLst>
          </p:cNvPr>
          <p:cNvSpPr txBox="1"/>
          <p:nvPr/>
        </p:nvSpPr>
        <p:spPr>
          <a:xfrm>
            <a:off x="1460313" y="169588"/>
            <a:ext cx="6320256" cy="2031325"/>
          </a:xfrm>
          <a:prstGeom prst="rect">
            <a:avLst/>
          </a:prstGeom>
          <a:solidFill>
            <a:schemeClr val="bg1"/>
          </a:solidFill>
          <a:ln>
            <a:solidFill>
              <a:schemeClr val="tx1"/>
            </a:solidFill>
          </a:ln>
        </p:spPr>
        <p:txBody>
          <a:bodyPr wrap="none" rtlCol="0">
            <a:spAutoFit/>
          </a:bodyPr>
          <a:lstStyle/>
          <a:p>
            <a:r>
              <a:rPr lang="en-US" dirty="0"/>
              <a:t>Presentation available at:</a:t>
            </a:r>
          </a:p>
          <a:p>
            <a:r>
              <a:rPr lang="en-US" dirty="0" err="1"/>
              <a:t>www.github.com</a:t>
            </a:r>
            <a:r>
              <a:rPr lang="en-US" dirty="0"/>
              <a:t>/</a:t>
            </a:r>
            <a:r>
              <a:rPr lang="en-US" dirty="0" err="1"/>
              <a:t>SmithEcophysLab</a:t>
            </a:r>
            <a:r>
              <a:rPr lang="en-US" dirty="0"/>
              <a:t>/seminar/2025_lemontree</a:t>
            </a:r>
          </a:p>
          <a:p>
            <a:endParaRPr lang="en-US" dirty="0"/>
          </a:p>
          <a:p>
            <a:r>
              <a:rPr lang="en-US" dirty="0"/>
              <a:t>Data and code:</a:t>
            </a:r>
          </a:p>
          <a:p>
            <a:r>
              <a:rPr lang="en-US" dirty="0" err="1"/>
              <a:t>www.github.com</a:t>
            </a:r>
            <a:r>
              <a:rPr lang="en-US" dirty="0"/>
              <a:t>/</a:t>
            </a:r>
            <a:r>
              <a:rPr lang="en-US" dirty="0" err="1"/>
              <a:t>SmithEcophysLab</a:t>
            </a:r>
            <a:endParaRPr lang="en-US" dirty="0"/>
          </a:p>
          <a:p>
            <a:endParaRPr lang="en-US" dirty="0"/>
          </a:p>
          <a:p>
            <a:r>
              <a:rPr lang="en-US" dirty="0"/>
              <a:t>Contact: </a:t>
            </a:r>
            <a:r>
              <a:rPr lang="en-US" dirty="0" err="1"/>
              <a:t>nick.smith@ttu.edu</a:t>
            </a:r>
            <a:endParaRPr lang="en-US" dirty="0"/>
          </a:p>
        </p:txBody>
      </p:sp>
    </p:spTree>
    <p:extLst>
      <p:ext uri="{BB962C8B-B14F-4D97-AF65-F5344CB8AC3E}">
        <p14:creationId xmlns:p14="http://schemas.microsoft.com/office/powerpoint/2010/main" val="40666957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184</TotalTime>
  <Words>1050</Words>
  <Application>Microsoft Macintosh PowerPoint</Application>
  <PresentationFormat>Widescreen</PresentationFormat>
  <Paragraphs>183</Paragraphs>
  <Slides>33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Aptos</vt:lpstr>
      <vt:lpstr>Aptos Display</vt:lpstr>
      <vt:lpstr>Arial</vt:lpstr>
      <vt:lpstr>Office Theme</vt:lpstr>
      <vt:lpstr>Using experiments to evaluate models of photosynthetic acclimation to global change</vt:lpstr>
      <vt:lpstr>What is photosynthetic acclimation?</vt:lpstr>
      <vt:lpstr>“A physiological, structural, or biochemical adjustment by an individual plant in response to an experimentally induced environmental stimulus that is manifested as alterations in the short-term response function of a physiological process.”</vt:lpstr>
      <vt:lpstr>Acclimation: an example</vt:lpstr>
      <vt:lpstr>Acclimation: an example</vt:lpstr>
      <vt:lpstr>Acclimation is ubiquitous and well known…</vt:lpstr>
      <vt:lpstr>…and can impact carbon cycling and climate</vt:lpstr>
      <vt:lpstr>PowerPoint Presentation</vt:lpstr>
      <vt:lpstr>LEMONTREE-developed EEO model of photosynthetic acclimation</vt:lpstr>
      <vt:lpstr>How do we know if the model is producing reliable simulations?</vt:lpstr>
      <vt:lpstr>Testing model predictions</vt:lpstr>
      <vt:lpstr>Testing model predictions</vt:lpstr>
      <vt:lpstr>Experiment types</vt:lpstr>
      <vt:lpstr>Experiment types</vt:lpstr>
      <vt:lpstr>Testing theory with experiments: field manipulation example (Cheaib et al., 2025)</vt:lpstr>
      <vt:lpstr>Testing theory with experiments: field manipulation example (Cheaib et al., 2025)</vt:lpstr>
      <vt:lpstr>Testing theory with experiments: field manipulation example (Cheaib et al., 2025)</vt:lpstr>
      <vt:lpstr>Testing theory with experiments: field manipulation example (Cheaib et al., 2025)</vt:lpstr>
      <vt:lpstr>Ongoing field manipulation work</vt:lpstr>
      <vt:lpstr>Experiment types</vt:lpstr>
      <vt:lpstr>Testing theory with experiments: glasshouse example (Waring et al., 2023)</vt:lpstr>
      <vt:lpstr>Testing theory with experiments: glasshouse example (Waring et al., 2023)</vt:lpstr>
      <vt:lpstr>Testing theory with experiments: glasshouse example (Waring et al., 2023)</vt:lpstr>
      <vt:lpstr>Testing theory with experiments: glasshouse example (Waring et al., 2023)</vt:lpstr>
      <vt:lpstr>Ongoing glasshouse work</vt:lpstr>
      <vt:lpstr>Experiment types</vt:lpstr>
      <vt:lpstr>Testing theory with experiments: growth chamber example (Perkowski et al., 2025)</vt:lpstr>
      <vt:lpstr>Testing theory with experiments: growth chamber example (Perkowski et al., 2023)</vt:lpstr>
      <vt:lpstr>Testing theory with experiments: growth chamber example (Perkowski et al., 2023)</vt:lpstr>
      <vt:lpstr>Testing theory with experiments: growth chamber example (Perkowski et al., 2023)</vt:lpstr>
      <vt:lpstr>Ongoing growth chamber work</vt:lpstr>
      <vt:lpstr>Takehomes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Smith, Nick</dc:creator>
  <cp:lastModifiedBy>Smith, Nick</cp:lastModifiedBy>
  <cp:revision>41</cp:revision>
  <dcterms:created xsi:type="dcterms:W3CDTF">2025-08-18T18:24:41Z</dcterms:created>
  <dcterms:modified xsi:type="dcterms:W3CDTF">2025-08-21T14:19:12Z</dcterms:modified>
</cp:coreProperties>
</file>