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525" r:id="rId2"/>
    <p:sldId id="642" r:id="rId3"/>
    <p:sldId id="644" r:id="rId4"/>
    <p:sldId id="641" r:id="rId5"/>
    <p:sldId id="654" r:id="rId6"/>
    <p:sldId id="532" r:id="rId7"/>
    <p:sldId id="645" r:id="rId8"/>
    <p:sldId id="675" r:id="rId9"/>
    <p:sldId id="646" r:id="rId10"/>
    <p:sldId id="651" r:id="rId11"/>
    <p:sldId id="652" r:id="rId12"/>
    <p:sldId id="647" r:id="rId13"/>
    <p:sldId id="420" r:id="rId14"/>
    <p:sldId id="648" r:id="rId15"/>
    <p:sldId id="649" r:id="rId16"/>
    <p:sldId id="650" r:id="rId17"/>
    <p:sldId id="655" r:id="rId18"/>
    <p:sldId id="658" r:id="rId19"/>
    <p:sldId id="659" r:id="rId20"/>
    <p:sldId id="660" r:id="rId21"/>
    <p:sldId id="661" r:id="rId22"/>
    <p:sldId id="662" r:id="rId23"/>
    <p:sldId id="664" r:id="rId24"/>
    <p:sldId id="663" r:id="rId25"/>
    <p:sldId id="665" r:id="rId26"/>
    <p:sldId id="676" r:id="rId27"/>
    <p:sldId id="656" r:id="rId28"/>
    <p:sldId id="666" r:id="rId29"/>
    <p:sldId id="678" r:id="rId30"/>
    <p:sldId id="677" r:id="rId31"/>
    <p:sldId id="667" r:id="rId32"/>
    <p:sldId id="668" r:id="rId33"/>
    <p:sldId id="669" r:id="rId34"/>
    <p:sldId id="670" r:id="rId35"/>
    <p:sldId id="671" r:id="rId36"/>
    <p:sldId id="672" r:id="rId37"/>
    <p:sldId id="679" r:id="rId38"/>
    <p:sldId id="591" r:id="rId39"/>
    <p:sldId id="581" r:id="rId40"/>
    <p:sldId id="657" r:id="rId41"/>
    <p:sldId id="673" r:id="rId42"/>
    <p:sldId id="674" r:id="rId43"/>
    <p:sldId id="305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1893"/>
    <a:srgbClr val="0432FF"/>
    <a:srgbClr val="FF9300"/>
    <a:srgbClr val="FF0000"/>
    <a:srgbClr val="009051"/>
    <a:srgbClr val="76D6FF"/>
    <a:srgbClr val="FF40FF"/>
    <a:srgbClr val="7A81FF"/>
    <a:srgbClr val="008F00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/>
    <p:restoredTop sz="94830"/>
  </p:normalViewPr>
  <p:slideViewPr>
    <p:cSldViewPr snapToGrid="0" snapToObjects="1" showGuides="1">
      <p:cViewPr varScale="1">
        <p:scale>
          <a:sx n="121" d="100"/>
          <a:sy n="121" d="100"/>
        </p:scale>
        <p:origin x="79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63722C-260B-BE4A-AB79-705B13198AB7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2AE00-8123-8443-87F9-E82CF20E5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50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CD366-6C84-FC76-AFE0-8B8DF2347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2D6425-D130-1D22-AE8E-3F2EDF208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3B491-06CC-2E7A-3102-902C7FA4B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11A85-DB18-003C-560C-E80E78DCF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10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10CBE-7C4A-5AEF-26F3-EA891D5A4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C7C354-CFED-C2B0-EEEE-FBE67053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DEA18-4905-91D4-B16F-D72F12E00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E09DC-9ACD-A498-808B-D9DC03FF3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54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2015D-95F8-425E-6601-AF05534E0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6F85E-98A5-3925-5ADE-7E9AE4D15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5EE1D-BBB7-411C-8A00-E0397911D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79809-61D3-41BD-9642-9F637DB78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31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117EC-FE5A-0386-A47C-3F1BA47DB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E1B06-A425-D073-28CC-9417B56415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A32CD2-648D-CC51-1665-B9A70E0EB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CA46E-D9FB-8CCC-063F-680EDBC7BD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17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554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A1DA8-59C5-632B-F542-C57A8FF55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89E62A-8987-1219-418E-A07BF50B7F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D3551-ACA0-BBD5-3A4A-0830E215C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3F70B-7E73-A599-022D-BB41D2E73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22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9F891-2DA3-10C3-03D8-A629BCCCB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7B784-3A4C-993D-369B-FF350D7D0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DE16E-6048-1626-968A-6D07F95C0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AEB5B-65B5-A06A-79D2-82A47F7EE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97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3ED19-22C8-7E01-1691-2F4379E76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49BE3-393E-AA29-DA41-B1D8010AC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8E0CE-514F-BB14-8361-4D22BF34C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EE613-85E2-21DA-6C52-C77C4928C7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3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39DF9-0F93-4F80-B895-3B136A9B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D5943-D0EC-E1B6-7DFE-A377905A4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DB05DD-C734-4EC9-B99E-1AD57F9B0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7A4E5-C7E8-1022-C200-DA62C0B164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96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7D5F4-A943-62C3-C713-02569B1C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95028-3727-40FC-9452-A496A2E96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3BD5B-C3DF-384B-FDDF-FAB83ADF2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E64D3-741A-D63F-11D8-7E02D9B23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860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A6A3D-B7B5-7113-BC4B-86311FFAE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40DED-8AF0-6EF1-7C28-BEF39F162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E363A-7976-DFAD-5C42-371AE6725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C4486-51BD-5562-9300-89E9156F0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2AE00-8123-8443-87F9-E82CF20E5DC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53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598C-707D-CF4C-AA41-81B8AC8B2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C019D-1D11-9C49-8F1D-5DD14B286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E130-7106-2C41-98DD-8265F5C33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0AF37-B9C6-1C45-89BB-5351093CB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78621-52CE-184B-A1E2-4EBF52B4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E35E0-F64A-4E41-873E-DDA5E74A0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20EA4-A34B-E646-A898-7279AA4F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496D-BCEC-FE4E-9FC5-5B08BD35A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25AA6-8C06-4F48-BA32-F730A679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F9485-6461-3341-97D9-CB4E5F6E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94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74648-0995-0841-8CA4-64C00982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032F9-43A3-104A-ADD9-E5336F4BB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CC5C7-DF5A-2A46-942F-5AF36E271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C7667-8567-3A42-B310-9104A5B9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3F8EF-3D6E-A647-A5D4-0B6F0EE1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47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BDD5B-43F2-4940-B3D4-C9E95D0D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935E7-F5CF-3E4C-AA58-04E1C98D2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16CF2E-11B9-834F-9BA1-FDCE514D4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1AB9A-51AD-5F41-9FAC-73EFF6BE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7EE97-96FD-844B-9062-521186821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585E7-3942-4146-8DE4-95C92D41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55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6631-A140-A14D-AD94-A847A63C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E9D4E-D397-7B4B-8090-1905D22387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7B09E-6940-E043-A317-CFCF38D223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3E177-2DFD-DF4C-A9D4-6D6052860B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7C9A1D-9582-A94B-A8DF-0F61C1A0E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C514B-CE5B-FE4B-9A35-FC1DB47A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BD5D40-F8EF-E64A-81C6-08BE2C8D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181CB-1E6C-5E4C-872A-2024039A9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3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0F85-B5EC-8243-B821-77A85E08C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D5F748-4679-EA41-B008-49F6B1EC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80080-3A98-DE4A-9F9B-F673A9F6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8609B-834A-F141-9CE9-1C8E30BF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1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164904-EFF8-984F-B733-52B6D617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847695-1C2A-9A41-A2C6-EF8CD9072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2F2E-B194-8F40-BA73-29BE3D02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99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304A-C5B6-FB49-96E5-FAA26FEB2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57D88-4F3B-924C-9DF0-21627776D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CCCA3-3829-0A41-B225-07FD8C905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A8F10-43F6-8D41-A9E4-455B5941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2B8BE-1A31-2E4D-A234-041798C3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44F7E-D57C-E94C-B9B1-09DC5CF9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85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2D775-9720-F440-9D80-D32523C9B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E9E79-2115-1A48-89F1-201E4BA492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29BEF-07A4-3241-B37A-B5D78DB9C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9C3D1-1438-A84E-BBFD-E85E4966A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FA1C2-A668-B747-9DD0-646AEA8A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18C83-09E7-CC4B-85B3-C25B907D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65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E136-16E8-3A44-87C4-49C7C2E6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4687C-A033-054C-8911-AD6183BA1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3C5A4-7F26-0A4E-B34C-AA298FA0D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2B1EE-2AFB-ED4E-B819-B6BBEC00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28083-5B6C-444E-B8FA-B99BC743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52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887EC-877A-0047-80E8-96D13C2A8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38B7E-8ED9-6048-8CFB-51AA705EBE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D334-5D94-0E4A-9645-1E18EA27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C997-4FCF-B041-B9F4-621ACEA36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DB4F2-8A90-D641-94A1-036D1318F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8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C7BF6-04D2-CD4F-93B8-B530AB81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E4201-C8B8-5049-88A0-8F6E0DF42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E3F3F-14AD-F346-917C-44EDADC21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26F57-5C4D-B74F-B668-1622E98B73FD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C8D61-B2D8-6C4F-99D4-D9D113689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69036-6DEA-544F-B990-AA9D85132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23675-08AD-2448-A7F8-3E8999CC1E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9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B2D5E2-AF7B-C345-BE3C-D7BD2BCEFE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99"/>
          <a:stretch/>
        </p:blipFill>
        <p:spPr>
          <a:xfrm>
            <a:off x="-1" y="7336"/>
            <a:ext cx="12192000" cy="68506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441E5-3D55-F040-90AD-D008C8367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5068"/>
            <a:ext cx="9144000" cy="1992926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011893"/>
                </a:solidFill>
              </a:rPr>
              <a:t>Using theory and experiments to understand plant physiological responses to nutrient availability</a:t>
            </a:r>
            <a:endParaRPr lang="en-US" dirty="0">
              <a:solidFill>
                <a:srgbClr val="011893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E65786-8F48-8941-8659-88E4122EC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1620" y="3820006"/>
            <a:ext cx="6108758" cy="2236237"/>
          </a:xfr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>
            <a:normAutofit/>
          </a:bodyPr>
          <a:lstStyle/>
          <a:p>
            <a:r>
              <a:rPr lang="en-US" sz="4400" b="1" dirty="0"/>
              <a:t>Nick Smith</a:t>
            </a:r>
          </a:p>
          <a:p>
            <a:r>
              <a:rPr lang="en-US" dirty="0">
                <a:solidFill>
                  <a:srgbClr val="011893"/>
                </a:solidFill>
              </a:rPr>
              <a:t>Department of Biological Sciences</a:t>
            </a:r>
          </a:p>
          <a:p>
            <a:r>
              <a:rPr lang="en-US" dirty="0">
                <a:solidFill>
                  <a:srgbClr val="011893"/>
                </a:solidFill>
              </a:rPr>
              <a:t>Texas Tech University</a:t>
            </a:r>
          </a:p>
          <a:p>
            <a:r>
              <a:rPr lang="en-US" dirty="0" err="1">
                <a:solidFill>
                  <a:srgbClr val="011893"/>
                </a:solidFill>
              </a:rPr>
              <a:t>nick.smith@ttu.edu</a:t>
            </a:r>
            <a:endParaRPr lang="en-US" dirty="0">
              <a:solidFill>
                <a:srgbClr val="0118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087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7AB5-5EC2-CE8F-0E24-5F73990E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16F294-4C6C-B1BB-520D-C1DAF45D45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5250" y="704850"/>
            <a:ext cx="9461500" cy="5212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84C2A8-9D9E-7EAA-D986-B07DAE9B9FF7}"/>
              </a:ext>
            </a:extLst>
          </p:cNvPr>
          <p:cNvSpPr txBox="1"/>
          <p:nvPr/>
        </p:nvSpPr>
        <p:spPr>
          <a:xfrm>
            <a:off x="9191691" y="6488668"/>
            <a:ext cx="300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Stocker et al. (2025) </a:t>
            </a:r>
            <a:r>
              <a:rPr lang="en-US" i="1" dirty="0"/>
              <a:t>New </a:t>
            </a:r>
            <a:r>
              <a:rPr lang="en-US" i="1" dirty="0" err="1"/>
              <a:t>Phyt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4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236C4-DD81-3366-42A9-DD15A613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9972A0E-7E70-6000-6AED-85173F87FB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5250" y="704850"/>
            <a:ext cx="9461500" cy="52126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191515-6E16-E1E3-F30F-98ABEC1E6343}"/>
              </a:ext>
            </a:extLst>
          </p:cNvPr>
          <p:cNvSpPr txBox="1"/>
          <p:nvPr/>
        </p:nvSpPr>
        <p:spPr>
          <a:xfrm>
            <a:off x="9191691" y="6488668"/>
            <a:ext cx="3000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Stocker et al. (2025) </a:t>
            </a:r>
            <a:r>
              <a:rPr lang="en-US" i="1" dirty="0"/>
              <a:t>New </a:t>
            </a:r>
            <a:r>
              <a:rPr lang="en-US" i="1" dirty="0" err="1"/>
              <a:t>Phyt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A65D91-FA53-1DB0-4FF6-2E0D31B9BA0E}"/>
              </a:ext>
            </a:extLst>
          </p:cNvPr>
          <p:cNvSpPr txBox="1"/>
          <p:nvPr/>
        </p:nvSpPr>
        <p:spPr>
          <a:xfrm>
            <a:off x="1230345" y="1536174"/>
            <a:ext cx="9461500" cy="3785652"/>
          </a:xfrm>
          <a:prstGeom prst="rect">
            <a:avLst/>
          </a:prstGeom>
          <a:solidFill>
            <a:schemeClr val="bg1"/>
          </a:solidFill>
          <a:ln w="76200">
            <a:solidFill>
              <a:srgbClr val="011893"/>
            </a:solidFill>
          </a:ln>
        </p:spPr>
        <p:txBody>
          <a:bodyPr wrap="square" rtlCol="0">
            <a:spAutoFit/>
          </a:bodyPr>
          <a:lstStyle/>
          <a:p>
            <a:r>
              <a:rPr lang="en-US" sz="6000" u="sng" dirty="0">
                <a:solidFill>
                  <a:srgbClr val="011893"/>
                </a:solidFill>
              </a:rPr>
              <a:t>Take home</a:t>
            </a:r>
            <a:r>
              <a:rPr lang="en-US" sz="6000" dirty="0">
                <a:solidFill>
                  <a:srgbClr val="011893"/>
                </a:solidFill>
              </a:rPr>
              <a:t>: we need to ground our understanding of plant-nutrient relationships in theory</a:t>
            </a:r>
          </a:p>
        </p:txBody>
      </p:sp>
    </p:spTree>
    <p:extLst>
      <p:ext uri="{BB962C8B-B14F-4D97-AF65-F5344CB8AC3E}">
        <p14:creationId xmlns:p14="http://schemas.microsoft.com/office/powerpoint/2010/main" val="1449929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E2E1-4168-2E24-9FF5-B5275E103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F314-4473-05C6-29FB-051A9A46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631B-D1FD-DEC1-06F6-5423D8303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Photosynthetic least cost theory and its relation to nutrients</a:t>
            </a:r>
          </a:p>
          <a:p>
            <a:r>
              <a:rPr lang="en-US" dirty="0"/>
              <a:t>Tests of the theory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interactions between nutrient supply and demand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Responses to elevated CO</a:t>
            </a:r>
            <a:r>
              <a:rPr lang="en-US" baseline="-25000" dirty="0"/>
              <a:t>2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777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9395-13FD-CDD8-1BD6-D14B72487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2F098-B5FD-C40E-6234-A38EA7698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00335-9ADC-2075-129E-4301833B8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Photosynthetic least cost theory and its relation to nutrients</a:t>
            </a:r>
          </a:p>
          <a:p>
            <a:r>
              <a:rPr lang="en-US" dirty="0">
                <a:solidFill>
                  <a:schemeClr val="bg2"/>
                </a:solidFill>
              </a:rPr>
              <a:t>Tests of the theory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The interactions between nutrient supply and demand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Responses to elevated CO</a:t>
            </a:r>
            <a:r>
              <a:rPr lang="en-US" baseline="-25000" dirty="0">
                <a:solidFill>
                  <a:schemeClr val="bg2"/>
                </a:solidFill>
              </a:rPr>
              <a:t>2</a:t>
            </a:r>
          </a:p>
          <a:p>
            <a:r>
              <a:rPr lang="en-US" dirty="0">
                <a:solidFill>
                  <a:schemeClr val="bg2"/>
                </a:solidFill>
              </a:rPr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610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646F-B6FB-844C-B73F-86C9DE51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Photosynthetic least cost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06170-9794-4545-8B2B-AB7F8197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dirty="0">
                <a:solidFill>
                  <a:srgbClr val="011893"/>
                </a:solidFill>
              </a:rPr>
              <a:t>Optimally, plants will maintain fastest rate of photosynthesis at the lowest summed resource cost (water and nutrient use)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065BA7-F5D6-064C-953B-C92F6780C88A}"/>
              </a:ext>
            </a:extLst>
          </p:cNvPr>
          <p:cNvSpPr txBox="1"/>
          <p:nvPr/>
        </p:nvSpPr>
        <p:spPr>
          <a:xfrm>
            <a:off x="8838005" y="6488668"/>
            <a:ext cx="3353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Wright et al. (2003) </a:t>
            </a:r>
            <a:r>
              <a:rPr lang="en-US" i="1" dirty="0"/>
              <a:t>Am Naturalist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16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BB78F-6DE8-CB19-9CDB-7E51BA662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Photosynthetic least cost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59630-BF1F-EFF3-91DB-660C506F0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Can be used to predict changes in photosynthetic nitrogen in response to changes 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/>
              <a:t>Supply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/>
              <a:t>Demand</a:t>
            </a:r>
          </a:p>
          <a:p>
            <a:pPr lvl="1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8360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3935A4-420A-4CF4-2D2E-C0468FE2A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033" y="3812219"/>
            <a:ext cx="7378583" cy="2486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CFE85C-F38C-3A2D-E7CA-07AA72642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17" y="1173682"/>
            <a:ext cx="7772400" cy="22553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693166-6CE0-83BF-A4BC-577BAD22A368}"/>
              </a:ext>
            </a:extLst>
          </p:cNvPr>
          <p:cNvSpPr/>
          <p:nvPr/>
        </p:nvSpPr>
        <p:spPr>
          <a:xfrm>
            <a:off x="6211614" y="2532993"/>
            <a:ext cx="2648607" cy="11666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6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92390-59A3-169A-590B-F5DC11462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E6F8-43DE-EB84-5BF3-EC8087B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Photosynthetic least cost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5FC18-B422-63ED-DE2F-29774C4CD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Can be used to predict changes in photosynthetic nitrogen in response to changes 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>
                <a:solidFill>
                  <a:srgbClr val="011893"/>
                </a:solidFill>
              </a:rPr>
              <a:t>Supply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/>
              <a:t>Demand</a:t>
            </a:r>
          </a:p>
          <a:p>
            <a:pPr lvl="1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21463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1810F-2B1E-299D-6A34-09BF77A5B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27FEE6-95AB-1194-208E-37BE5C4EBFA0}"/>
              </a:ext>
            </a:extLst>
          </p:cNvPr>
          <p:cNvSpPr txBox="1"/>
          <p:nvPr/>
        </p:nvSpPr>
        <p:spPr>
          <a:xfrm>
            <a:off x="7942997" y="2129051"/>
            <a:ext cx="37531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N decreases with soil N limitation, but…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CBD6C4-E44D-65F1-DB0D-5140EDE07FDF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3" name="Picture 2" descr="A graph of a soil limitation&#10;&#10;AI-generated content may be incorrect.">
            <a:extLst>
              <a:ext uri="{FF2B5EF4-FFF2-40B4-BE49-F238E27FC236}">
                <a16:creationId xmlns:a16="http://schemas.microsoft.com/office/drawing/2014/main" id="{DA151864-D4C0-DCC7-00BC-5296E0A40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086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C0F64-7CCC-E3D8-8662-796E4F828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D6E538-6C8E-3945-582A-E5D967222128}"/>
              </a:ext>
            </a:extLst>
          </p:cNvPr>
          <p:cNvSpPr txBox="1"/>
          <p:nvPr/>
        </p:nvSpPr>
        <p:spPr>
          <a:xfrm>
            <a:off x="7942997" y="2129051"/>
            <a:ext cx="37531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…this requires greater water use (i.e., stomatal conductance) to maintain photosynthesis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CA095D-88B2-A040-EF06-64EECBF84466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5" name="Picture 4" descr="A graph of a curve&#10;&#10;AI-generated content may be incorrect.">
            <a:extLst>
              <a:ext uri="{FF2B5EF4-FFF2-40B4-BE49-F238E27FC236}">
                <a16:creationId xmlns:a16="http://schemas.microsoft.com/office/drawing/2014/main" id="{CEA9ABF5-C9AD-8EE7-F9C7-D15501ECA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0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4F96A-B30D-86D1-5DA9-B0F247F6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8658C-9E19-5F6F-DE52-D039F82D1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Photosynthetic least cost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41336-A577-4D16-6179-F42CC02A3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Can be used to predict changes in photosynthetic nitrogen in response to changes 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/>
              <a:t>Supply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4000" dirty="0">
                <a:solidFill>
                  <a:srgbClr val="011893"/>
                </a:solidFill>
              </a:rPr>
              <a:t>Demand</a:t>
            </a:r>
          </a:p>
          <a:p>
            <a:pPr lvl="1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241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285EF-B54B-EC47-979F-5BC743D49492}"/>
              </a:ext>
            </a:extLst>
          </p:cNvPr>
          <p:cNvSpPr txBox="1"/>
          <p:nvPr/>
        </p:nvSpPr>
        <p:spPr>
          <a:xfrm>
            <a:off x="7942997" y="2129051"/>
            <a:ext cx="37531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N demand increases with light because of greater need for photosynthetic enzymes to use light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136AD6-3EA3-8A4F-A6B5-745C8B4C2B92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679C27A-087D-DBDA-D46C-A6C8687CC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99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A125-14FB-0E4A-33D8-F30166C2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986E14-3055-5E4F-8B43-9ECC229CBA0F}"/>
              </a:ext>
            </a:extLst>
          </p:cNvPr>
          <p:cNvSpPr txBox="1"/>
          <p:nvPr/>
        </p:nvSpPr>
        <p:spPr>
          <a:xfrm>
            <a:off x="7942997" y="2129051"/>
            <a:ext cx="375313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N demand decreases with temperature because enzymes work faster at higher temperature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F7F88D-631A-C079-5B28-F57F8366C503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3" name="Picture 2" descr="A graph of a temperature&#10;&#10;AI-generated content may be incorrect.">
            <a:extLst>
              <a:ext uri="{FF2B5EF4-FFF2-40B4-BE49-F238E27FC236}">
                <a16:creationId xmlns:a16="http://schemas.microsoft.com/office/drawing/2014/main" id="{4A6A065B-4586-47B4-CEAF-C00978118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05A2A-7D96-24A9-ED27-E54FF2CF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E38D83-DD08-0A1A-0AFD-F993DA0061E8}"/>
              </a:ext>
            </a:extLst>
          </p:cNvPr>
          <p:cNvSpPr txBox="1"/>
          <p:nvPr/>
        </p:nvSpPr>
        <p:spPr>
          <a:xfrm>
            <a:off x="7942997" y="2129051"/>
            <a:ext cx="37531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N demand increases with VPD to allow plants to save water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CE5781-34E7-232B-B6F8-EE72C2DF33F1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5" name="Picture 4" descr="A graph of a graph with a line&#10;&#10;AI-generated content may be incorrect.">
            <a:extLst>
              <a:ext uri="{FF2B5EF4-FFF2-40B4-BE49-F238E27FC236}">
                <a16:creationId xmlns:a16="http://schemas.microsoft.com/office/drawing/2014/main" id="{5DF409FC-0DFB-5C94-BD2C-5E083A15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680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41C1-0D92-2A0A-9470-5B5CD3A7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62423E-F270-B9FA-555D-D45DFC4D34E0}"/>
              </a:ext>
            </a:extLst>
          </p:cNvPr>
          <p:cNvSpPr txBox="1"/>
          <p:nvPr/>
        </p:nvSpPr>
        <p:spPr>
          <a:xfrm>
            <a:off x="7942997" y="2129051"/>
            <a:ext cx="37531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Leaf N demand decreases with CO</a:t>
            </a:r>
            <a:r>
              <a:rPr lang="en-US" sz="3600" baseline="-250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3600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because less enzymes are needed</a:t>
            </a:r>
            <a:endParaRPr lang="en-US" sz="3600" dirty="0">
              <a:solidFill>
                <a:srgbClr val="01189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44254-877D-F907-1030-7FFB7A89A7C1}"/>
              </a:ext>
            </a:extLst>
          </p:cNvPr>
          <p:cNvSpPr txBox="1"/>
          <p:nvPr/>
        </p:nvSpPr>
        <p:spPr>
          <a:xfrm>
            <a:off x="7223760" y="6211669"/>
            <a:ext cx="4968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Smith et al. (2019) </a:t>
            </a:r>
            <a:r>
              <a:rPr lang="en-US" i="1" dirty="0" err="1"/>
              <a:t>Ecol</a:t>
            </a:r>
            <a:r>
              <a:rPr lang="en-US" i="1" dirty="0"/>
              <a:t> Letters</a:t>
            </a:r>
            <a:r>
              <a:rPr lang="en-US" dirty="0"/>
              <a:t>; Smith and Keenan (2020) </a:t>
            </a:r>
            <a:r>
              <a:rPr lang="en-US" i="1" dirty="0"/>
              <a:t>Glob Change Biology</a:t>
            </a:r>
            <a:endParaRPr lang="en-US" dirty="0"/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90D5B166-2A37-AC67-94F0-67D36865D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53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68573-5F61-F15E-30D0-669BE89B1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5030-46D0-10B4-5225-768AD0C11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EF10-2242-58F5-9AC5-A93BBAE60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Photosynthetic least cost theory and its relation to nutrients</a:t>
            </a:r>
          </a:p>
          <a:p>
            <a:r>
              <a:rPr lang="en-US" dirty="0"/>
              <a:t>Tests of the theory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The interactions between nutrient supply and demand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Responses to elevated CO</a:t>
            </a:r>
            <a:r>
              <a:rPr lang="en-US" baseline="-25000" dirty="0">
                <a:solidFill>
                  <a:schemeClr val="bg2"/>
                </a:solidFill>
              </a:rPr>
              <a:t>2</a:t>
            </a:r>
          </a:p>
          <a:p>
            <a:r>
              <a:rPr lang="en-US" dirty="0">
                <a:solidFill>
                  <a:schemeClr val="bg2"/>
                </a:solidFill>
              </a:rPr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12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18F466-C9FA-6FD9-544F-2B9266554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278256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39A0A5-668D-0D91-D89A-3BA58442D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167661"/>
            <a:ext cx="7772400" cy="275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5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8DFC-4B2B-BADF-523E-13CBDE274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1DFFB-21F4-17EE-04C4-9FB02A2FF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nitrogen demand and availability jointly control:</a:t>
            </a:r>
          </a:p>
          <a:p>
            <a:pPr lvl="1"/>
            <a:r>
              <a:rPr lang="en-US" dirty="0"/>
              <a:t>Carbon costs to acquire nitrogen?</a:t>
            </a:r>
          </a:p>
          <a:p>
            <a:pPr lvl="1"/>
            <a:r>
              <a:rPr lang="en-US" dirty="0"/>
              <a:t>Leaf-level physiology?</a:t>
            </a:r>
          </a:p>
          <a:p>
            <a:pPr lvl="1"/>
            <a:r>
              <a:rPr lang="en-US" dirty="0"/>
              <a:t>Nitrogen allocation?</a:t>
            </a:r>
          </a:p>
          <a:p>
            <a:r>
              <a:rPr lang="en-US" dirty="0"/>
              <a:t>Do these responses differ in non-N fixing (i.e., cotton) and N fixing (i.e., soybean) plants?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21842-EF41-4E91-6175-C52CD43E0B42}"/>
              </a:ext>
            </a:extLst>
          </p:cNvPr>
          <p:cNvSpPr txBox="1"/>
          <p:nvPr/>
        </p:nvSpPr>
        <p:spPr>
          <a:xfrm>
            <a:off x="0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EB176-33AF-7FE8-25A1-2CECAE339D05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53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7089-9C2D-E373-4E33-E31368C6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FA31-A371-A399-0448-FF76EF3D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factorial greenhouse experiment</a:t>
            </a:r>
          </a:p>
          <a:p>
            <a:r>
              <a:rPr lang="en-US" dirty="0"/>
              <a:t>Treatments</a:t>
            </a:r>
          </a:p>
          <a:p>
            <a:pPr lvl="1"/>
            <a:r>
              <a:rPr lang="en-US" dirty="0"/>
              <a:t>Species: cotton and soybean</a:t>
            </a:r>
          </a:p>
          <a:p>
            <a:pPr lvl="1"/>
            <a:r>
              <a:rPr lang="en-US" dirty="0"/>
              <a:t>Light: 4 levels (0%-80% shade)</a:t>
            </a:r>
          </a:p>
          <a:p>
            <a:pPr lvl="1"/>
            <a:r>
              <a:rPr lang="en-US" dirty="0"/>
              <a:t>Nitrogen: 4 levels (0-630 ppm Hoagland’s)</a:t>
            </a:r>
          </a:p>
          <a:p>
            <a:r>
              <a:rPr lang="en-US" dirty="0"/>
              <a:t>Measurements</a:t>
            </a:r>
          </a:p>
          <a:p>
            <a:pPr lvl="1"/>
            <a:r>
              <a:rPr lang="en-US" dirty="0"/>
              <a:t>Biomass and nutrient partitioning among organs</a:t>
            </a:r>
          </a:p>
          <a:p>
            <a:pPr lvl="1"/>
            <a:r>
              <a:rPr lang="en-US" dirty="0"/>
              <a:t>Leaf gas exchange and chemistry</a:t>
            </a:r>
          </a:p>
        </p:txBody>
      </p:sp>
      <p:pic>
        <p:nvPicPr>
          <p:cNvPr id="5" name="Picture 4" descr="A group of plants on a table&#10;&#10;AI-generated content may be incorrect.">
            <a:extLst>
              <a:ext uri="{FF2B5EF4-FFF2-40B4-BE49-F238E27FC236}">
                <a16:creationId xmlns:a16="http://schemas.microsoft.com/office/drawing/2014/main" id="{66736DA4-9963-33C3-A2C1-76AAAC0A8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241" y="240424"/>
            <a:ext cx="3979917" cy="2984938"/>
          </a:xfrm>
          <a:prstGeom prst="rect">
            <a:avLst/>
          </a:prstGeom>
        </p:spPr>
      </p:pic>
      <p:pic>
        <p:nvPicPr>
          <p:cNvPr id="7" name="Picture 6" descr="A person standing in a room with a machine&#10;&#10;AI-generated content may be incorrect.">
            <a:extLst>
              <a:ext uri="{FF2B5EF4-FFF2-40B4-BE49-F238E27FC236}">
                <a16:creationId xmlns:a16="http://schemas.microsoft.com/office/drawing/2014/main" id="{4268BF9F-EDC8-0363-D7B8-B6B177FFF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124" y="3564979"/>
            <a:ext cx="3337034" cy="25027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73C4C3-7810-53F1-2D2D-57527E37955A}"/>
              </a:ext>
            </a:extLst>
          </p:cNvPr>
          <p:cNvSpPr txBox="1"/>
          <p:nvPr/>
        </p:nvSpPr>
        <p:spPr>
          <a:xfrm>
            <a:off x="0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4217E-9DC3-F256-B594-DE56E068450B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38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9D01978-3449-C578-FEB9-FC403CE5B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7495"/>
            <a:ext cx="8504033" cy="38662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65C39E-1E4A-DF1C-E4ED-CCCC90425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</a:t>
            </a:r>
            <a:r>
              <a:rPr lang="en-US" dirty="0"/>
              <a:t> 1: C cost to acquire N increases with N demand and decreases with N supply*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3ADAC-3C71-C090-31E8-5A030F9E5560}"/>
              </a:ext>
            </a:extLst>
          </p:cNvPr>
          <p:cNvSpPr txBox="1"/>
          <p:nvPr/>
        </p:nvSpPr>
        <p:spPr>
          <a:xfrm>
            <a:off x="9203140" y="4612944"/>
            <a:ext cx="298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*Stronger in cotton than soybean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0C0DD-26C6-917E-326F-9A6ABBC1A38C}"/>
              </a:ext>
            </a:extLst>
          </p:cNvPr>
          <p:cNvSpPr txBox="1"/>
          <p:nvPr/>
        </p:nvSpPr>
        <p:spPr>
          <a:xfrm>
            <a:off x="0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567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8700-D1C7-10D8-A8E2-0F39515E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</a:t>
            </a:r>
            <a:r>
              <a:rPr lang="en-US" dirty="0"/>
              <a:t> 2: Leaf N increases with N demand and supply* 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27C39D7-9ECD-EB17-C8B1-0C8788AA55E3}"/>
              </a:ext>
            </a:extLst>
          </p:cNvPr>
          <p:cNvPicPr/>
          <p:nvPr/>
        </p:nvPicPr>
        <p:blipFill>
          <a:blip r:embed="rId2"/>
          <a:srcRect t="67466"/>
          <a:stretch>
            <a:fillRect/>
          </a:stretch>
        </p:blipFill>
        <p:spPr>
          <a:xfrm>
            <a:off x="1015761" y="2770734"/>
            <a:ext cx="7733292" cy="2526480"/>
          </a:xfrm>
          <a:prstGeom prst="rect">
            <a:avLst/>
          </a:prstGeom>
        </p:spPr>
      </p:pic>
      <p:pic>
        <p:nvPicPr>
          <p:cNvPr id="5" name="New picture">
            <a:extLst>
              <a:ext uri="{FF2B5EF4-FFF2-40B4-BE49-F238E27FC236}">
                <a16:creationId xmlns:a16="http://schemas.microsoft.com/office/drawing/2014/main" id="{3ED854BB-EBB5-F21D-2630-1B7AB863FD4C}"/>
              </a:ext>
            </a:extLst>
          </p:cNvPr>
          <p:cNvPicPr/>
          <p:nvPr/>
        </p:nvPicPr>
        <p:blipFill>
          <a:blip r:embed="rId2"/>
          <a:srcRect t="1963" b="95638"/>
          <a:stretch>
            <a:fillRect/>
          </a:stretch>
        </p:blipFill>
        <p:spPr>
          <a:xfrm>
            <a:off x="597221" y="2554014"/>
            <a:ext cx="8209248" cy="1977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97090-85BA-36E7-9AD6-DAECC19F5E34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A24E0-F7A8-5B15-E5A3-9B084C2F0B75}"/>
              </a:ext>
            </a:extLst>
          </p:cNvPr>
          <p:cNvSpPr txBox="1"/>
          <p:nvPr/>
        </p:nvSpPr>
        <p:spPr>
          <a:xfrm>
            <a:off x="9203140" y="4612944"/>
            <a:ext cx="298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*Stronger in cotton than soybean</a:t>
            </a:r>
          </a:p>
        </p:txBody>
      </p:sp>
    </p:spTree>
    <p:extLst>
      <p:ext uri="{BB962C8B-B14F-4D97-AF65-F5344CB8AC3E}">
        <p14:creationId xmlns:p14="http://schemas.microsoft.com/office/powerpoint/2010/main" val="1066357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CD32-E001-E44B-7D20-1BEF3FC6D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831D-9AA5-B800-B0C0-A5C5FBA3E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Takehome</a:t>
            </a:r>
            <a:r>
              <a:rPr lang="en-US" dirty="0"/>
              <a:t> 3: increased leaf N generally* corresponds to increased photosynthetic capacity</a:t>
            </a:r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6FD21EEF-BCA6-6A61-4188-F094F0383A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68213" y="1640764"/>
            <a:ext cx="4831873" cy="48521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AA686F-96B4-B62D-3649-9301817898AA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D8556-8469-ED4C-6007-A6EE6D785B99}"/>
              </a:ext>
            </a:extLst>
          </p:cNvPr>
          <p:cNvSpPr txBox="1"/>
          <p:nvPr/>
        </p:nvSpPr>
        <p:spPr>
          <a:xfrm>
            <a:off x="9203140" y="4612944"/>
            <a:ext cx="298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*Stronger in cotton than soybean</a:t>
            </a:r>
          </a:p>
        </p:txBody>
      </p:sp>
    </p:spTree>
    <p:extLst>
      <p:ext uri="{BB962C8B-B14F-4D97-AF65-F5344CB8AC3E}">
        <p14:creationId xmlns:p14="http://schemas.microsoft.com/office/powerpoint/2010/main" val="2679397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B5D-9D10-6CD7-1AD1-176321B9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Takehome</a:t>
            </a:r>
            <a:r>
              <a:rPr lang="en-US" dirty="0"/>
              <a:t> 4: most of increased leaf N going to non-photosynthetic processes*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499D758A-2B68-F366-74DF-2228B6BEDC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63111" y="1690688"/>
            <a:ext cx="4921469" cy="49420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BA99E9-DEB2-7518-2ED6-7EB3C1505752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0A6FC-4A0C-0181-5F50-6B911B37EAD4}"/>
              </a:ext>
            </a:extLst>
          </p:cNvPr>
          <p:cNvSpPr txBox="1"/>
          <p:nvPr/>
        </p:nvSpPr>
        <p:spPr>
          <a:xfrm>
            <a:off x="9203140" y="4612944"/>
            <a:ext cx="2988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11893"/>
                </a:solidFill>
              </a:rPr>
              <a:t>*Similar in cotton than soybean!</a:t>
            </a:r>
          </a:p>
        </p:txBody>
      </p:sp>
    </p:spTree>
    <p:extLst>
      <p:ext uri="{BB962C8B-B14F-4D97-AF65-F5344CB8AC3E}">
        <p14:creationId xmlns:p14="http://schemas.microsoft.com/office/powerpoint/2010/main" val="2281156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31373-56B9-BB71-797F-0718C531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Nitrogen supply-demand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C0F9-10F0-17C3-3937-21A51D82A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soil N makes it cheaper for plants to obtain N regardless of demand</a:t>
            </a:r>
          </a:p>
          <a:p>
            <a:pPr lvl="1"/>
            <a:r>
              <a:rPr lang="en-US" dirty="0"/>
              <a:t>Relative impact greatest when demand is greatest</a:t>
            </a:r>
          </a:p>
          <a:p>
            <a:r>
              <a:rPr lang="en-US" dirty="0"/>
              <a:t>Both supply and demand impact leaf N</a:t>
            </a:r>
          </a:p>
          <a:p>
            <a:r>
              <a:rPr lang="en-US" dirty="0"/>
              <a:t>Leaf N changes with N demand correspond to photosynthesis</a:t>
            </a:r>
          </a:p>
          <a:p>
            <a:r>
              <a:rPr lang="en-US" dirty="0"/>
              <a:t>Leaf N changes with N supply do not correspond to photosynthesis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8D9B9E-448F-AA8B-BC06-18E199F8B79A}"/>
              </a:ext>
            </a:extLst>
          </p:cNvPr>
          <p:cNvSpPr txBox="1"/>
          <p:nvPr/>
        </p:nvSpPr>
        <p:spPr>
          <a:xfrm>
            <a:off x="0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(2021) </a:t>
            </a:r>
            <a:r>
              <a:rPr lang="en-US" i="1" dirty="0"/>
              <a:t>J Exp Bot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A974B-7A8A-2059-B05D-53B323D8966D}"/>
              </a:ext>
            </a:extLst>
          </p:cNvPr>
          <p:cNvSpPr txBox="1"/>
          <p:nvPr/>
        </p:nvSpPr>
        <p:spPr>
          <a:xfrm>
            <a:off x="9272226" y="6488668"/>
            <a:ext cx="2919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Waring et al. (2023)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879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C38D8-D8AB-C394-6E34-CE1921B1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BF813-5525-61E2-242C-5F617FB3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Nitrogen supply-demand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41503-7EB2-5D3C-1332-EB1E6DC27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Added soil N makes it cheaper for plants to obtain N regardless of demand</a:t>
            </a:r>
          </a:p>
          <a:p>
            <a:pPr lvl="1"/>
            <a:r>
              <a:rPr lang="en-US" sz="1600" dirty="0"/>
              <a:t>Relative impact greatest when demand is greatest</a:t>
            </a:r>
          </a:p>
          <a:p>
            <a:r>
              <a:rPr lang="en-US" sz="1800" dirty="0"/>
              <a:t>Both supply and demand impact leaf N</a:t>
            </a:r>
          </a:p>
          <a:p>
            <a:r>
              <a:rPr lang="en-US" sz="1800" dirty="0"/>
              <a:t>Leaf N changes with N demand correspond to photosynthesis</a:t>
            </a:r>
          </a:p>
          <a:p>
            <a:r>
              <a:rPr lang="en-US" sz="1800" dirty="0"/>
              <a:t>Leaf N changes with N supply do not correspond to photosynthesis</a:t>
            </a:r>
          </a:p>
          <a:p>
            <a:r>
              <a:rPr lang="en-US" dirty="0">
                <a:solidFill>
                  <a:srgbClr val="011893"/>
                </a:solidFill>
              </a:rPr>
              <a:t>All responses stronger in cotton than soybean, confirmed to be due to N fixation (Perkowski et al., 2024)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B4162-8BEA-D4DF-B337-33448B5F8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76" y="4688267"/>
            <a:ext cx="7772400" cy="210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84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E7DB-367B-5215-F44E-E14EFC79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0066-6622-5F96-A5FA-21F4CEA7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694B-9070-97B8-BDCC-844D2FA31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Photosynthetic least cost theory and its relation to nutrients</a:t>
            </a:r>
          </a:p>
          <a:p>
            <a:r>
              <a:rPr lang="en-US" dirty="0"/>
              <a:t>Tests of the theory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The interactions between nutrient supply and demand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Responses to elevated CO</a:t>
            </a:r>
            <a:r>
              <a:rPr lang="en-US" baseline="-25000" dirty="0"/>
              <a:t>2</a:t>
            </a:r>
          </a:p>
          <a:p>
            <a:r>
              <a:rPr lang="en-US" dirty="0">
                <a:solidFill>
                  <a:schemeClr val="bg2"/>
                </a:solidFill>
              </a:rPr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500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A96F2D-8603-4A68-F02F-AE22CC389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01" y="1345326"/>
            <a:ext cx="9995716" cy="31425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A276C0-0F1F-B7ED-9BD5-98F6C0B4EC32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7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87F4E-22C7-5990-2611-521ACFC20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D1C2-CDD9-0681-5CD3-A3F65826B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01317-1D73-50C6-9F45-48F88CC5F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nitrogen supply influence photosynthetic demand-driven responses to changes in in CO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018D2-CCD0-ED5C-24B7-E23258B6E329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927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F0E1F-62CD-1A61-4EC9-8F1C56F8E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9C19B-7E36-9CDE-6690-E0F48E61D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B488F-3B42-B159-8BA1-972405C27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nitrogen supply influence photosynthetic demand-driven responses to changes in in CO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7335CDCC-E770-CBC6-8DCE-009901BB7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46834"/>
            <a:ext cx="3641834" cy="36418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29ED71-CA69-B53B-CF59-C2B253DA6E7F}"/>
              </a:ext>
            </a:extLst>
          </p:cNvPr>
          <p:cNvSpPr txBox="1"/>
          <p:nvPr/>
        </p:nvSpPr>
        <p:spPr>
          <a:xfrm>
            <a:off x="0" y="6481943"/>
            <a:ext cx="419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014E2-6E51-B6C3-B39D-71490769ED1C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036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F0E10-9563-CCC6-4448-75821400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8B7B8-743D-A855-DB97-2C6832F1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nitrogen supply influence photosynthetic demand-driven responses to changes in in CO</a:t>
            </a:r>
            <a:r>
              <a:rPr lang="en-US" baseline="-25000" dirty="0"/>
              <a:t>2</a:t>
            </a:r>
            <a:r>
              <a:rPr lang="en-US" dirty="0"/>
              <a:t>?</a:t>
            </a:r>
          </a:p>
        </p:txBody>
      </p:sp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2C372263-5206-24F5-2D44-B4D46F4C7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46834"/>
            <a:ext cx="3641834" cy="36418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114F12-EB61-5787-CFA6-2F811ECDC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5754" y="2851040"/>
            <a:ext cx="3382373" cy="3479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6231E8-8B09-0018-B268-E82A5899F4A6}"/>
              </a:ext>
            </a:extLst>
          </p:cNvPr>
          <p:cNvSpPr txBox="1"/>
          <p:nvPr/>
        </p:nvSpPr>
        <p:spPr>
          <a:xfrm>
            <a:off x="0" y="6481943"/>
            <a:ext cx="419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and Keenan (2020)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EAC2A1-FBCB-FED2-F142-9EA53439B341}"/>
              </a:ext>
            </a:extLst>
          </p:cNvPr>
          <p:cNvSpPr txBox="1"/>
          <p:nvPr/>
        </p:nvSpPr>
        <p:spPr>
          <a:xfrm>
            <a:off x="8397647" y="4156394"/>
            <a:ext cx="35900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11893"/>
                </a:solidFill>
              </a:rPr>
              <a:t>Boxes = data = -0.0063 Pa</a:t>
            </a:r>
            <a:r>
              <a:rPr lang="en-US" sz="2000" baseline="30000" dirty="0">
                <a:solidFill>
                  <a:srgbClr val="011893"/>
                </a:solidFill>
              </a:rPr>
              <a:t>-1</a:t>
            </a:r>
            <a:endParaRPr lang="en-US" sz="2000" dirty="0">
              <a:solidFill>
                <a:srgbClr val="011893"/>
              </a:solidFill>
            </a:endParaRPr>
          </a:p>
          <a:p>
            <a:r>
              <a:rPr lang="en-US" sz="2000" dirty="0">
                <a:solidFill>
                  <a:srgbClr val="011893"/>
                </a:solidFill>
              </a:rPr>
              <a:t>Circles = predicted = -0.0066 Pa</a:t>
            </a:r>
            <a:r>
              <a:rPr lang="en-US" sz="2000" baseline="30000" dirty="0">
                <a:solidFill>
                  <a:srgbClr val="011893"/>
                </a:solidFill>
              </a:rPr>
              <a:t>-1</a:t>
            </a:r>
            <a:endParaRPr lang="en-US" sz="2000" dirty="0">
              <a:solidFill>
                <a:srgbClr val="01189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84949F-3998-F0F8-F0C4-9DCA6E06721E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462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14F6B-F09A-9906-A5F6-33398CAE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CD6E-E223-49D3-02CD-72C29F80E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factorial growth chamber experiment</a:t>
            </a:r>
          </a:p>
          <a:p>
            <a:r>
              <a:rPr lang="en-US" dirty="0"/>
              <a:t>Treatments</a:t>
            </a:r>
          </a:p>
          <a:p>
            <a:pPr lvl="1"/>
            <a:r>
              <a:rPr lang="en-US" dirty="0"/>
              <a:t>Species: soybean w/ and w/o rhizobia</a:t>
            </a:r>
          </a:p>
          <a:p>
            <a:pPr lvl="1"/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: 2 levels (400 &amp; 1000 ppm)</a:t>
            </a:r>
          </a:p>
          <a:p>
            <a:pPr lvl="1"/>
            <a:r>
              <a:rPr lang="en-US" dirty="0"/>
              <a:t>Nitrogen: 0 levels (0-630 ppm Hoagland’s)</a:t>
            </a:r>
          </a:p>
          <a:p>
            <a:r>
              <a:rPr lang="en-US" dirty="0"/>
              <a:t>Measurements</a:t>
            </a:r>
          </a:p>
          <a:p>
            <a:pPr lvl="1"/>
            <a:r>
              <a:rPr lang="en-US" dirty="0"/>
              <a:t>Biomass and nutrient partitioning among organs</a:t>
            </a:r>
          </a:p>
          <a:p>
            <a:pPr lvl="1"/>
            <a:r>
              <a:rPr lang="en-US" dirty="0"/>
              <a:t>Leaf gas exchange and chemistry</a:t>
            </a:r>
          </a:p>
        </p:txBody>
      </p:sp>
      <p:pic>
        <p:nvPicPr>
          <p:cNvPr id="5" name="Picture 4" descr="A couple of men standing in a room with machines&#10;&#10;AI-generated content may be incorrect.">
            <a:extLst>
              <a:ext uri="{FF2B5EF4-FFF2-40B4-BE49-F238E27FC236}">
                <a16:creationId xmlns:a16="http://schemas.microsoft.com/office/drawing/2014/main" id="{42537B8D-B757-DFD1-160B-C0BF12FE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785" y="2006819"/>
            <a:ext cx="3792483" cy="28443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CB4E0A-BEC2-1633-FAC5-32E25E141881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017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394A-E7E8-2DBB-A328-092B9D2C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</a:t>
            </a:r>
            <a:r>
              <a:rPr lang="en-US" dirty="0"/>
              <a:t> 1: N supply increases leaf N, CO</a:t>
            </a:r>
            <a:r>
              <a:rPr lang="en-US" baseline="-25000" dirty="0"/>
              <a:t>2</a:t>
            </a:r>
            <a:r>
              <a:rPr lang="en-US" dirty="0"/>
              <a:t> decreases leaf N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D978527C-D1CF-0E65-9E0F-E5B8586BFE7A}"/>
              </a:ext>
            </a:extLst>
          </p:cNvPr>
          <p:cNvPicPr/>
          <p:nvPr/>
        </p:nvPicPr>
        <p:blipFill>
          <a:blip r:embed="rId2"/>
          <a:srcRect r="62782"/>
          <a:stretch>
            <a:fillRect/>
          </a:stretch>
        </p:blipFill>
        <p:spPr>
          <a:xfrm>
            <a:off x="1747345" y="2117833"/>
            <a:ext cx="4085896" cy="3537432"/>
          </a:xfrm>
          <a:prstGeom prst="rect">
            <a:avLst/>
          </a:prstGeom>
        </p:spPr>
      </p:pic>
      <p:pic>
        <p:nvPicPr>
          <p:cNvPr id="5" name="New picture">
            <a:extLst>
              <a:ext uri="{FF2B5EF4-FFF2-40B4-BE49-F238E27FC236}">
                <a16:creationId xmlns:a16="http://schemas.microsoft.com/office/drawing/2014/main" id="{2186998F-44DF-BFD7-5452-B382677E4308}"/>
              </a:ext>
            </a:extLst>
          </p:cNvPr>
          <p:cNvPicPr/>
          <p:nvPr/>
        </p:nvPicPr>
        <p:blipFill>
          <a:blip r:embed="rId2"/>
          <a:srcRect l="74998"/>
          <a:stretch>
            <a:fillRect/>
          </a:stretch>
        </p:blipFill>
        <p:spPr>
          <a:xfrm>
            <a:off x="6201103" y="2117833"/>
            <a:ext cx="2732690" cy="3521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1784ED-9305-4629-9796-D909C660A3C5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84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2BF1F-7E97-9CA4-C1AA-B31E4A1E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</a:t>
            </a:r>
            <a:r>
              <a:rPr lang="en-US" dirty="0"/>
              <a:t> 2: CO</a:t>
            </a:r>
            <a:r>
              <a:rPr lang="en-US" baseline="-25000" dirty="0"/>
              <a:t>2</a:t>
            </a:r>
            <a:r>
              <a:rPr lang="en-US" dirty="0"/>
              <a:t> effect is consistent and due to reduction in photosynthetic capacity </a:t>
            </a:r>
          </a:p>
        </p:txBody>
      </p:sp>
      <p:pic>
        <p:nvPicPr>
          <p:cNvPr id="3" name="Picture 2" descr="A diagram of different types of soil fertilization&#10;&#10;Description automatically generated">
            <a:extLst>
              <a:ext uri="{FF2B5EF4-FFF2-40B4-BE49-F238E27FC236}">
                <a16:creationId xmlns:a16="http://schemas.microsoft.com/office/drawing/2014/main" id="{C4A238B0-392D-8D9A-6B61-260A6F8BFF48}"/>
              </a:ext>
            </a:extLst>
          </p:cNvPr>
          <p:cNvPicPr/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0002" y="2280744"/>
            <a:ext cx="4135658" cy="3642961"/>
          </a:xfrm>
          <a:prstGeom prst="rect">
            <a:avLst/>
          </a:prstGeom>
        </p:spPr>
      </p:pic>
      <p:pic>
        <p:nvPicPr>
          <p:cNvPr id="4" name="Picture 3" descr="A diagram of different types of soil fertilization&#10;&#10;Description automatically generated">
            <a:extLst>
              <a:ext uri="{FF2B5EF4-FFF2-40B4-BE49-F238E27FC236}">
                <a16:creationId xmlns:a16="http://schemas.microsoft.com/office/drawing/2014/main" id="{255A0169-BF7D-2505-2C46-BCB1730CD5FE}"/>
              </a:ext>
            </a:extLst>
          </p:cNvPr>
          <p:cNvPicPr/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3297777"/>
            <a:ext cx="2908738" cy="16948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D4CE1D-72BA-D539-461A-87D369E20D41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1796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B5842-1495-2B00-A26E-DBB54AC8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Takehome</a:t>
            </a:r>
            <a:r>
              <a:rPr lang="en-US" dirty="0"/>
              <a:t> 3: reliance on N-fixing bacteria decreases with increasing soil N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F1F3D7EF-AB05-895A-F96B-739466631C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7442" y="2075793"/>
            <a:ext cx="6810546" cy="38625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B4306E-733A-13E8-FA79-8146F0122FEA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578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C71AE-2BF3-A3C0-9B7E-3CFD1A0C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6B93-CFB8-2167-64C3-167EE577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-N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A38D-7F0D-6DA7-F640-CF79B65DC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Little interaction between soil N supply and CO</a:t>
            </a:r>
            <a:r>
              <a:rPr lang="en-US" baseline="-25000" dirty="0"/>
              <a:t>2</a:t>
            </a:r>
            <a:r>
              <a:rPr lang="en-US" dirty="0"/>
              <a:t>-driven changes in N demand</a:t>
            </a:r>
          </a:p>
          <a:p>
            <a:pPr lvl="1"/>
            <a:r>
              <a:rPr lang="en-US" dirty="0"/>
              <a:t>Soil N supply increases leaf N and photosynthetic capacity</a:t>
            </a:r>
          </a:p>
          <a:p>
            <a:pPr lvl="1"/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reduces photosynthetic demand, leaf N, and photosynthetic capacity (independent of soil N)</a:t>
            </a:r>
          </a:p>
          <a:p>
            <a:r>
              <a:rPr lang="en-US" dirty="0"/>
              <a:t>As in previous experiment, soil N supply responses are reduced in individuals capable of N fixation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9F2FA-8E0A-F283-1E8A-972610196B8B}"/>
              </a:ext>
            </a:extLst>
          </p:cNvPr>
          <p:cNvSpPr txBox="1"/>
          <p:nvPr/>
        </p:nvSpPr>
        <p:spPr>
          <a:xfrm>
            <a:off x="9007026" y="6488668"/>
            <a:ext cx="318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Perkowski et al. (2025) </a:t>
            </a:r>
            <a:r>
              <a:rPr lang="en-US" i="1" dirty="0"/>
              <a:t>J Exp Bot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47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75BA-7FC5-2BCF-EB99-E2E4B3B9D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plants do with this saved 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03996-CA6E-73F3-6736-1BE1339428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956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5F0D-6BE1-A043-8651-560309587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plants save N under elevated CO</a:t>
            </a:r>
            <a:r>
              <a:rPr lang="en-US" baseline="-25000" dirty="0"/>
              <a:t>2</a:t>
            </a:r>
            <a:r>
              <a:rPr lang="en-US" dirty="0"/>
              <a:t>, they build more leaves and roots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8DD1F-67B0-7F4C-8749-7CAC6A1F2E4B}"/>
              </a:ext>
            </a:extLst>
          </p:cNvPr>
          <p:cNvSpPr txBox="1"/>
          <p:nvPr/>
        </p:nvSpPr>
        <p:spPr>
          <a:xfrm>
            <a:off x="8635834" y="6488668"/>
            <a:ext cx="355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97BD6D-A738-EA4B-B4A7-E45452B7A1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24897" y="2233749"/>
            <a:ext cx="9742206" cy="3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76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0DE3-F828-2443-B6EF-1FF37DDE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N savings increases long-term ecosystem carbon stocks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A4A73-C0C2-474F-82AD-D7C8128EC938}"/>
              </a:ext>
            </a:extLst>
          </p:cNvPr>
          <p:cNvSpPr txBox="1"/>
          <p:nvPr/>
        </p:nvSpPr>
        <p:spPr>
          <a:xfrm>
            <a:off x="8635834" y="6488668"/>
            <a:ext cx="3556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Smith et al. (2024) </a:t>
            </a:r>
            <a:r>
              <a:rPr lang="en-US" i="1" dirty="0"/>
              <a:t>Glob Change </a:t>
            </a:r>
            <a:r>
              <a:rPr lang="en-US" i="1" dirty="0" err="1"/>
              <a:t>Biol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60C163-4D35-6E46-90AA-F681D8B63D8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200" y="1972491"/>
            <a:ext cx="7587264" cy="3644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943F66-C997-9D4B-B293-B47511D9D9E0}"/>
              </a:ext>
            </a:extLst>
          </p:cNvPr>
          <p:cNvSpPr txBox="1"/>
          <p:nvPr/>
        </p:nvSpPr>
        <p:spPr>
          <a:xfrm>
            <a:off x="8635834" y="2717074"/>
            <a:ext cx="35561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11893"/>
                </a:solidFill>
              </a:rPr>
              <a:t>50% increase in ecosystem carbon from CO</a:t>
            </a:r>
            <a:r>
              <a:rPr lang="en-US" sz="3200" baseline="-25000" dirty="0">
                <a:solidFill>
                  <a:srgbClr val="011893"/>
                </a:solidFill>
              </a:rPr>
              <a:t>2</a:t>
            </a:r>
            <a:r>
              <a:rPr lang="en-US" sz="3200" dirty="0">
                <a:solidFill>
                  <a:srgbClr val="011893"/>
                </a:solidFill>
              </a:rPr>
              <a:t> acclimation</a:t>
            </a:r>
          </a:p>
        </p:txBody>
      </p:sp>
    </p:spTree>
    <p:extLst>
      <p:ext uri="{BB962C8B-B14F-4D97-AF65-F5344CB8AC3E}">
        <p14:creationId xmlns:p14="http://schemas.microsoft.com/office/powerpoint/2010/main" val="2368230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567D-0BFE-3D0F-1CF4-C0AFB483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D645-E738-34A1-622B-B287B71EC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Talk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BFB3D-3A56-E251-BDE1-A641A47E3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Photosynthetic least cost theory and its relation to nutrients</a:t>
            </a:r>
          </a:p>
          <a:p>
            <a:r>
              <a:rPr lang="en-US" dirty="0">
                <a:solidFill>
                  <a:schemeClr val="bg2"/>
                </a:solidFill>
              </a:rPr>
              <a:t>Tests of the theory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The interactions between nutrient supply and demand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/>
                </a:solidFill>
              </a:rPr>
              <a:t>Responses to elevated CO</a:t>
            </a:r>
            <a:r>
              <a:rPr lang="en-US" baseline="-25000" dirty="0">
                <a:solidFill>
                  <a:schemeClr val="bg2"/>
                </a:solidFill>
              </a:rPr>
              <a:t>2</a:t>
            </a:r>
          </a:p>
          <a:p>
            <a:r>
              <a:rPr lang="en-US" dirty="0"/>
              <a:t>Conclusions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99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9AEFD-1B5D-B64C-3C67-7F218377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B355-DFEE-4016-D5A7-74EEE455C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82624" cy="4351338"/>
          </a:xfrm>
        </p:spPr>
        <p:txBody>
          <a:bodyPr/>
          <a:lstStyle/>
          <a:p>
            <a:r>
              <a:rPr lang="en-US" dirty="0"/>
              <a:t>Plants aren’t dumb!</a:t>
            </a:r>
          </a:p>
          <a:p>
            <a:pPr lvl="1"/>
            <a:r>
              <a:rPr lang="en-US" dirty="0"/>
              <a:t>They respond dynamically to changes in their environment</a:t>
            </a:r>
          </a:p>
          <a:p>
            <a:pPr lvl="1"/>
            <a:r>
              <a:rPr lang="en-US" dirty="0"/>
              <a:t>This includes changes in nutrient availability and nutrient demand</a:t>
            </a:r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2089C4D1-8987-D783-B577-F0C294912E79}"/>
              </a:ext>
            </a:extLst>
          </p:cNvPr>
          <p:cNvSpPr/>
          <p:nvPr/>
        </p:nvSpPr>
        <p:spPr>
          <a:xfrm>
            <a:off x="7620825" y="3043575"/>
            <a:ext cx="3732975" cy="3645243"/>
          </a:xfrm>
          <a:prstGeom prst="noSmoking">
            <a:avLst>
              <a:gd name="adj" fmla="val 599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67EE1-CA4A-435B-34D3-D17E20B11214}"/>
              </a:ext>
            </a:extLst>
          </p:cNvPr>
          <p:cNvSpPr txBox="1"/>
          <p:nvPr/>
        </p:nvSpPr>
        <p:spPr>
          <a:xfrm>
            <a:off x="7935573" y="4481475"/>
            <a:ext cx="31034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Dumb plants</a:t>
            </a:r>
          </a:p>
        </p:txBody>
      </p:sp>
    </p:spTree>
    <p:extLst>
      <p:ext uri="{BB962C8B-B14F-4D97-AF65-F5344CB8AC3E}">
        <p14:creationId xmlns:p14="http://schemas.microsoft.com/office/powerpoint/2010/main" val="33232796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6E83-40A7-A156-BCF6-BC3000DE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063E-D9F7-28D6-844A-C131F97C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A4BE0-E895-12D8-7519-38A4FEE82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8501" cy="4351338"/>
          </a:xfrm>
        </p:spPr>
        <p:txBody>
          <a:bodyPr/>
          <a:lstStyle/>
          <a:p>
            <a:r>
              <a:rPr lang="en-US" dirty="0"/>
              <a:t>Quantified theory can help to better understand the mechanisms underlying these response dynamics</a:t>
            </a:r>
          </a:p>
          <a:p>
            <a:pPr lvl="1"/>
            <a:r>
              <a:rPr lang="en-US" dirty="0"/>
              <a:t>Can be used to predict plant-to-ecosystem level responses to environmental variability</a:t>
            </a:r>
          </a:p>
        </p:txBody>
      </p:sp>
      <p:pic>
        <p:nvPicPr>
          <p:cNvPr id="6" name="Picture 5" descr="A red flower with green leaves&#10;&#10;Description automatically generated with low confidence">
            <a:extLst>
              <a:ext uri="{FF2B5EF4-FFF2-40B4-BE49-F238E27FC236}">
                <a16:creationId xmlns:a16="http://schemas.microsoft.com/office/drawing/2014/main" id="{07C83C61-8795-54A5-2027-249464AC942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4834" y="4001294"/>
            <a:ext cx="1971799" cy="2629065"/>
          </a:xfrm>
          <a:prstGeom prst="rect">
            <a:avLst/>
          </a:prstGeom>
        </p:spPr>
      </p:pic>
      <p:pic>
        <p:nvPicPr>
          <p:cNvPr id="7" name="Picture 6" descr="A picture containing tree, outdoor, plant, forest&#10;&#10;Description automatically generated">
            <a:extLst>
              <a:ext uri="{FF2B5EF4-FFF2-40B4-BE49-F238E27FC236}">
                <a16:creationId xmlns:a16="http://schemas.microsoft.com/office/drawing/2014/main" id="{740ACA11-79C7-AC17-66DA-659A05177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62" y="4228932"/>
            <a:ext cx="3325505" cy="2494129"/>
          </a:xfrm>
          <a:prstGeom prst="rect">
            <a:avLst/>
          </a:prstGeom>
        </p:spPr>
      </p:pic>
      <p:pic>
        <p:nvPicPr>
          <p:cNvPr id="8" name="Picture 7" descr="A landscape with hills and trees&#10;&#10;Description automatically generated with low confidence">
            <a:extLst>
              <a:ext uri="{FF2B5EF4-FFF2-40B4-BE49-F238E27FC236}">
                <a16:creationId xmlns:a16="http://schemas.microsoft.com/office/drawing/2014/main" id="{657C42C2-EB8C-337B-A355-9A086C81D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197" y="4228933"/>
            <a:ext cx="3325504" cy="24941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FE2807-6961-AC1E-9431-8FC8A4FD9531}"/>
              </a:ext>
            </a:extLst>
          </p:cNvPr>
          <p:cNvCxnSpPr>
            <a:stCxn id="6" idx="3"/>
          </p:cNvCxnSpPr>
          <p:nvPr/>
        </p:nvCxnSpPr>
        <p:spPr>
          <a:xfrm flipV="1">
            <a:off x="2976633" y="5315826"/>
            <a:ext cx="1034529" cy="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47B34F0-1FFA-F1FB-0883-01C591BCF239}"/>
              </a:ext>
            </a:extLst>
          </p:cNvPr>
          <p:cNvCxnSpPr/>
          <p:nvPr/>
        </p:nvCxnSpPr>
        <p:spPr>
          <a:xfrm flipV="1">
            <a:off x="7336667" y="5315826"/>
            <a:ext cx="1034529" cy="1"/>
          </a:xfrm>
          <a:prstGeom prst="straightConnector1">
            <a:avLst/>
          </a:prstGeom>
          <a:ln w="762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066555-FA61-4EA1-60B8-EE0F952E2277}"/>
              </a:ext>
            </a:extLst>
          </p:cNvPr>
          <p:cNvSpPr txBox="1"/>
          <p:nvPr/>
        </p:nvSpPr>
        <p:spPr>
          <a:xfrm>
            <a:off x="3108204" y="4719224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dirty="0">
                <a:solidFill>
                  <a:srgbClr val="011893"/>
                </a:solidFill>
              </a:rPr>
              <a:t>(x)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AC03B4-E6B0-FB82-7287-E81CD257B81A}"/>
              </a:ext>
            </a:extLst>
          </p:cNvPr>
          <p:cNvSpPr txBox="1"/>
          <p:nvPr/>
        </p:nvSpPr>
        <p:spPr>
          <a:xfrm>
            <a:off x="7524143" y="4719224"/>
            <a:ext cx="598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1189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sz="2400" dirty="0">
                <a:solidFill>
                  <a:srgbClr val="011893"/>
                </a:solidFill>
              </a:rPr>
              <a:t>(x)</a:t>
            </a:r>
          </a:p>
        </p:txBody>
      </p:sp>
    </p:spTree>
    <p:extLst>
      <p:ext uri="{BB962C8B-B14F-4D97-AF65-F5344CB8AC3E}">
        <p14:creationId xmlns:p14="http://schemas.microsoft.com/office/powerpoint/2010/main" val="24148693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1004" y="19484"/>
            <a:ext cx="9630770" cy="6838516"/>
          </a:xfrm>
          <a:prstGeom prst="rect">
            <a:avLst/>
          </a:prstGeom>
        </p:spPr>
      </p:pic>
      <p:sp>
        <p:nvSpPr>
          <p:cNvPr id="4" name="Oval Callout 3"/>
          <p:cNvSpPr/>
          <p:nvPr/>
        </p:nvSpPr>
        <p:spPr>
          <a:xfrm>
            <a:off x="7812741" y="2286000"/>
            <a:ext cx="2070847" cy="1452282"/>
          </a:xfrm>
          <a:prstGeom prst="wedgeEllipseCallout">
            <a:avLst>
              <a:gd name="adj1" fmla="val -76028"/>
              <a:gd name="adj2" fmla="val 84722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Thanks!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F0BB1-5183-D24C-9A32-AECF3E7CDD10}"/>
              </a:ext>
            </a:extLst>
          </p:cNvPr>
          <p:cNvSpPr txBox="1"/>
          <p:nvPr/>
        </p:nvSpPr>
        <p:spPr>
          <a:xfrm>
            <a:off x="1460313" y="169588"/>
            <a:ext cx="8453981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Presentation available at:</a:t>
            </a:r>
          </a:p>
          <a:p>
            <a:r>
              <a:rPr lang="en-US" sz="2800" dirty="0" err="1"/>
              <a:t>www.github.com</a:t>
            </a:r>
            <a:r>
              <a:rPr lang="en-US" sz="2800" dirty="0"/>
              <a:t>/</a:t>
            </a:r>
            <a:r>
              <a:rPr lang="en-US" sz="2800" dirty="0" err="1"/>
              <a:t>SmithEcophysLab</a:t>
            </a:r>
            <a:r>
              <a:rPr lang="en-US" sz="2800" dirty="0"/>
              <a:t>/seminar/gpsfc_2026</a:t>
            </a:r>
          </a:p>
          <a:p>
            <a:endParaRPr lang="en-US" sz="2800" dirty="0"/>
          </a:p>
          <a:p>
            <a:r>
              <a:rPr lang="en-US" sz="2800" dirty="0"/>
              <a:t>Contact: </a:t>
            </a:r>
            <a:r>
              <a:rPr lang="en-US" sz="2800" dirty="0" err="1"/>
              <a:t>nick.smith@ttu.edu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6669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1351</Words>
  <Application>Microsoft Macintosh PowerPoint</Application>
  <PresentationFormat>Widescreen</PresentationFormat>
  <Paragraphs>179</Paragraphs>
  <Slides>43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Office Theme</vt:lpstr>
      <vt:lpstr>Using theory and experiments to understand plant physiological responses to nutrient availability</vt:lpstr>
      <vt:lpstr>PowerPoint Presentation</vt:lpstr>
      <vt:lpstr>PowerPoint Presentation</vt:lpstr>
      <vt:lpstr>Talk outline</vt:lpstr>
      <vt:lpstr>Talk outline</vt:lpstr>
      <vt:lpstr>Photosynthetic least cost theory</vt:lpstr>
      <vt:lpstr>Photosynthetic least cost theory</vt:lpstr>
      <vt:lpstr>PowerPoint Presentation</vt:lpstr>
      <vt:lpstr>Photosynthetic least cost theory</vt:lpstr>
      <vt:lpstr>PowerPoint Presentation</vt:lpstr>
      <vt:lpstr>PowerPoint Presentation</vt:lpstr>
      <vt:lpstr>Photosynthetic least cost theory</vt:lpstr>
      <vt:lpstr>PowerPoint Presentation</vt:lpstr>
      <vt:lpstr>PowerPoint Presentation</vt:lpstr>
      <vt:lpstr>PowerPoint Presentation</vt:lpstr>
      <vt:lpstr>PowerPoint Presentation</vt:lpstr>
      <vt:lpstr>Talk outline</vt:lpstr>
      <vt:lpstr>PowerPoint Presentation</vt:lpstr>
      <vt:lpstr>Main questions</vt:lpstr>
      <vt:lpstr>Experimental setup</vt:lpstr>
      <vt:lpstr>Takehome 1: C cost to acquire N increases with N demand and decreases with N supply*</vt:lpstr>
      <vt:lpstr>Takehome 2: Leaf N increases with N demand and supply* </vt:lpstr>
      <vt:lpstr>Takehome 3: increased leaf N generally* corresponds to increased photosynthetic capacity</vt:lpstr>
      <vt:lpstr>Takehome 4: most of increased leaf N going to non-photosynthetic processes*</vt:lpstr>
      <vt:lpstr>Nitrogen supply-demand results</vt:lpstr>
      <vt:lpstr>Nitrogen supply-demand results</vt:lpstr>
      <vt:lpstr>Talk outline</vt:lpstr>
      <vt:lpstr>PowerPoint Presentation</vt:lpstr>
      <vt:lpstr>Main questions</vt:lpstr>
      <vt:lpstr>Main questions</vt:lpstr>
      <vt:lpstr>Main questions</vt:lpstr>
      <vt:lpstr>Experimental setup</vt:lpstr>
      <vt:lpstr>Takehome 1: N supply increases leaf N, CO2 decreases leaf N</vt:lpstr>
      <vt:lpstr>Takehome 2: CO2 effect is consistent and due to reduction in photosynthetic capacity </vt:lpstr>
      <vt:lpstr>Takehome 3: reliance on N-fixing bacteria decreases with increasing soil N</vt:lpstr>
      <vt:lpstr>CO2-N results</vt:lpstr>
      <vt:lpstr>What do plants do with this saved N?</vt:lpstr>
      <vt:lpstr>When plants save N under elevated CO2, they build more leaves and roots</vt:lpstr>
      <vt:lpstr>Leaf N savings increases long-term ecosystem carbon stocks</vt:lpstr>
      <vt:lpstr>Talk outline</vt:lpstr>
      <vt:lpstr>Conclusions</vt:lpstr>
      <vt:lpstr>Conclusions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Photosynthetic acclimation through the lens of optimality</dc:title>
  <dc:creator>Smith, Nick</dc:creator>
  <cp:lastModifiedBy>Smith, Nick</cp:lastModifiedBy>
  <cp:revision>491</cp:revision>
  <cp:lastPrinted>2019-07-23T15:57:34Z</cp:lastPrinted>
  <dcterms:created xsi:type="dcterms:W3CDTF">2019-07-15T15:11:58Z</dcterms:created>
  <dcterms:modified xsi:type="dcterms:W3CDTF">2026-03-02T16:26:45Z</dcterms:modified>
</cp:coreProperties>
</file>