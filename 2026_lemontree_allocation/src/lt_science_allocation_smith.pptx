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83" r:id="rId10"/>
    <p:sldId id="284" r:id="rId11"/>
    <p:sldId id="286" r:id="rId12"/>
    <p:sldId id="285" r:id="rId13"/>
    <p:sldId id="287" r:id="rId14"/>
    <p:sldId id="288" r:id="rId15"/>
    <p:sldId id="290" r:id="rId16"/>
    <p:sldId id="289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5"/>
    <p:restoredTop sz="94658"/>
  </p:normalViewPr>
  <p:slideViewPr>
    <p:cSldViewPr snapToGrid="0">
      <p:cViewPr varScale="1">
        <p:scale>
          <a:sx n="121" d="100"/>
          <a:sy n="121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6887C-D374-F845-9C20-29EF72145A2E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7FD78-2F04-6346-8027-D4637A85E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2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7FD78-2F04-6346-8027-D4637A85E1F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36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8B33-31CF-DD99-0FD2-25149CE6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68CB8-E395-63C3-4068-CC0EDFD34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4A5AB-9F40-9378-0A11-37A33125A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8471E-5226-2960-A555-E40073A59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7FD78-2F04-6346-8027-D4637A85E1F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92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302D-1EE9-954A-809C-3B6D69754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B2023-ED91-17B0-11F9-B9E97220E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3E5BE-FEBB-4F3B-A281-7AC0D7EA8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EAD85-0A2A-2947-9156-C4A304884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7FD78-2F04-6346-8027-D4637A85E1F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51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5FD42-742B-E931-2ABC-55261955D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D6F73-F928-ACF6-1CDD-D5CBAAEBB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DEFF3-CE5F-49AA-59D9-3FCA5B20F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07DA8-4E18-1C60-66BE-36BAA571F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7FD78-2F04-6346-8027-D4637A85E1F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63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712A-7F46-3BD2-81F4-70E21898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6ADEF-F91F-3DE2-5F6F-C0CA9B203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C8807-E1E3-B130-9597-F01BCB53C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AA5B2-41C7-1673-2D6E-6BE948A84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7FD78-2F04-6346-8027-D4637A85E1F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58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7FD78-2F04-6346-8027-D4637A85E1F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61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3196F-C92F-2D3B-E61B-990B790EA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17841-528E-733B-8A20-C0D1A34BA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524F8-A074-E824-5BC9-754BDFFA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CDA9C-264C-25C4-6AE8-E7170B26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A0C08-6DF3-77A2-2FEB-9543C9E0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6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9374-F9DE-9383-DDA4-0F05053C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2595-B4D2-66DA-1291-A049701C3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9390B-28DA-76CF-0F2F-6F4A3B13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3272D-ED14-0E02-7301-8312B782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84E43-6A24-DFFC-A7EE-0695E73EB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062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3209-BA28-3E28-A624-00129471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C37D-093C-BE8D-6FA2-4D1FF3787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415F-AFA6-C477-3E61-9BAC6D01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8CCEA-92E1-D5F1-BBDD-B2375561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E6E80-E7CE-BFCA-B325-D3A9DF5A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2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DA9F-480F-0430-E3B9-DCC8E19C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3696F-DE65-651D-8143-51A8B7FB3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0BC98-8C3B-8C17-2D8C-3398CA5AD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C835B-1D9C-AA0C-0BE2-02C73A27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C57FD-237D-3984-5FAC-804EDAD8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61E79-44AC-A23B-E8CB-F7356E41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18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0714-2669-F5E2-25BA-C6763A5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F3C84-FA60-2677-A32A-B6B93D1E1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ACC29-AAA0-D3C2-375D-01DCF09E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B75C26-A97A-F163-01DB-557168F08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9448F-1273-D7BD-A86F-52F9AD8C8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654C4-FAA2-1C8E-A432-A4C81EFC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E3D4A3-A796-2DBB-BCD8-C248E42E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2535C-3E3D-662D-72ED-A51C7064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4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ED82-D50C-3C24-0B85-67A72F46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D136C-8527-64E4-B1D8-FE59B06C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7E7F8-5395-266A-297D-B8965976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F8289-DD4F-05C4-CF9D-94E73DF2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3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C63B5-864E-E269-F8F2-26FF9EE3B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4A973-D7F6-E1E6-28EF-B2461AAC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5B316-BA20-0E49-32F9-B44E4829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0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523E-61A0-68BC-CEB6-086D64530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9D128-09D9-B16C-8C2D-8720D095D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706E2-63BA-5164-CED0-711E707E6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9B749-B3EF-80DF-9596-A75D5C19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418F3-5EA5-11DB-343F-E45240E1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95A10-6AFF-CB03-CB70-77FB4EB2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A269-DD40-D179-2284-A0E40AAA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1F982-5AAA-7A54-0E4A-799D97922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54117-D682-1739-AFB7-32E3608D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C27EB-8054-F6E4-956C-586EC8CE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AF9B5-B4D1-DC81-3D60-6847B8FE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E22F2-7EEF-134E-3519-1BEC443B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79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5B3C-C627-3579-1F46-67CBAD0B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388FD-04E7-E897-57DE-CA2333895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4F2CC-8CD1-BB04-4457-7EF5DFDAE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AD33E-ED36-5139-8578-A5BE0790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06967-9C01-3221-421D-C7B0E6D4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1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B79543-4B88-E7FD-9FB2-EACC9BF86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69529-457D-5EF9-32DE-26C06055F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B033-CD31-C81B-067F-1D50CD14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EA432-5306-0417-F131-1578B0F3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C5C4A-A655-3A52-9F7F-E6574DA9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9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9B1B08-19AE-2D20-3AFA-2092DAD4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DF196-D900-68F1-4ECF-718911BAA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8039F-FCB9-B108-8B9D-E659C0289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14372-A3AC-7946-8026-7C3ECE4DF88D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046B0-6261-1B23-ED2E-758CA1558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34D37-FB84-1287-DEC5-064EE7FBF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EDD7B-270B-2D4C-A092-AD20A45EF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9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39FD-29B1-C126-B4C0-EC96A8C1F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Allocation results from manipulative experiments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8D351-5F13-1E22-3515-6E452C120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Smith</a:t>
            </a:r>
          </a:p>
          <a:p>
            <a:r>
              <a:rPr lang="en-US" dirty="0"/>
              <a:t>LEMONTREE Science meeting</a:t>
            </a:r>
          </a:p>
          <a:p>
            <a:r>
              <a:rPr lang="en-US" dirty="0"/>
              <a:t>May 21, 2026</a:t>
            </a:r>
          </a:p>
        </p:txBody>
      </p:sp>
    </p:spTree>
    <p:extLst>
      <p:ext uri="{BB962C8B-B14F-4D97-AF65-F5344CB8AC3E}">
        <p14:creationId xmlns:p14="http://schemas.microsoft.com/office/powerpoint/2010/main" val="2763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ECAB-C9E5-C4F7-E5EA-81643ACE1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measuring allocation in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71DA2-61E4-0D0A-6AB4-45B361A67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07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F39DB-A4DD-2D93-F022-AA6B7AC3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75B5-A914-D5B9-F860-9BBE0C6F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measuring allocation in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8A0A-F88D-94E0-20D4-58419551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/>
              <a:t>Nitrogen allocation</a:t>
            </a:r>
          </a:p>
          <a:p>
            <a:pPr lvl="1"/>
            <a:r>
              <a:rPr lang="en-US" dirty="0"/>
              <a:t>Phosphorus allocation</a:t>
            </a:r>
          </a:p>
        </p:txBody>
      </p:sp>
    </p:spTree>
    <p:extLst>
      <p:ext uri="{BB962C8B-B14F-4D97-AF65-F5344CB8AC3E}">
        <p14:creationId xmlns:p14="http://schemas.microsoft.com/office/powerpoint/2010/main" val="221235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7B965-64EC-DAF8-0419-450F0DEB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6187D-3BCA-EFC9-7864-BFF6DC96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measuring allocation in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252D0-68DC-6670-1309-BAB04691D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/>
              <a:t>Nitrogen allocation</a:t>
            </a:r>
          </a:p>
          <a:p>
            <a:pPr lvl="2"/>
            <a:r>
              <a:rPr lang="en-US" dirty="0"/>
              <a:t>Structure (LMA)</a:t>
            </a:r>
          </a:p>
          <a:p>
            <a:pPr lvl="2"/>
            <a:r>
              <a:rPr lang="en-US" dirty="0" err="1"/>
              <a:t>RuBisCO</a:t>
            </a:r>
            <a:r>
              <a:rPr lang="en-US" dirty="0"/>
              <a:t> (</a:t>
            </a:r>
            <a:r>
              <a:rPr lang="en-US" dirty="0" err="1"/>
              <a:t>V</a:t>
            </a:r>
            <a:r>
              <a:rPr lang="en-US" baseline="-25000" dirty="0" err="1"/>
              <a:t>cmax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Light harvesting (chlorophyll)</a:t>
            </a:r>
          </a:p>
          <a:p>
            <a:pPr lvl="2"/>
            <a:r>
              <a:rPr lang="en-US" dirty="0"/>
              <a:t>Bioenergetics (electron transport; </a:t>
            </a:r>
            <a:r>
              <a:rPr lang="en-US" dirty="0" err="1"/>
              <a:t>J</a:t>
            </a:r>
            <a:r>
              <a:rPr lang="en-US" baseline="-25000" dirty="0" err="1"/>
              <a:t>max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</p:txBody>
      </p:sp>
    </p:spTree>
    <p:extLst>
      <p:ext uri="{BB962C8B-B14F-4D97-AF65-F5344CB8AC3E}">
        <p14:creationId xmlns:p14="http://schemas.microsoft.com/office/powerpoint/2010/main" val="2991155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56F3-40CA-C4AE-7694-A17D5F88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9E60-3D5E-BC91-441B-95F01AD6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measuring allocation in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E2851-6447-F8BC-E53A-83165AFDD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/>
              <a:t>Phosphorus allocation</a:t>
            </a:r>
          </a:p>
          <a:p>
            <a:pPr lvl="2"/>
            <a:r>
              <a:rPr lang="en-US" dirty="0"/>
              <a:t>Inorganic phosphate</a:t>
            </a:r>
          </a:p>
          <a:p>
            <a:pPr lvl="2"/>
            <a:r>
              <a:rPr lang="en-US" dirty="0"/>
              <a:t>Nucleic acids</a:t>
            </a:r>
          </a:p>
          <a:p>
            <a:pPr lvl="2"/>
            <a:r>
              <a:rPr lang="en-US" dirty="0"/>
              <a:t>Phospholipids</a:t>
            </a:r>
          </a:p>
          <a:p>
            <a:pPr lvl="2"/>
            <a:r>
              <a:rPr lang="en-US" dirty="0"/>
              <a:t>Metabolites</a:t>
            </a:r>
          </a:p>
          <a:p>
            <a:pPr lvl="2"/>
            <a:r>
              <a:rPr lang="en-US" dirty="0"/>
              <a:t>Residual</a:t>
            </a:r>
          </a:p>
        </p:txBody>
      </p:sp>
    </p:spTree>
    <p:extLst>
      <p:ext uri="{BB962C8B-B14F-4D97-AF65-F5344CB8AC3E}">
        <p14:creationId xmlns:p14="http://schemas.microsoft.com/office/powerpoint/2010/main" val="169519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19A3-5783-B84C-A320-7E46B8B8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9FD1-6DE7-93B0-CEA0-8D03EF19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measuring allocation in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5E488-A076-CD8D-69AA-662090254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</p:txBody>
      </p:sp>
    </p:spTree>
    <p:extLst>
      <p:ext uri="{BB962C8B-B14F-4D97-AF65-F5344CB8AC3E}">
        <p14:creationId xmlns:p14="http://schemas.microsoft.com/office/powerpoint/2010/main" val="216644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BC8D9-C0EF-701C-CB6A-0D357E1B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E710-FC90-81A6-BE1B-C6B3074E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 to measuring allocation in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CAB8C-3897-E7F4-602F-8472EF89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/>
              <a:t>Root:Shoot</a:t>
            </a:r>
            <a:r>
              <a:rPr lang="en-US" dirty="0"/>
              <a:t> ratio</a:t>
            </a:r>
          </a:p>
          <a:p>
            <a:pPr lvl="1"/>
            <a:r>
              <a:rPr lang="en-US" dirty="0"/>
              <a:t>Total leaf area</a:t>
            </a:r>
          </a:p>
        </p:txBody>
      </p:sp>
    </p:spTree>
    <p:extLst>
      <p:ext uri="{BB962C8B-B14F-4D97-AF65-F5344CB8AC3E}">
        <p14:creationId xmlns:p14="http://schemas.microsoft.com/office/powerpoint/2010/main" val="29017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D4C7-68CB-F604-C028-1F961119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DABD-455B-D649-7334-7DC6FF955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 availability</a:t>
            </a:r>
          </a:p>
          <a:p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availability</a:t>
            </a:r>
          </a:p>
          <a:p>
            <a:r>
              <a:rPr lang="en-US" dirty="0"/>
              <a:t>Vapor pressure deficit</a:t>
            </a:r>
          </a:p>
          <a:p>
            <a:r>
              <a:rPr lang="en-US" dirty="0"/>
              <a:t>Water availability</a:t>
            </a:r>
          </a:p>
          <a:p>
            <a:r>
              <a:rPr lang="en-US" dirty="0"/>
              <a:t>Nitrogen availability</a:t>
            </a:r>
          </a:p>
          <a:p>
            <a:r>
              <a:rPr lang="en-US" dirty="0"/>
              <a:t>Phosphorus availability</a:t>
            </a:r>
          </a:p>
          <a:p>
            <a:r>
              <a:rPr lang="en-US" dirty="0"/>
              <a:t>N-fixing bacteria presence</a:t>
            </a:r>
          </a:p>
          <a:p>
            <a:r>
              <a:rPr lang="en-US" dirty="0"/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187282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D858-EF0D-830F-0B7C-6FCDC0825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62F5-2844-BD65-AB66-30FA859D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E76EC-923F-E0E2-FD49-C170A2B9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 availability</a:t>
            </a:r>
          </a:p>
          <a:p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availability</a:t>
            </a:r>
          </a:p>
          <a:p>
            <a:r>
              <a:rPr lang="en-US" dirty="0"/>
              <a:t>Vapor pressure deficit</a:t>
            </a:r>
          </a:p>
          <a:p>
            <a:r>
              <a:rPr lang="en-US" dirty="0"/>
              <a:t>Water availability</a:t>
            </a:r>
          </a:p>
          <a:p>
            <a:r>
              <a:rPr lang="en-US" dirty="0"/>
              <a:t>Nitrogen availability</a:t>
            </a:r>
          </a:p>
          <a:p>
            <a:r>
              <a:rPr lang="en-US" dirty="0"/>
              <a:t>Phosphorus availability</a:t>
            </a:r>
          </a:p>
          <a:p>
            <a:r>
              <a:rPr lang="en-US" dirty="0"/>
              <a:t>N-fixing bacteria presence</a:t>
            </a:r>
          </a:p>
          <a:p>
            <a:r>
              <a:rPr lang="en-US" dirty="0"/>
              <a:t>Mycorrhizae presence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28C23-2B6B-260E-A398-6CCAFE282158}"/>
              </a:ext>
            </a:extLst>
          </p:cNvPr>
          <p:cNvSpPr txBox="1"/>
          <p:nvPr/>
        </p:nvSpPr>
        <p:spPr>
          <a:xfrm>
            <a:off x="5769536" y="3580665"/>
            <a:ext cx="6422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Many interactive combinations!</a:t>
            </a:r>
          </a:p>
        </p:txBody>
      </p:sp>
    </p:spTree>
    <p:extLst>
      <p:ext uri="{BB962C8B-B14F-4D97-AF65-F5344CB8AC3E}">
        <p14:creationId xmlns:p14="http://schemas.microsoft.com/office/powerpoint/2010/main" val="1062233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CCEF-53D8-1C0A-DD73-F3E5B1B0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08F31-D026-FCB5-96FB-7C91A309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6E946-C6F5-DB82-363D-2F95690B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Light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Vapor pressure deficit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N-fixing bacteria presence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3678638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6F00E-AC88-E0B2-3967-674F8A28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5C2D-9DBD-6732-5360-E1937CA3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Light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653F-FE0F-D875-6E8B-64E890D7A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CDD35D-A66C-7331-9185-D7453F5D79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394" y="1852745"/>
            <a:ext cx="2399684" cy="23974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75F023-6DE3-89BF-9171-101B16DBC7D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318" y="2370548"/>
            <a:ext cx="2641512" cy="2641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709F66-1E08-02EA-4277-7FBF648FED4B}"/>
              </a:ext>
            </a:extLst>
          </p:cNvPr>
          <p:cNvSpPr txBox="1"/>
          <p:nvPr/>
        </p:nvSpPr>
        <p:spPr>
          <a:xfrm>
            <a:off x="3352570" y="6488668"/>
            <a:ext cx="877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(2021), Waring et al. (2023), Perkowski et al. (2024), Kelley et al. (in prep)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3EC56-E221-7E31-1D3B-BF8155D39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149" y="4046225"/>
            <a:ext cx="2157858" cy="215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18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A99C-709D-9CDB-4E53-E0C085C4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F836-AF14-466B-5FEC-DB345041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Light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1EEA-144A-52A6-79FB-F60D776F0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1EB87-78FF-0E25-3D5C-35AC741CD77A}"/>
              </a:ext>
            </a:extLst>
          </p:cNvPr>
          <p:cNvSpPr txBox="1"/>
          <p:nvPr/>
        </p:nvSpPr>
        <p:spPr>
          <a:xfrm>
            <a:off x="10104505" y="6492875"/>
            <a:ext cx="208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</a:t>
            </a:r>
          </a:p>
        </p:txBody>
      </p:sp>
      <p:pic>
        <p:nvPicPr>
          <p:cNvPr id="8" name="New picture">
            <a:extLst>
              <a:ext uri="{FF2B5EF4-FFF2-40B4-BE49-F238E27FC236}">
                <a16:creationId xmlns:a16="http://schemas.microsoft.com/office/drawing/2014/main" id="{43DB706B-F1F9-B56A-C4C1-7E244D573A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1" y="1473108"/>
            <a:ext cx="4582677" cy="46018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B2EA8A-80E2-4C11-B3B4-71721AED5E01}"/>
              </a:ext>
            </a:extLst>
          </p:cNvPr>
          <p:cNvSpPr txBox="1"/>
          <p:nvPr/>
        </p:nvSpPr>
        <p:spPr>
          <a:xfrm>
            <a:off x="441435" y="4971393"/>
            <a:ext cx="517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Light increases leaf N allocation to photosynthesis</a:t>
            </a:r>
          </a:p>
        </p:txBody>
      </p:sp>
    </p:spTree>
    <p:extLst>
      <p:ext uri="{BB962C8B-B14F-4D97-AF65-F5344CB8AC3E}">
        <p14:creationId xmlns:p14="http://schemas.microsoft.com/office/powerpoint/2010/main" val="253014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4E2D-57D7-D574-DE48-018A5D9E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8680-8C9C-90D2-4AE4-3DE59FA7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Light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73F84-7D4D-1346-0C6B-7A8E503E9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Phosphorus allocation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DA69B-5131-E60F-EB06-EB909F8FB451}"/>
              </a:ext>
            </a:extLst>
          </p:cNvPr>
          <p:cNvSpPr txBox="1"/>
          <p:nvPr/>
        </p:nvSpPr>
        <p:spPr>
          <a:xfrm>
            <a:off x="10011275" y="6492875"/>
            <a:ext cx="218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Kelley et al. (in prep)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AC378-D704-5702-49E8-A92AB3EC52CB}"/>
              </a:ext>
            </a:extLst>
          </p:cNvPr>
          <p:cNvSpPr txBox="1"/>
          <p:nvPr/>
        </p:nvSpPr>
        <p:spPr>
          <a:xfrm>
            <a:off x="441435" y="4971393"/>
            <a:ext cx="3959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 allocation data being collected now!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155C52-875C-F1A1-8B32-67CEDD1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411" y="2438143"/>
            <a:ext cx="2785498" cy="278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4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5605-CDE6-56FB-3BC6-A9454283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44DF-3E5B-8EBD-14A3-DD9AF34B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Light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0F04D-49AC-BC31-CD89-C0C5678E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89503-6942-3B69-2C95-BB51F1DB391E}"/>
              </a:ext>
            </a:extLst>
          </p:cNvPr>
          <p:cNvSpPr txBox="1"/>
          <p:nvPr/>
        </p:nvSpPr>
        <p:spPr>
          <a:xfrm>
            <a:off x="9795318" y="6492875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155CF-2897-5CD9-F358-DEE5E80CDF5D}"/>
              </a:ext>
            </a:extLst>
          </p:cNvPr>
          <p:cNvSpPr txBox="1"/>
          <p:nvPr/>
        </p:nvSpPr>
        <p:spPr>
          <a:xfrm>
            <a:off x="832526" y="5018041"/>
            <a:ext cx="3087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Increasing light increases R:S</a:t>
            </a:r>
          </a:p>
        </p:txBody>
      </p:sp>
      <p:pic>
        <p:nvPicPr>
          <p:cNvPr id="5" name="Picture 4" descr="lizz_LxN_plot.png">
            <a:extLst>
              <a:ext uri="{FF2B5EF4-FFF2-40B4-BE49-F238E27FC236}">
                <a16:creationId xmlns:a16="http://schemas.microsoft.com/office/drawing/2014/main" id="{2BAA2251-E5EE-7C36-44A5-C2272152C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806" r="18997"/>
          <a:stretch>
            <a:fillRect/>
          </a:stretch>
        </p:blipFill>
        <p:spPr>
          <a:xfrm>
            <a:off x="5685570" y="2145424"/>
            <a:ext cx="5917850" cy="2567151"/>
          </a:xfrm>
          <a:prstGeom prst="rect">
            <a:avLst/>
          </a:prstGeom>
        </p:spPr>
      </p:pic>
      <p:pic>
        <p:nvPicPr>
          <p:cNvPr id="7" name="Picture 6" descr="lizz_LxN_plot.png">
            <a:extLst>
              <a:ext uri="{FF2B5EF4-FFF2-40B4-BE49-F238E27FC236}">
                <a16:creationId xmlns:a16="http://schemas.microsoft.com/office/drawing/2014/main" id="{5773104F-9C9C-5835-AB47-F1ED1587C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003" t="39728" b="39124"/>
          <a:stretch>
            <a:fillRect/>
          </a:stretch>
        </p:blipFill>
        <p:spPr>
          <a:xfrm>
            <a:off x="8271642" y="4892976"/>
            <a:ext cx="1387890" cy="11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12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3E0D-C8F9-144D-B788-B78C0DF1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0DF38-151C-C035-0578-310155BB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Light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3C63E-1D52-34DF-10B0-1CB551AB8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40366-3F18-0654-87DB-B421BC6956C1}"/>
              </a:ext>
            </a:extLst>
          </p:cNvPr>
          <p:cNvSpPr txBox="1"/>
          <p:nvPr/>
        </p:nvSpPr>
        <p:spPr>
          <a:xfrm>
            <a:off x="9795318" y="6492875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3B072-A66D-19D7-728A-F30FB585122E}"/>
              </a:ext>
            </a:extLst>
          </p:cNvPr>
          <p:cNvSpPr txBox="1"/>
          <p:nvPr/>
        </p:nvSpPr>
        <p:spPr>
          <a:xfrm>
            <a:off x="832526" y="5018041"/>
            <a:ext cx="311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Increasing light increases TLA</a:t>
            </a:r>
          </a:p>
        </p:txBody>
      </p:sp>
      <p:pic>
        <p:nvPicPr>
          <p:cNvPr id="5" name="Picture 4" descr="lizz_LxN_plot.png">
            <a:extLst>
              <a:ext uri="{FF2B5EF4-FFF2-40B4-BE49-F238E27FC236}">
                <a16:creationId xmlns:a16="http://schemas.microsoft.com/office/drawing/2014/main" id="{EF16F208-8273-6CF5-B59D-3135EFA211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" t="-352" r="18565" b="51158"/>
          <a:stretch>
            <a:fillRect/>
          </a:stretch>
        </p:blipFill>
        <p:spPr>
          <a:xfrm>
            <a:off x="5685570" y="2145424"/>
            <a:ext cx="5917850" cy="2567151"/>
          </a:xfrm>
          <a:prstGeom prst="rect">
            <a:avLst/>
          </a:prstGeom>
        </p:spPr>
      </p:pic>
      <p:pic>
        <p:nvPicPr>
          <p:cNvPr id="7" name="Picture 6" descr="lizz_LxN_plot.png">
            <a:extLst>
              <a:ext uri="{FF2B5EF4-FFF2-40B4-BE49-F238E27FC236}">
                <a16:creationId xmlns:a16="http://schemas.microsoft.com/office/drawing/2014/main" id="{94B08610-759E-47DA-DC12-4FCF9BE03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003" t="39728" b="39124"/>
          <a:stretch>
            <a:fillRect/>
          </a:stretch>
        </p:blipFill>
        <p:spPr>
          <a:xfrm>
            <a:off x="8271642" y="4892976"/>
            <a:ext cx="1387890" cy="11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88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77EC1-296F-6B0F-78E7-2BED862E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32EF1-1296-82AA-81AA-705AADCA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95B6A-E761-36A5-F327-B4DC4027A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Light availability</a:t>
            </a:r>
          </a:p>
          <a:p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Vapor pressure deficit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N-fixing bacteria presence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738772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A4E8-49EE-94D6-FEA3-2F5F08EC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B8CA-42ED-5CF6-927C-95634474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CO</a:t>
            </a:r>
            <a:r>
              <a:rPr lang="en-US" u="sng" baseline="-25000" dirty="0">
                <a:solidFill>
                  <a:srgbClr val="00B050"/>
                </a:solidFill>
              </a:rPr>
              <a:t>2</a:t>
            </a:r>
            <a:r>
              <a:rPr lang="en-US" u="sng" dirty="0">
                <a:solidFill>
                  <a:srgbClr val="00B050"/>
                </a:solidFill>
              </a:rPr>
              <a:t>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282B-A05A-0E5E-E36A-879204D1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F6E63-B5C3-120E-D667-D0EFC91BE6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394" y="1852745"/>
            <a:ext cx="2399684" cy="2397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CCB03-971E-7FC3-16FC-E6B90FCA8426}"/>
              </a:ext>
            </a:extLst>
          </p:cNvPr>
          <p:cNvSpPr txBox="1"/>
          <p:nvPr/>
        </p:nvSpPr>
        <p:spPr>
          <a:xfrm>
            <a:off x="9795318" y="6488668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(2024)</a:t>
            </a:r>
          </a:p>
        </p:txBody>
      </p:sp>
    </p:spTree>
    <p:extLst>
      <p:ext uri="{BB962C8B-B14F-4D97-AF65-F5344CB8AC3E}">
        <p14:creationId xmlns:p14="http://schemas.microsoft.com/office/powerpoint/2010/main" val="2987874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DADE-81FA-024B-39CC-63DC66F8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449E-8C04-6552-FD17-36C31FA8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CO</a:t>
            </a:r>
            <a:r>
              <a:rPr lang="en-US" u="sng" baseline="-25000" dirty="0">
                <a:solidFill>
                  <a:srgbClr val="00B050"/>
                </a:solidFill>
              </a:rPr>
              <a:t>2</a:t>
            </a:r>
            <a:r>
              <a:rPr lang="en-US" u="sng" dirty="0">
                <a:solidFill>
                  <a:srgbClr val="00B050"/>
                </a:solidFill>
              </a:rPr>
              <a:t>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32EF4-9F34-5EA6-8022-BD59515F0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D2580-F2A2-1491-CEB8-B5E04F34E9C6}"/>
              </a:ext>
            </a:extLst>
          </p:cNvPr>
          <p:cNvSpPr txBox="1"/>
          <p:nvPr/>
        </p:nvSpPr>
        <p:spPr>
          <a:xfrm>
            <a:off x="9795318" y="6488668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(2024)</a:t>
            </a:r>
          </a:p>
        </p:txBody>
      </p:sp>
      <p:pic>
        <p:nvPicPr>
          <p:cNvPr id="5" name="Picture 4" descr="NxCO2xI_fig3_wholePlant.png">
            <a:extLst>
              <a:ext uri="{FF2B5EF4-FFF2-40B4-BE49-F238E27FC236}">
                <a16:creationId xmlns:a16="http://schemas.microsoft.com/office/drawing/2014/main" id="{21C637C4-40F1-1438-2C8A-5657DFEDC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791" r="61418"/>
          <a:stretch>
            <a:fillRect/>
          </a:stretch>
        </p:blipFill>
        <p:spPr>
          <a:xfrm>
            <a:off x="7339667" y="2002393"/>
            <a:ext cx="2998734" cy="2601644"/>
          </a:xfrm>
          <a:prstGeom prst="rect">
            <a:avLst/>
          </a:prstGeom>
        </p:spPr>
      </p:pic>
      <p:pic>
        <p:nvPicPr>
          <p:cNvPr id="7" name="Picture 6" descr="NxCO2xI_fig3_wholePlant.png">
            <a:extLst>
              <a:ext uri="{FF2B5EF4-FFF2-40B4-BE49-F238E27FC236}">
                <a16:creationId xmlns:a16="http://schemas.microsoft.com/office/drawing/2014/main" id="{D06517FA-E350-5AA3-3D83-6C1D3F8CE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93" t="40036" b="39478"/>
          <a:stretch>
            <a:fillRect/>
          </a:stretch>
        </p:blipFill>
        <p:spPr>
          <a:xfrm>
            <a:off x="8315325" y="4780805"/>
            <a:ext cx="1935873" cy="1061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360AB7-0FF4-1920-572C-DDF3AF1205D6}"/>
              </a:ext>
            </a:extLst>
          </p:cNvPr>
          <p:cNvSpPr txBox="1"/>
          <p:nvPr/>
        </p:nvSpPr>
        <p:spPr>
          <a:xfrm>
            <a:off x="504497" y="5126911"/>
            <a:ext cx="6258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Slight R:S decrease in plants inoculated with N-fixing bacteria</a:t>
            </a:r>
          </a:p>
        </p:txBody>
      </p:sp>
    </p:spTree>
    <p:extLst>
      <p:ext uri="{BB962C8B-B14F-4D97-AF65-F5344CB8AC3E}">
        <p14:creationId xmlns:p14="http://schemas.microsoft.com/office/powerpoint/2010/main" val="3756427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B162-22DC-5BF6-B4FC-969D20051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58A2-979F-26A0-5087-E979BE87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CO</a:t>
            </a:r>
            <a:r>
              <a:rPr lang="en-US" u="sng" baseline="-25000" dirty="0">
                <a:solidFill>
                  <a:srgbClr val="00B050"/>
                </a:solidFill>
              </a:rPr>
              <a:t>2</a:t>
            </a:r>
            <a:r>
              <a:rPr lang="en-US" u="sng" dirty="0">
                <a:solidFill>
                  <a:srgbClr val="00B050"/>
                </a:solidFill>
              </a:rPr>
              <a:t> availability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C158-8C7A-7D2D-F2FE-C2F163A77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206E4-488E-0D99-9CB6-03430F0A0442}"/>
              </a:ext>
            </a:extLst>
          </p:cNvPr>
          <p:cNvSpPr txBox="1"/>
          <p:nvPr/>
        </p:nvSpPr>
        <p:spPr>
          <a:xfrm>
            <a:off x="9795318" y="6488668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(2024)</a:t>
            </a:r>
          </a:p>
        </p:txBody>
      </p:sp>
      <p:pic>
        <p:nvPicPr>
          <p:cNvPr id="5" name="Picture 4" descr="NxCO2xI_fig3_wholePlant.png">
            <a:extLst>
              <a:ext uri="{FF2B5EF4-FFF2-40B4-BE49-F238E27FC236}">
                <a16:creationId xmlns:a16="http://schemas.microsoft.com/office/drawing/2014/main" id="{8902D68B-8813-FF98-4D3A-8273F6BCD5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76" t="-1527" r="62094" b="51318"/>
          <a:stretch>
            <a:fillRect/>
          </a:stretch>
        </p:blipFill>
        <p:spPr>
          <a:xfrm>
            <a:off x="7339667" y="2002393"/>
            <a:ext cx="2998734" cy="2601644"/>
          </a:xfrm>
          <a:prstGeom prst="rect">
            <a:avLst/>
          </a:prstGeom>
        </p:spPr>
      </p:pic>
      <p:pic>
        <p:nvPicPr>
          <p:cNvPr id="7" name="Picture 6" descr="NxCO2xI_fig3_wholePlant.png">
            <a:extLst>
              <a:ext uri="{FF2B5EF4-FFF2-40B4-BE49-F238E27FC236}">
                <a16:creationId xmlns:a16="http://schemas.microsoft.com/office/drawing/2014/main" id="{67F7E75F-6774-9C09-95CC-88CFCA90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93" t="40036" b="39478"/>
          <a:stretch>
            <a:fillRect/>
          </a:stretch>
        </p:blipFill>
        <p:spPr>
          <a:xfrm>
            <a:off x="8315325" y="4780805"/>
            <a:ext cx="1935873" cy="10615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017135-CD69-9135-302E-00FDE70BFAEC}"/>
              </a:ext>
            </a:extLst>
          </p:cNvPr>
          <p:cNvSpPr txBox="1"/>
          <p:nvPr/>
        </p:nvSpPr>
        <p:spPr>
          <a:xfrm>
            <a:off x="504497" y="5126911"/>
            <a:ext cx="547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TLA increased with CO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, especially with adequate N</a:t>
            </a:r>
          </a:p>
        </p:txBody>
      </p:sp>
    </p:spTree>
    <p:extLst>
      <p:ext uri="{BB962C8B-B14F-4D97-AF65-F5344CB8AC3E}">
        <p14:creationId xmlns:p14="http://schemas.microsoft.com/office/powerpoint/2010/main" val="135923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B778-E850-696A-4EC9-1C6B31B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D4461-2656-7DC0-F494-37BB9DCF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ADD39-0171-4296-63A0-DC9DFF54E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Light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availability</a:t>
            </a:r>
          </a:p>
          <a:p>
            <a:r>
              <a:rPr lang="en-US" dirty="0"/>
              <a:t>Vapor pressure deficit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N-fixing bacteria presence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4170634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A5DE-D20C-3FAE-E2BA-EF03ECF7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068F-09BF-0D56-492F-D3AE04B5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VPD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D8AC5-BDAC-1DB9-CCCE-DF998619B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8C5B7-4B53-9868-03DE-62B0C7F9F7F2}"/>
              </a:ext>
            </a:extLst>
          </p:cNvPr>
          <p:cNvSpPr txBox="1"/>
          <p:nvPr/>
        </p:nvSpPr>
        <p:spPr>
          <a:xfrm>
            <a:off x="9605907" y="6492875"/>
            <a:ext cx="25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Freitas et al. (in revision)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82427-F2F3-0F44-168A-AE589655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180" y="2112579"/>
            <a:ext cx="3145872" cy="317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93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05C7-AC42-7AEB-A044-F50BFDCE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DE7C-3AEF-E1F7-0052-B22DFAD9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VPD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7F0D2-F87F-D515-9700-4AE69CB9A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4F172-BC40-318E-5E9B-5D083211A314}"/>
              </a:ext>
            </a:extLst>
          </p:cNvPr>
          <p:cNvSpPr txBox="1"/>
          <p:nvPr/>
        </p:nvSpPr>
        <p:spPr>
          <a:xfrm>
            <a:off x="9605907" y="6492875"/>
            <a:ext cx="25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Freitas et al. (in revision)</a:t>
            </a:r>
          </a:p>
        </p:txBody>
      </p:sp>
      <p:pic>
        <p:nvPicPr>
          <p:cNvPr id="4" name="Picture 3" descr="A group of diagrams showing different types of soil content&#10;&#10;AI-generated content may be incorrect.">
            <a:extLst>
              <a:ext uri="{FF2B5EF4-FFF2-40B4-BE49-F238E27FC236}">
                <a16:creationId xmlns:a16="http://schemas.microsoft.com/office/drawing/2014/main" id="{3692FF74-731A-BBAF-1BC8-171B3C61B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92138" y="1509713"/>
            <a:ext cx="5108575" cy="4086860"/>
          </a:xfrm>
          <a:prstGeom prst="rect">
            <a:avLst/>
          </a:prstGeom>
        </p:spPr>
      </p:pic>
      <p:pic>
        <p:nvPicPr>
          <p:cNvPr id="7" name="Picture 6" descr="A red and blue squares on a black background&#10;&#10;AI-generated content may be incorrect.">
            <a:extLst>
              <a:ext uri="{FF2B5EF4-FFF2-40B4-BE49-F238E27FC236}">
                <a16:creationId xmlns:a16="http://schemas.microsoft.com/office/drawing/2014/main" id="{B831F6ED-9F24-2690-3E86-256B5411B6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64" b="13600"/>
          <a:stretch>
            <a:fillRect/>
          </a:stretch>
        </p:blipFill>
        <p:spPr bwMode="auto">
          <a:xfrm>
            <a:off x="10405240" y="3081655"/>
            <a:ext cx="987425" cy="6946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0912D3-814A-69C1-4EC0-9C10436F0605}"/>
              </a:ext>
            </a:extLst>
          </p:cNvPr>
          <p:cNvSpPr txBox="1"/>
          <p:nvPr/>
        </p:nvSpPr>
        <p:spPr>
          <a:xfrm>
            <a:off x="378372" y="6022428"/>
            <a:ext cx="6308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VPD increases R:S in acquisitive, but not conservative species</a:t>
            </a:r>
          </a:p>
        </p:txBody>
      </p:sp>
    </p:spTree>
    <p:extLst>
      <p:ext uri="{BB962C8B-B14F-4D97-AF65-F5344CB8AC3E}">
        <p14:creationId xmlns:p14="http://schemas.microsoft.com/office/powerpoint/2010/main" val="3209079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809E-6376-BD04-579C-3E07F07F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0C18-D5A1-12F0-FE15-99EA7155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8BCC-F535-782D-734B-720B143DB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Light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Vapor pressure deficit</a:t>
            </a:r>
          </a:p>
          <a:p>
            <a:r>
              <a:rPr lang="en-US" dirty="0"/>
              <a:t>Water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N-fixing bacteria presence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3318594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4E2B-D077-2F22-5D44-3FA206A7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33CD-8E6F-EECE-0B20-76820F0D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water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FD35-64DB-3FF2-97C8-229A1986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B8850-95C4-D69C-BE90-8B3E5686B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04" y="1825625"/>
            <a:ext cx="3146486" cy="3146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6D7729-4859-DD6E-54D9-DE383DC08E93}"/>
              </a:ext>
            </a:extLst>
          </p:cNvPr>
          <p:cNvSpPr txBox="1"/>
          <p:nvPr/>
        </p:nvSpPr>
        <p:spPr>
          <a:xfrm>
            <a:off x="4551319" y="6488668"/>
            <a:ext cx="7640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Cheaib</a:t>
            </a:r>
            <a:r>
              <a:rPr lang="en-US" dirty="0"/>
              <a:t> et al. (in revision), Freitas et al. (in revision), Chatterjee et al. (in prep)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6BA58D-165F-A6A6-B247-8870183B0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136" y="3006124"/>
            <a:ext cx="3145872" cy="31708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4F9E17-780A-9B7A-19AC-EA8D47B6A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627" y="4228608"/>
            <a:ext cx="1948355" cy="194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8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BF0E-14F3-0DFD-00E5-31762779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2FED-9C7F-15A2-2486-8BF02233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water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26687-5AE6-18B4-4318-DF6E1170A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FC201-414D-4780-CB3F-6EBAF2881EF0}"/>
              </a:ext>
            </a:extLst>
          </p:cNvPr>
          <p:cNvSpPr txBox="1"/>
          <p:nvPr/>
        </p:nvSpPr>
        <p:spPr>
          <a:xfrm>
            <a:off x="9605907" y="6488668"/>
            <a:ext cx="258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Freitas et al. (in revision)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1C0CF-9F37-B29E-9AD1-4552DE8D7B8E}"/>
              </a:ext>
            </a:extLst>
          </p:cNvPr>
          <p:cNvSpPr txBox="1"/>
          <p:nvPr/>
        </p:nvSpPr>
        <p:spPr>
          <a:xfrm>
            <a:off x="671776" y="5607367"/>
            <a:ext cx="5573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Water availability not impacting R:S in our experiments</a:t>
            </a:r>
          </a:p>
        </p:txBody>
      </p:sp>
      <p:pic>
        <p:nvPicPr>
          <p:cNvPr id="6" name="Picture 5" descr="A group of diagrams showing different types of soil content&#10;&#10;AI-generated content may be incorrect.">
            <a:extLst>
              <a:ext uri="{FF2B5EF4-FFF2-40B4-BE49-F238E27FC236}">
                <a16:creationId xmlns:a16="http://schemas.microsoft.com/office/drawing/2014/main" id="{36DB9089-7EB9-4147-7D52-C452A1FDA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581556" y="1638964"/>
            <a:ext cx="5108575" cy="40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3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EDEC-5B6A-8C7B-2B71-285BBB2E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B3A5-1ED9-59D9-F7EB-714D59F5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water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D2DF-C1DA-8738-D7DF-E0A734075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D31A5-00B1-D69B-D1D7-15E7ACB6E9AD}"/>
              </a:ext>
            </a:extLst>
          </p:cNvPr>
          <p:cNvSpPr txBox="1"/>
          <p:nvPr/>
        </p:nvSpPr>
        <p:spPr>
          <a:xfrm>
            <a:off x="9569359" y="6488668"/>
            <a:ext cx="262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Cheaib</a:t>
            </a:r>
            <a:r>
              <a:rPr lang="en-US" dirty="0"/>
              <a:t> et al. (in revision)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5C341-383E-FAE7-55DE-6579BE59574E}"/>
              </a:ext>
            </a:extLst>
          </p:cNvPr>
          <p:cNvSpPr txBox="1"/>
          <p:nvPr/>
        </p:nvSpPr>
        <p:spPr>
          <a:xfrm>
            <a:off x="440940" y="5454553"/>
            <a:ext cx="526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Water availability increases TLA when N is available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47E1665-7D2C-56AA-DAB6-0DBEC2C764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176" b="50857"/>
          <a:stretch>
            <a:fillRect/>
          </a:stretch>
        </p:blipFill>
        <p:spPr>
          <a:xfrm>
            <a:off x="6935424" y="1825625"/>
            <a:ext cx="3945255" cy="340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18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C068-64FC-9474-4DE2-6516B588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7ECA-C172-4678-61A9-5DFF7889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BDB88-36BB-64E5-3212-56C3FBE1C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Light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Vapor pressure deficit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availability</a:t>
            </a:r>
          </a:p>
          <a:p>
            <a:r>
              <a:rPr lang="en-US" dirty="0"/>
              <a:t>Nitrogen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N-fixing bacteria presence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2727635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9E65-9646-15B7-7040-0B5770CD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35A0-781D-84C7-CCDA-8773107B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nitrogen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4AADE-2518-229A-BEAF-6F97DF841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E3D8F-482F-6C0D-DD78-AE972074DF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394" y="1852745"/>
            <a:ext cx="2399684" cy="2397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048DEC-DDE9-5251-B755-2290E12013C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318" y="2370548"/>
            <a:ext cx="2641512" cy="2641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EEBA6D-E4A2-7167-99F5-AC2B070C4960}"/>
              </a:ext>
            </a:extLst>
          </p:cNvPr>
          <p:cNvSpPr txBox="1"/>
          <p:nvPr/>
        </p:nvSpPr>
        <p:spPr>
          <a:xfrm>
            <a:off x="5343843" y="6487491"/>
            <a:ext cx="6848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(2021), Waring et al. (2023), Perkowski et al. (2024)</a:t>
            </a:r>
          </a:p>
        </p:txBody>
      </p:sp>
    </p:spTree>
    <p:extLst>
      <p:ext uri="{BB962C8B-B14F-4D97-AF65-F5344CB8AC3E}">
        <p14:creationId xmlns:p14="http://schemas.microsoft.com/office/powerpoint/2010/main" val="2986194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66923-3A6E-333B-5961-3913D888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BF63-EF03-8D75-F4D7-D0AE9027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nitrogen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42266-5FD6-EE60-528C-26E7D13FA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73F1A-1C61-53E9-FB1A-4A40EB0FD596}"/>
              </a:ext>
            </a:extLst>
          </p:cNvPr>
          <p:cNvSpPr txBox="1"/>
          <p:nvPr/>
        </p:nvSpPr>
        <p:spPr>
          <a:xfrm>
            <a:off x="10104505" y="6492875"/>
            <a:ext cx="208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</a:t>
            </a:r>
          </a:p>
        </p:txBody>
      </p:sp>
      <p:pic>
        <p:nvPicPr>
          <p:cNvPr id="8" name="New picture">
            <a:extLst>
              <a:ext uri="{FF2B5EF4-FFF2-40B4-BE49-F238E27FC236}">
                <a16:creationId xmlns:a16="http://schemas.microsoft.com/office/drawing/2014/main" id="{CDF3295F-F576-2F81-EFEA-AB7A336ABD0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34201" y="1473108"/>
            <a:ext cx="4582677" cy="46018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815AC4-5863-5516-3132-F54803EE37E4}"/>
              </a:ext>
            </a:extLst>
          </p:cNvPr>
          <p:cNvSpPr txBox="1"/>
          <p:nvPr/>
        </p:nvSpPr>
        <p:spPr>
          <a:xfrm>
            <a:off x="441435" y="4971393"/>
            <a:ext cx="5294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Soil N decreases leaf N allocation to photosynthesis</a:t>
            </a:r>
          </a:p>
        </p:txBody>
      </p:sp>
    </p:spTree>
    <p:extLst>
      <p:ext uri="{BB962C8B-B14F-4D97-AF65-F5344CB8AC3E}">
        <p14:creationId xmlns:p14="http://schemas.microsoft.com/office/powerpoint/2010/main" val="3658761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AFF1-CD89-F316-5FE3-1F36B367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B263-FF49-CBF4-EF7D-CD18E68D2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nitrogen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EFE9C-78E4-32D1-2C80-A820D5FA9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2B822-A2AC-E5EC-5724-0B16EC57B028}"/>
              </a:ext>
            </a:extLst>
          </p:cNvPr>
          <p:cNvSpPr txBox="1"/>
          <p:nvPr/>
        </p:nvSpPr>
        <p:spPr>
          <a:xfrm>
            <a:off x="9795318" y="6492875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CFAEF-47F0-537E-871D-268B78C833F2}"/>
              </a:ext>
            </a:extLst>
          </p:cNvPr>
          <p:cNvSpPr txBox="1"/>
          <p:nvPr/>
        </p:nvSpPr>
        <p:spPr>
          <a:xfrm>
            <a:off x="441435" y="4971393"/>
            <a:ext cx="2231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Soil N decreases R:S</a:t>
            </a:r>
          </a:p>
        </p:txBody>
      </p:sp>
      <p:pic>
        <p:nvPicPr>
          <p:cNvPr id="4" name="Picture 3" descr="lizz_LxN_plot.png">
            <a:extLst>
              <a:ext uri="{FF2B5EF4-FFF2-40B4-BE49-F238E27FC236}">
                <a16:creationId xmlns:a16="http://schemas.microsoft.com/office/drawing/2014/main" id="{07C013FE-87B8-1F3E-0198-63D9B4165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07" r="20004"/>
          <a:stretch>
            <a:fillRect/>
          </a:stretch>
        </p:blipFill>
        <p:spPr>
          <a:xfrm>
            <a:off x="5906288" y="2098840"/>
            <a:ext cx="5844277" cy="2556641"/>
          </a:xfrm>
          <a:prstGeom prst="rect">
            <a:avLst/>
          </a:prstGeom>
        </p:spPr>
      </p:pic>
      <p:pic>
        <p:nvPicPr>
          <p:cNvPr id="5" name="Picture 4" descr="lizz_LxN_plot.png">
            <a:extLst>
              <a:ext uri="{FF2B5EF4-FFF2-40B4-BE49-F238E27FC236}">
                <a16:creationId xmlns:a16="http://schemas.microsoft.com/office/drawing/2014/main" id="{2F7AE3EF-9F0D-0991-0A3B-DC18534BF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010" t="40471" b="40596"/>
          <a:stretch>
            <a:fillRect/>
          </a:stretch>
        </p:blipFill>
        <p:spPr>
          <a:xfrm>
            <a:off x="8642130" y="4928696"/>
            <a:ext cx="1387365" cy="9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63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3E72-70E8-DD89-D2F5-D2DE2F29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8A0E-5713-04FE-8483-DD438C89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nitrogen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4B4D-7D59-4FF3-C8A5-5E07CEE24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44B51-0456-6835-BBFC-6CA7295C74D5}"/>
              </a:ext>
            </a:extLst>
          </p:cNvPr>
          <p:cNvSpPr txBox="1"/>
          <p:nvPr/>
        </p:nvSpPr>
        <p:spPr>
          <a:xfrm>
            <a:off x="9795318" y="6492875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E91BF-598E-56FF-87CE-7AA96A781A11}"/>
              </a:ext>
            </a:extLst>
          </p:cNvPr>
          <p:cNvSpPr txBox="1"/>
          <p:nvPr/>
        </p:nvSpPr>
        <p:spPr>
          <a:xfrm>
            <a:off x="441435" y="4971393"/>
            <a:ext cx="219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Soil N increases TLA</a:t>
            </a:r>
          </a:p>
        </p:txBody>
      </p:sp>
      <p:pic>
        <p:nvPicPr>
          <p:cNvPr id="4" name="Picture 3" descr="lizz_LxN_plot.png">
            <a:extLst>
              <a:ext uri="{FF2B5EF4-FFF2-40B4-BE49-F238E27FC236}">
                <a16:creationId xmlns:a16="http://schemas.microsoft.com/office/drawing/2014/main" id="{5C6F73B6-1584-72E3-07AE-AD15844EF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4" t="50" r="20148" b="50957"/>
          <a:stretch>
            <a:fillRect/>
          </a:stretch>
        </p:blipFill>
        <p:spPr>
          <a:xfrm>
            <a:off x="5906288" y="2098840"/>
            <a:ext cx="5844277" cy="2556641"/>
          </a:xfrm>
          <a:prstGeom prst="rect">
            <a:avLst/>
          </a:prstGeom>
        </p:spPr>
      </p:pic>
      <p:pic>
        <p:nvPicPr>
          <p:cNvPr id="5" name="Picture 4" descr="lizz_LxN_plot.png">
            <a:extLst>
              <a:ext uri="{FF2B5EF4-FFF2-40B4-BE49-F238E27FC236}">
                <a16:creationId xmlns:a16="http://schemas.microsoft.com/office/drawing/2014/main" id="{40B91B30-6EBF-D32D-DFE5-03E47BFC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010" t="40471" b="40596"/>
          <a:stretch>
            <a:fillRect/>
          </a:stretch>
        </p:blipFill>
        <p:spPr>
          <a:xfrm>
            <a:off x="8642130" y="4928696"/>
            <a:ext cx="1387365" cy="9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42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8998-67E9-FC8F-AAC2-14DD3568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2475-27DF-DAFA-2F2B-11C4755F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8EEB-7333-D77C-5B4F-47C494DB1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Light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Vapor pressure deficit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availability</a:t>
            </a:r>
          </a:p>
          <a:p>
            <a:r>
              <a:rPr lang="en-US" dirty="0"/>
              <a:t>Phosphorus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N-fixing bacteria presence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Mycorrhizae presence</a:t>
            </a:r>
          </a:p>
        </p:txBody>
      </p:sp>
    </p:spTree>
    <p:extLst>
      <p:ext uri="{BB962C8B-B14F-4D97-AF65-F5344CB8AC3E}">
        <p14:creationId xmlns:p14="http://schemas.microsoft.com/office/powerpoint/2010/main" val="3521725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75E5-B864-D566-428C-91D2FF5B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6D83-F6A8-3D3F-74B8-F2C3B122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phosphorus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5F617-D0FD-BF43-A1C2-B5AFD87BC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41DE7-F410-494F-D7B6-AB095A4E2F78}"/>
              </a:ext>
            </a:extLst>
          </p:cNvPr>
          <p:cNvSpPr txBox="1"/>
          <p:nvPr/>
        </p:nvSpPr>
        <p:spPr>
          <a:xfrm>
            <a:off x="10011275" y="6492875"/>
            <a:ext cx="218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Kelley et al. (in prep)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371542-FEE3-CEDB-F2B0-4A07BD4DC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11" y="2438143"/>
            <a:ext cx="2785498" cy="278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66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8C213-82B3-2703-B65E-043F4706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791D-7327-58C2-A029-C1C91A96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phosphorus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7275E-81A4-96C7-FE5B-560A974B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Phosphorus allocation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Whole plant</a:t>
            </a:r>
          </a:p>
          <a:p>
            <a:pPr lvl="1"/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Root:Shoot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A86AD-7EA1-7012-094D-879AE1215485}"/>
              </a:ext>
            </a:extLst>
          </p:cNvPr>
          <p:cNvSpPr txBox="1"/>
          <p:nvPr/>
        </p:nvSpPr>
        <p:spPr>
          <a:xfrm>
            <a:off x="10011275" y="6492875"/>
            <a:ext cx="218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Kelley et al. (in prep)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27551A-6B6A-EE66-CFDF-D839A54D020D}"/>
              </a:ext>
            </a:extLst>
          </p:cNvPr>
          <p:cNvSpPr txBox="1"/>
          <p:nvPr/>
        </p:nvSpPr>
        <p:spPr>
          <a:xfrm>
            <a:off x="441435" y="4971393"/>
            <a:ext cx="3959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 allocation data being collected now!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900B2-630E-6DBC-18C0-1832008B4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411" y="2438143"/>
            <a:ext cx="2785498" cy="278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05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E5F9-BAC1-8F9B-CBD9-696F3643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0524-6B02-F9CA-3B05-8E945DB5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00B050"/>
                </a:solidFill>
              </a:rPr>
              <a:t>Soil phosphorus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impacts on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72E19-C58A-2F01-BBCC-56F1598F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Within leaves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allocation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allocation</a:t>
            </a:r>
          </a:p>
          <a:p>
            <a:r>
              <a:rPr lang="en-US" dirty="0"/>
              <a:t>Whole plant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Root:Shoot</a:t>
            </a:r>
            <a:r>
              <a:rPr lang="en-US" dirty="0">
                <a:solidFill>
                  <a:srgbClr val="00B050"/>
                </a:solidFill>
              </a:rPr>
              <a:t> ratio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Total leaf area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BF922-0557-823F-8524-44319F653217}"/>
              </a:ext>
            </a:extLst>
          </p:cNvPr>
          <p:cNvSpPr txBox="1"/>
          <p:nvPr/>
        </p:nvSpPr>
        <p:spPr>
          <a:xfrm>
            <a:off x="10011275" y="6492875"/>
            <a:ext cx="218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Kelley et al. (in prep)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CA9A2-9261-16A3-8BE6-CD9972B8A254}"/>
              </a:ext>
            </a:extLst>
          </p:cNvPr>
          <p:cNvSpPr txBox="1"/>
          <p:nvPr/>
        </p:nvSpPr>
        <p:spPr>
          <a:xfrm>
            <a:off x="838200" y="5181600"/>
            <a:ext cx="3312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Soil P availability decreases R:S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C1088-9FF7-7184-02C5-CA7C07127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114" y="1740092"/>
            <a:ext cx="4981437" cy="442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70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2F73-5049-D884-74ED-BC86E100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1D09-C89D-FA15-651B-CC7ED955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in manipulative contexts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9FF77-3C46-6EFB-3E26-D192D009D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Light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</a:t>
            </a:r>
            <a:r>
              <a:rPr lang="en-US" baseline="-25000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Vapor pressure deficit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Water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Nitrogen availability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Phosphorus availability</a:t>
            </a:r>
          </a:p>
          <a:p>
            <a:r>
              <a:rPr lang="en-US" dirty="0">
                <a:solidFill>
                  <a:srgbClr val="FF0000"/>
                </a:solidFill>
              </a:rPr>
              <a:t>N-fixing bacteria presence</a:t>
            </a:r>
          </a:p>
          <a:p>
            <a:r>
              <a:rPr lang="en-US" dirty="0">
                <a:solidFill>
                  <a:srgbClr val="FF0000"/>
                </a:solidFill>
              </a:rPr>
              <a:t>Mycorrhizae presence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BC4BD-D96C-EA64-51ED-AEDC166A80B7}"/>
              </a:ext>
            </a:extLst>
          </p:cNvPr>
          <p:cNvSpPr txBox="1"/>
          <p:nvPr/>
        </p:nvSpPr>
        <p:spPr>
          <a:xfrm>
            <a:off x="6495393" y="3244334"/>
            <a:ext cx="3872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Happy to chat more about these later</a:t>
            </a:r>
          </a:p>
        </p:txBody>
      </p:sp>
    </p:spTree>
    <p:extLst>
      <p:ext uri="{BB962C8B-B14F-4D97-AF65-F5344CB8AC3E}">
        <p14:creationId xmlns:p14="http://schemas.microsoft.com/office/powerpoint/2010/main" val="1005713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8BC0-E260-65B9-BF19-0C8917AB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99BE-DE26-DA88-96C9-D728A76B6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belowground resources decreases leaf allocation to photosynthesis</a:t>
            </a:r>
          </a:p>
          <a:p>
            <a:pPr lvl="1"/>
            <a:r>
              <a:rPr lang="en-US" dirty="0"/>
              <a:t>Photosynthetic demands met first</a:t>
            </a:r>
          </a:p>
          <a:p>
            <a:r>
              <a:rPr lang="en-US" dirty="0"/>
              <a:t>Increasing photosynthetic demand increases leaf allocation to photosynthesis</a:t>
            </a:r>
          </a:p>
          <a:p>
            <a:r>
              <a:rPr lang="en-US" dirty="0"/>
              <a:t>R:S increases with increasing soil resource demand and decreasing soil resource availability</a:t>
            </a:r>
          </a:p>
          <a:p>
            <a:r>
              <a:rPr lang="en-US" dirty="0"/>
              <a:t>TLA increases with resource demand and availability</a:t>
            </a:r>
          </a:p>
        </p:txBody>
      </p:sp>
    </p:spTree>
    <p:extLst>
      <p:ext uri="{BB962C8B-B14F-4D97-AF65-F5344CB8AC3E}">
        <p14:creationId xmlns:p14="http://schemas.microsoft.com/office/powerpoint/2010/main" val="161859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1086</Words>
  <Application>Microsoft Macintosh PowerPoint</Application>
  <PresentationFormat>Widescreen</PresentationFormat>
  <Paragraphs>307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Allocation results from manipulative experiments</vt:lpstr>
      <vt:lpstr>General approach to measuring allocation in experiments</vt:lpstr>
      <vt:lpstr>General approach to measuring allocation in experiments</vt:lpstr>
      <vt:lpstr>General approach to measuring allocation in experiments</vt:lpstr>
      <vt:lpstr>General approach to measuring allocation in experiments</vt:lpstr>
      <vt:lpstr>General approach to measuring allocation in experiments</vt:lpstr>
      <vt:lpstr>General approach to measuring allocation in experiments</vt:lpstr>
      <vt:lpstr>Allocation in manipulative contexts</vt:lpstr>
      <vt:lpstr>Allocation in manipulative contexts</vt:lpstr>
      <vt:lpstr>Allocation in manipulative contexts</vt:lpstr>
      <vt:lpstr>Light availability impacts on allocation</vt:lpstr>
      <vt:lpstr>Light availability impacts on allocation</vt:lpstr>
      <vt:lpstr>Light availability impacts on allocation</vt:lpstr>
      <vt:lpstr>Light availability impacts on allocation</vt:lpstr>
      <vt:lpstr>Light availability impacts on allocation</vt:lpstr>
      <vt:lpstr>Allocation in manipulative contexts</vt:lpstr>
      <vt:lpstr>CO2 availability impacts on allocation</vt:lpstr>
      <vt:lpstr>CO2 availability impacts on allocation</vt:lpstr>
      <vt:lpstr>CO2 availability impacts on allocation</vt:lpstr>
      <vt:lpstr>Allocation in manipulative contexts</vt:lpstr>
      <vt:lpstr>VPD impacts on allocation</vt:lpstr>
      <vt:lpstr>VPD impacts on allocation</vt:lpstr>
      <vt:lpstr>Allocation in manipulative contexts</vt:lpstr>
      <vt:lpstr>Soil water impacts on allocation</vt:lpstr>
      <vt:lpstr>Soil water impacts on allocation</vt:lpstr>
      <vt:lpstr>Soil water impacts on allocation</vt:lpstr>
      <vt:lpstr>Allocation in manipulative contexts</vt:lpstr>
      <vt:lpstr>Soil nitrogen impacts on allocation</vt:lpstr>
      <vt:lpstr>Soil nitrogen impacts on allocation</vt:lpstr>
      <vt:lpstr>Soil nitrogen impacts on allocation</vt:lpstr>
      <vt:lpstr>Soil nitrogen impacts on allocation</vt:lpstr>
      <vt:lpstr>Allocation in manipulative contexts</vt:lpstr>
      <vt:lpstr>Soil phosphorus impacts on allocation</vt:lpstr>
      <vt:lpstr>Soil phosphorus impacts on allocation</vt:lpstr>
      <vt:lpstr>Soil phosphorus impacts on allocation</vt:lpstr>
      <vt:lpstr>Allocation in manipulative contexts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Nick</dc:creator>
  <cp:lastModifiedBy>Smith, Nick</cp:lastModifiedBy>
  <cp:revision>41</cp:revision>
  <dcterms:created xsi:type="dcterms:W3CDTF">2026-05-11T07:25:11Z</dcterms:created>
  <dcterms:modified xsi:type="dcterms:W3CDTF">2026-05-18T13:59:35Z</dcterms:modified>
</cp:coreProperties>
</file>