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8" r:id="rId9"/>
    <p:sldId id="274" r:id="rId10"/>
    <p:sldId id="275" r:id="rId11"/>
    <p:sldId id="269" r:id="rId12"/>
    <p:sldId id="276" r:id="rId13"/>
    <p:sldId id="277" r:id="rId14"/>
    <p:sldId id="270" r:id="rId15"/>
    <p:sldId id="278" r:id="rId16"/>
    <p:sldId id="279" r:id="rId17"/>
    <p:sldId id="281" r:id="rId18"/>
    <p:sldId id="271" r:id="rId19"/>
    <p:sldId id="280" r:id="rId20"/>
    <p:sldId id="272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125"/>
    <p:restoredTop sz="94658"/>
  </p:normalViewPr>
  <p:slideViewPr>
    <p:cSldViewPr snapToGrid="0">
      <p:cViewPr varScale="1">
        <p:scale>
          <a:sx n="121" d="100"/>
          <a:sy n="121" d="100"/>
        </p:scale>
        <p:origin x="64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73196F-C92F-2D3B-E61B-990B790EAB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0417841-528E-733B-8A20-C0D1A34BA5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6524F8-A074-E824-5BC9-754BDFFA4F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914372-A3AC-7946-8026-7C3ECE4DF88D}" type="datetimeFigureOut">
              <a:rPr lang="en-US" smtClean="0"/>
              <a:t>5/15/26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ECDA9C-264C-25C4-6AE8-E7170B26CE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0A0C08-6DF3-77A2-2FEB-9543C9E090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2EDD7B-270B-2D4C-A092-AD20A45EFE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80601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E09374-F9DE-9383-DDA4-0F05053C4E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B42595-B4D2-66DA-1291-A049701C37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19390B-28DA-76CF-0F2F-6F4A3B133E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914372-A3AC-7946-8026-7C3ECE4DF88D}" type="datetimeFigureOut">
              <a:rPr lang="en-US" smtClean="0"/>
              <a:t>5/15/26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23272D-ED14-0E02-7301-8312B7828B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D84E43-6A24-DFFC-A7EE-0695E73EB0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2EDD7B-270B-2D4C-A092-AD20A45EFE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20628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E93209-BA28-3E28-A624-00129471A2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26C37D-093C-BE8D-6FA2-4D1FF3787E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CD415F-AFA6-C477-3E61-9BAC6D010B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914372-A3AC-7946-8026-7C3ECE4DF88D}" type="datetimeFigureOut">
              <a:rPr lang="en-US" smtClean="0"/>
              <a:t>5/15/26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F8CCEA-92E1-D5F1-BBDD-B237556101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EE6E80-E7CE-BFCA-B325-D3A9DF5A29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2EDD7B-270B-2D4C-A092-AD20A45EFE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2283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EDDA9F-480F-0430-E3B9-DCC8E19C61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93696F-DE65-651D-8143-51A8B7FB377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70BC98-8C3B-8C17-2D8C-3398CA5AD4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8C835B-1D9C-AA0C-0BE2-02C73A27BB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914372-A3AC-7946-8026-7C3ECE4DF88D}" type="datetimeFigureOut">
              <a:rPr lang="en-US" smtClean="0"/>
              <a:t>5/15/26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5C57FD-237D-3984-5FAC-804EDAD899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D61E79-44AC-A23B-E8CB-F7356E413B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2EDD7B-270B-2D4C-A092-AD20A45EFE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99187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870714-2669-F5E2-25BA-C6763A50F5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6F3C84-FA60-2677-A32A-B6B93D1E1C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ACC29-AAA0-D3C2-375D-01DCF09E99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B75C26-A97A-F163-01DB-557168F08A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D89448F-1273-D7BD-A86F-52F9AD8C83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22654C4-FAA2-1C8E-A432-A4C81EFC7D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914372-A3AC-7946-8026-7C3ECE4DF88D}" type="datetimeFigureOut">
              <a:rPr lang="en-US" smtClean="0"/>
              <a:t>5/15/26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0E3D4A3-A796-2DBB-BCD8-C248E42E62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9E2535C-3E3D-662D-72ED-A51C7064ED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2EDD7B-270B-2D4C-A092-AD20A45EFE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2046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E9ED82-D50C-3C24-0B85-67A72F46DD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CD136C-8527-64E4-B1D8-FE59B06C8E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914372-A3AC-7946-8026-7C3ECE4DF88D}" type="datetimeFigureOut">
              <a:rPr lang="en-US" smtClean="0"/>
              <a:t>5/15/26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07E7F8-5395-266A-297D-B896597696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1F8289-DD4F-05C4-CF9D-94E73DF297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2EDD7B-270B-2D4C-A092-AD20A45EFE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73332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08C63B5-864E-E269-F8F2-26FF9EE3B6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914372-A3AC-7946-8026-7C3ECE4DF88D}" type="datetimeFigureOut">
              <a:rPr lang="en-US" smtClean="0"/>
              <a:t>5/15/26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BA4A973-D7F6-E1E6-28EF-B2461AAC85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35B316-BA20-0E49-32F9-B44E4829D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2EDD7B-270B-2D4C-A092-AD20A45EFE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89010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A523E-61A0-68BC-CEB6-086D64530F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89D128-09D9-B16C-8C2D-8720D095D3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45706E2-63BA-5164-CED0-711E707E65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79B749-B3EF-80DF-9596-A75D5C191B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914372-A3AC-7946-8026-7C3ECE4DF88D}" type="datetimeFigureOut">
              <a:rPr lang="en-US" smtClean="0"/>
              <a:t>5/15/26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0418F3-5EA5-11DB-343F-E45240E13B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395A10-6AFF-CB03-CB70-77FB4EB217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2EDD7B-270B-2D4C-A092-AD20A45EFE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984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F6A269-DD40-D179-2284-A0E40AAA87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E31F982-5AAA-7A54-0E4A-799D979229D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1854117-D682-1739-AFB7-32E3608D43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7C27EB-8054-F6E4-956C-586EC8CEDD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914372-A3AC-7946-8026-7C3ECE4DF88D}" type="datetimeFigureOut">
              <a:rPr lang="en-US" smtClean="0"/>
              <a:t>5/15/26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7BAF9B5-B4D1-DC81-3D60-6847B8FEC2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FE22F2-7EEF-134E-3519-1BEC443BBB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2EDD7B-270B-2D4C-A092-AD20A45EFE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51790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235B3C-C627-3579-1F46-67CBAD0BEA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5388FD-04E7-E897-57DE-CA233389543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84F2CC-8CD1-BB04-4457-7EF5DFDAE3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914372-A3AC-7946-8026-7C3ECE4DF88D}" type="datetimeFigureOut">
              <a:rPr lang="en-US" smtClean="0"/>
              <a:t>5/15/26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1AD33E-ED36-5139-8578-A5BE07902C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E06967-9C01-3221-421D-C7B0E6D498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2EDD7B-270B-2D4C-A092-AD20A45EFE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25149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EB79543-4B88-E7FD-9FB2-EACC9BF867A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869529-457D-5EF9-32DE-26C06055F2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35B033-CD31-C81B-067F-1D50CD14E8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914372-A3AC-7946-8026-7C3ECE4DF88D}" type="datetimeFigureOut">
              <a:rPr lang="en-US" smtClean="0"/>
              <a:t>5/15/26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FEA432-5306-0417-F131-1578B0F337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9C5C4A-A655-3A52-9F7F-E6574DA926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2EDD7B-270B-2D4C-A092-AD20A45EFE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4993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19B1B08-19AE-2D20-3AFA-2092DAD4FB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38DF196-D900-68F1-4ECF-718911BAA5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88039F-FCB9-B108-8B9D-E659C028995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A914372-A3AC-7946-8026-7C3ECE4DF88D}" type="datetimeFigureOut">
              <a:rPr lang="en-US" smtClean="0"/>
              <a:t>5/15/26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4046B0-6261-1B23-ED2E-758CA1558F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B34D37-FB84-1287-DEC5-064EE7FBFF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2EDD7B-270B-2D4C-A092-AD20A45EFE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34942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7439FD-29B1-C126-B4C0-EC96A8C1FBB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Smith Lab experimental allocation results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D68D351-5F13-1E22-3515-6E452C12083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Nick Smith</a:t>
            </a:r>
          </a:p>
          <a:p>
            <a:r>
              <a:rPr lang="en-US" dirty="0"/>
              <a:t>LEMONTREE Science meeting</a:t>
            </a:r>
          </a:p>
          <a:p>
            <a:r>
              <a:rPr lang="en-US" dirty="0"/>
              <a:t>May 21, 2026</a:t>
            </a:r>
          </a:p>
        </p:txBody>
      </p:sp>
    </p:spTree>
    <p:extLst>
      <p:ext uri="{BB962C8B-B14F-4D97-AF65-F5344CB8AC3E}">
        <p14:creationId xmlns:p14="http://schemas.microsoft.com/office/powerpoint/2010/main" val="276333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13ECAB-C9E5-C4F7-E5EA-81643ACE13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approach to measuring allocation in experiments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F71DA2-61E4-0D0A-6AB4-45B361A67B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54078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EF39DB-A4DD-2D93-F022-AA6B7AC37B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B175B5-A914-D5B9-F860-9BBE0C6F8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approach to measuring allocation in experiments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598A0A-F88D-94E0-20D4-58419551A6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Within leaves</a:t>
            </a:r>
          </a:p>
          <a:p>
            <a:pPr lvl="1"/>
            <a:r>
              <a:rPr lang="en-US" dirty="0"/>
              <a:t>Nitrogen allocation</a:t>
            </a:r>
          </a:p>
          <a:p>
            <a:pPr lvl="1"/>
            <a:r>
              <a:rPr lang="en-US" dirty="0"/>
              <a:t>Phosphorus allocation</a:t>
            </a:r>
          </a:p>
        </p:txBody>
      </p:sp>
    </p:spTree>
    <p:extLst>
      <p:ext uri="{BB962C8B-B14F-4D97-AF65-F5344CB8AC3E}">
        <p14:creationId xmlns:p14="http://schemas.microsoft.com/office/powerpoint/2010/main" val="22123553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A7B965-64EC-DAF8-0419-450F0DEB4D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D6187D-3BCA-EFC9-7864-BFF6DC96AC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approach to measuring allocation in experiments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5252D0-68DC-6670-1309-BAB04691D3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Within leaves</a:t>
            </a:r>
          </a:p>
          <a:p>
            <a:pPr lvl="1"/>
            <a:r>
              <a:rPr lang="en-US" dirty="0"/>
              <a:t>Nitrogen allocation</a:t>
            </a:r>
          </a:p>
          <a:p>
            <a:pPr lvl="2"/>
            <a:r>
              <a:rPr lang="en-US" dirty="0"/>
              <a:t>Structure (LMA)</a:t>
            </a:r>
          </a:p>
          <a:p>
            <a:pPr lvl="2"/>
            <a:r>
              <a:rPr lang="en-US" dirty="0" err="1"/>
              <a:t>RuBisCO</a:t>
            </a:r>
            <a:r>
              <a:rPr lang="en-US" dirty="0"/>
              <a:t> (</a:t>
            </a:r>
            <a:r>
              <a:rPr lang="en-US" dirty="0" err="1"/>
              <a:t>V</a:t>
            </a:r>
            <a:r>
              <a:rPr lang="en-US" baseline="-25000" dirty="0" err="1"/>
              <a:t>cmax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Light harvesting (chlorophyll)</a:t>
            </a:r>
          </a:p>
          <a:p>
            <a:pPr lvl="2"/>
            <a:r>
              <a:rPr lang="en-US" dirty="0"/>
              <a:t>Bioenergetics (electron transport; </a:t>
            </a:r>
            <a:r>
              <a:rPr lang="en-US" dirty="0" err="1"/>
              <a:t>J</a:t>
            </a:r>
            <a:r>
              <a:rPr lang="en-US" baseline="-25000" dirty="0" err="1"/>
              <a:t>max</a:t>
            </a:r>
            <a:r>
              <a:rPr lang="en-US" dirty="0"/>
              <a:t>)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Phosphorus allocation</a:t>
            </a:r>
          </a:p>
        </p:txBody>
      </p:sp>
    </p:spTree>
    <p:extLst>
      <p:ext uri="{BB962C8B-B14F-4D97-AF65-F5344CB8AC3E}">
        <p14:creationId xmlns:p14="http://schemas.microsoft.com/office/powerpoint/2010/main" val="29911558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3E56F3-40CA-C4AE-7694-A17D5F88E7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179E60-3D5E-BC91-441B-95F01AD67D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approach to measuring allocation in experiments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1E2851-6447-F8BC-E53A-83165AFDD8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Within leaves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Nitrogen allocation</a:t>
            </a:r>
          </a:p>
          <a:p>
            <a:pPr lvl="1"/>
            <a:r>
              <a:rPr lang="en-US" dirty="0"/>
              <a:t>Phosphorus allocation</a:t>
            </a:r>
          </a:p>
          <a:p>
            <a:pPr lvl="2"/>
            <a:r>
              <a:rPr lang="en-US" dirty="0"/>
              <a:t>Inorganic phosphate</a:t>
            </a:r>
          </a:p>
          <a:p>
            <a:pPr lvl="2"/>
            <a:r>
              <a:rPr lang="en-US" dirty="0"/>
              <a:t>Nucleic acids</a:t>
            </a:r>
          </a:p>
          <a:p>
            <a:pPr lvl="2"/>
            <a:r>
              <a:rPr lang="en-US" dirty="0"/>
              <a:t>Phospholipids</a:t>
            </a:r>
          </a:p>
          <a:p>
            <a:pPr lvl="2"/>
            <a:r>
              <a:rPr lang="en-US" dirty="0"/>
              <a:t>Metabolites</a:t>
            </a:r>
          </a:p>
          <a:p>
            <a:pPr lvl="2"/>
            <a:r>
              <a:rPr lang="en-US" dirty="0"/>
              <a:t>Residual</a:t>
            </a:r>
          </a:p>
        </p:txBody>
      </p:sp>
    </p:spTree>
    <p:extLst>
      <p:ext uri="{BB962C8B-B14F-4D97-AF65-F5344CB8AC3E}">
        <p14:creationId xmlns:p14="http://schemas.microsoft.com/office/powerpoint/2010/main" val="16951994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E119A3-5783-B84C-A320-7E46B8B8AA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859FD1-6DE7-93B0-CEA0-8D03EF193C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approach to measuring allocation in experiments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65E488-A076-CD8D-69AA-6620902545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Within leaves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Nitrogen allocation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Phosphorus allocation</a:t>
            </a:r>
          </a:p>
          <a:p>
            <a:r>
              <a:rPr lang="en-US" dirty="0"/>
              <a:t>Whole plant</a:t>
            </a:r>
          </a:p>
        </p:txBody>
      </p:sp>
    </p:spTree>
    <p:extLst>
      <p:ext uri="{BB962C8B-B14F-4D97-AF65-F5344CB8AC3E}">
        <p14:creationId xmlns:p14="http://schemas.microsoft.com/office/powerpoint/2010/main" val="21664496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CBC8D9-C0EF-701C-CB6A-0D357E1BB1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75E710-FC90-81A6-BE1B-C6B3074EC9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approach to measuring allocation in experiments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BCAB8C-3897-E7F4-602F-8472EF896A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Within leaves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Nitrogen allocation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Phosphorus allocation</a:t>
            </a:r>
          </a:p>
          <a:p>
            <a:r>
              <a:rPr lang="en-US" dirty="0"/>
              <a:t>Whole plant</a:t>
            </a:r>
          </a:p>
          <a:p>
            <a:pPr lvl="1"/>
            <a:r>
              <a:rPr lang="en-US" dirty="0" err="1"/>
              <a:t>Root:Shoot</a:t>
            </a:r>
            <a:r>
              <a:rPr lang="en-US" dirty="0"/>
              <a:t> ratio</a:t>
            </a:r>
          </a:p>
          <a:p>
            <a:pPr lvl="1"/>
            <a:r>
              <a:rPr lang="en-US" dirty="0"/>
              <a:t>Total leaf area</a:t>
            </a:r>
          </a:p>
        </p:txBody>
      </p:sp>
    </p:spTree>
    <p:extLst>
      <p:ext uri="{BB962C8B-B14F-4D97-AF65-F5344CB8AC3E}">
        <p14:creationId xmlns:p14="http://schemas.microsoft.com/office/powerpoint/2010/main" val="2901739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1F4B8E-FFCB-C7E4-912F-E1E7B83742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E0AF7A-3584-14C5-8D91-8E04A4C1F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 1: Light x Soil Nitrogen x N-fixation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1BEB87-60E9-D1AD-502B-EBF94F3302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Within leaves</a:t>
            </a:r>
          </a:p>
          <a:p>
            <a:pPr lvl="1"/>
            <a:r>
              <a:rPr lang="en-US" dirty="0">
                <a:solidFill>
                  <a:srgbClr val="002060"/>
                </a:solidFill>
              </a:rPr>
              <a:t>Nitrogen allocation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Phosphorus allocation</a:t>
            </a:r>
          </a:p>
          <a:p>
            <a:r>
              <a:rPr lang="en-US" dirty="0"/>
              <a:t>Whole plant</a:t>
            </a:r>
          </a:p>
          <a:p>
            <a:pPr lvl="1"/>
            <a:r>
              <a:rPr lang="en-US" dirty="0" err="1">
                <a:solidFill>
                  <a:srgbClr val="002060"/>
                </a:solidFill>
              </a:rPr>
              <a:t>Root:Shoot</a:t>
            </a:r>
            <a:r>
              <a:rPr lang="en-US" dirty="0">
                <a:solidFill>
                  <a:srgbClr val="002060"/>
                </a:solidFill>
              </a:rPr>
              <a:t> ratio</a:t>
            </a:r>
          </a:p>
          <a:p>
            <a:pPr lvl="1"/>
            <a:r>
              <a:rPr lang="en-US" dirty="0">
                <a:solidFill>
                  <a:srgbClr val="002060"/>
                </a:solidFill>
              </a:rPr>
              <a:t>Total leaf area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BABCA28-74CF-5DAD-F7A4-8926384404A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43394" y="1852745"/>
            <a:ext cx="2399684" cy="239741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98F5CE5-3DB2-C8E9-F11A-5DB9FB8CE6ED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295214" y="3535451"/>
            <a:ext cx="2641512" cy="264151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F2CE532-E5F9-E500-ADA1-A9040593FB80}"/>
              </a:ext>
            </a:extLst>
          </p:cNvPr>
          <p:cNvSpPr txBox="1"/>
          <p:nvPr/>
        </p:nvSpPr>
        <p:spPr>
          <a:xfrm>
            <a:off x="5575104" y="6492875"/>
            <a:ext cx="67359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Perkowski et al. (2021), Waring et al. (2023), Perkowski et al. (2024)</a:t>
            </a:r>
          </a:p>
        </p:txBody>
      </p:sp>
    </p:spTree>
    <p:extLst>
      <p:ext uri="{BB962C8B-B14F-4D97-AF65-F5344CB8AC3E}">
        <p14:creationId xmlns:p14="http://schemas.microsoft.com/office/powerpoint/2010/main" val="21809789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3C35B5-F04B-6C9F-52D1-F3C6AD3D6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A87D41-9FE2-9D5A-203F-D1213E8F6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 1: Light x Soil Nitrogen x N-fixation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F9FF13-E5CF-A6B8-A870-69D4C81F1D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Within leaves</a:t>
            </a:r>
          </a:p>
          <a:p>
            <a:pPr lvl="1"/>
            <a:r>
              <a:rPr lang="en-US" dirty="0">
                <a:solidFill>
                  <a:srgbClr val="002060"/>
                </a:solidFill>
              </a:rPr>
              <a:t>Nitrogen allocation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Phosphorus allocation</a:t>
            </a:r>
          </a:p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Whole plant</a:t>
            </a:r>
          </a:p>
          <a:p>
            <a:pPr lvl="1"/>
            <a:r>
              <a:rPr lang="en-US" dirty="0" err="1">
                <a:solidFill>
                  <a:schemeClr val="bg1">
                    <a:lumMod val="85000"/>
                  </a:schemeClr>
                </a:solidFill>
              </a:rPr>
              <a:t>Root:Shoot</a:t>
            </a: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 ratio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Total leaf area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D4CE84B-4FC8-1B3D-7DAB-153060C0C815}"/>
              </a:ext>
            </a:extLst>
          </p:cNvPr>
          <p:cNvSpPr txBox="1"/>
          <p:nvPr/>
        </p:nvSpPr>
        <p:spPr>
          <a:xfrm>
            <a:off x="838199" y="4731488"/>
            <a:ext cx="52578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Light increases and soil N decreases leaf N allocation to photosynthesis</a:t>
            </a:r>
          </a:p>
        </p:txBody>
      </p:sp>
      <p:pic>
        <p:nvPicPr>
          <p:cNvPr id="5" name="New picture">
            <a:extLst>
              <a:ext uri="{FF2B5EF4-FFF2-40B4-BE49-F238E27FC236}">
                <a16:creationId xmlns:a16="http://schemas.microsoft.com/office/drawing/2014/main" id="{C62D95DF-4132-D77A-BA20-1897BD10C544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6934201" y="1473108"/>
            <a:ext cx="4582677" cy="460187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B53528B-9399-36A8-4BD9-4D15FA9FAB87}"/>
              </a:ext>
            </a:extLst>
          </p:cNvPr>
          <p:cNvSpPr txBox="1"/>
          <p:nvPr/>
        </p:nvSpPr>
        <p:spPr>
          <a:xfrm>
            <a:off x="10104505" y="6488668"/>
            <a:ext cx="20874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Waring et al. (2023)</a:t>
            </a:r>
          </a:p>
        </p:txBody>
      </p:sp>
    </p:spTree>
    <p:extLst>
      <p:ext uri="{BB962C8B-B14F-4D97-AF65-F5344CB8AC3E}">
        <p14:creationId xmlns:p14="http://schemas.microsoft.com/office/powerpoint/2010/main" val="26399933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5A3315-CE80-57C6-484F-C02513BAA1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AB2872-1C80-32B9-2C7E-BAD573AFD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 1: Light x Soil Nitrogen x N-fixation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F77187-7310-AF96-722F-4617149526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Within leaves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Nitrogen allocation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Phosphorus allocation</a:t>
            </a:r>
          </a:p>
          <a:p>
            <a:r>
              <a:rPr lang="en-US" dirty="0"/>
              <a:t>Whole plant</a:t>
            </a:r>
          </a:p>
          <a:p>
            <a:pPr lvl="1"/>
            <a:r>
              <a:rPr lang="en-US" dirty="0" err="1">
                <a:solidFill>
                  <a:srgbClr val="002060"/>
                </a:solidFill>
              </a:rPr>
              <a:t>Root:Shoot</a:t>
            </a:r>
            <a:r>
              <a:rPr lang="en-US" dirty="0">
                <a:solidFill>
                  <a:srgbClr val="002060"/>
                </a:solidFill>
              </a:rPr>
              <a:t> ratio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Total leaf area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C68D53-06C4-8443-9C2B-4E41F021F42C}"/>
              </a:ext>
            </a:extLst>
          </p:cNvPr>
          <p:cNvSpPr txBox="1"/>
          <p:nvPr/>
        </p:nvSpPr>
        <p:spPr>
          <a:xfrm>
            <a:off x="6358270" y="2700670"/>
            <a:ext cx="5582093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highlight>
                  <a:srgbClr val="FFFF00"/>
                </a:highlight>
              </a:rPr>
              <a:t>Root:shoot</a:t>
            </a:r>
            <a:r>
              <a:rPr lang="en-US" sz="4000" dirty="0">
                <a:highlight>
                  <a:srgbClr val="FFFF00"/>
                </a:highlight>
              </a:rPr>
              <a:t> from either Evan/Lizz or Evan/Joseph </a:t>
            </a:r>
            <a:r>
              <a:rPr lang="en-US" sz="4000" dirty="0" err="1">
                <a:highlight>
                  <a:srgbClr val="FFFF00"/>
                </a:highlight>
              </a:rPr>
              <a:t>expt</a:t>
            </a:r>
            <a:endParaRPr lang="en-US" sz="4000" dirty="0">
              <a:highlight>
                <a:srgbClr val="FFFF00"/>
              </a:highlight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8A52E5-9E79-E8D8-FA49-50B60469483D}"/>
              </a:ext>
            </a:extLst>
          </p:cNvPr>
          <p:cNvSpPr txBox="1"/>
          <p:nvPr/>
        </p:nvSpPr>
        <p:spPr>
          <a:xfrm>
            <a:off x="9189383" y="6492875"/>
            <a:ext cx="3002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Perkowski et al. (2021, 2024)</a:t>
            </a:r>
          </a:p>
        </p:txBody>
      </p:sp>
    </p:spTree>
    <p:extLst>
      <p:ext uri="{BB962C8B-B14F-4D97-AF65-F5344CB8AC3E}">
        <p14:creationId xmlns:p14="http://schemas.microsoft.com/office/powerpoint/2010/main" val="37289910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44CC27-D47E-3097-D892-2E46909A3A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3EB03B-F6EC-76D7-FD6C-EC5B062DB5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 2: Soil Water x Soil Nitrogen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79330E-D70B-DB06-7624-A3A3B6619E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Within leaves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Nitrogen allocation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Phosphorus allocation</a:t>
            </a:r>
          </a:p>
          <a:p>
            <a:r>
              <a:rPr lang="en-US" dirty="0"/>
              <a:t>Whole plant</a:t>
            </a:r>
          </a:p>
          <a:p>
            <a:pPr lvl="1"/>
            <a:r>
              <a:rPr lang="en-US" dirty="0" err="1">
                <a:solidFill>
                  <a:srgbClr val="002060"/>
                </a:solidFill>
              </a:rPr>
              <a:t>Root:Shoot</a:t>
            </a:r>
            <a:r>
              <a:rPr lang="en-US" dirty="0">
                <a:solidFill>
                  <a:srgbClr val="002060"/>
                </a:solidFill>
              </a:rPr>
              <a:t> ratio</a:t>
            </a:r>
          </a:p>
          <a:p>
            <a:pPr lvl="1"/>
            <a:r>
              <a:rPr lang="en-US" dirty="0">
                <a:solidFill>
                  <a:srgbClr val="002060"/>
                </a:solidFill>
              </a:rPr>
              <a:t>Total leaf area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CCA4C37-C166-CA73-3CBD-E601D58244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7919" y="2466038"/>
            <a:ext cx="3146486" cy="314648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F0A4738-D2BD-EEB3-16BB-32FF7AF6D2DB}"/>
              </a:ext>
            </a:extLst>
          </p:cNvPr>
          <p:cNvSpPr txBox="1"/>
          <p:nvPr/>
        </p:nvSpPr>
        <p:spPr>
          <a:xfrm>
            <a:off x="9569359" y="6492875"/>
            <a:ext cx="26226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Cheaib</a:t>
            </a:r>
            <a:r>
              <a:rPr lang="en-US" dirty="0"/>
              <a:t> et al. (in revision)</a:t>
            </a:r>
          </a:p>
        </p:txBody>
      </p:sp>
    </p:spTree>
    <p:extLst>
      <p:ext uri="{BB962C8B-B14F-4D97-AF65-F5344CB8AC3E}">
        <p14:creationId xmlns:p14="http://schemas.microsoft.com/office/powerpoint/2010/main" val="6602344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F6409-6AAD-8C32-E0CC-DEC6E40F4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33223A-96CD-2633-1C71-C7DAFB46E9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 2: Soil Water x Soil Nitrogen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167EA5-5963-E3B1-70CC-EEE889A88A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Within leaves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Nitrogen allocation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Phosphorus allocation</a:t>
            </a:r>
          </a:p>
          <a:p>
            <a:r>
              <a:rPr lang="en-US" dirty="0"/>
              <a:t>Whole plant</a:t>
            </a:r>
          </a:p>
          <a:p>
            <a:pPr lvl="1"/>
            <a:r>
              <a:rPr lang="en-US" dirty="0" err="1">
                <a:solidFill>
                  <a:srgbClr val="002060"/>
                </a:solidFill>
              </a:rPr>
              <a:t>Root:Shoot</a:t>
            </a:r>
            <a:r>
              <a:rPr lang="en-US" dirty="0">
                <a:solidFill>
                  <a:srgbClr val="002060"/>
                </a:solidFill>
              </a:rPr>
              <a:t> ratio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Total leaf area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0593747-FA8E-1BC2-12CC-70159DD03CF4}"/>
              </a:ext>
            </a:extLst>
          </p:cNvPr>
          <p:cNvSpPr txBox="1"/>
          <p:nvPr/>
        </p:nvSpPr>
        <p:spPr>
          <a:xfrm>
            <a:off x="5980386" y="3631962"/>
            <a:ext cx="409041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rgbClr val="FF0000"/>
                </a:solidFill>
              </a:rPr>
              <a:t>No effect on R:S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F39E17-E94B-0DBB-1D49-59F01EE58D8D}"/>
              </a:ext>
            </a:extLst>
          </p:cNvPr>
          <p:cNvSpPr txBox="1"/>
          <p:nvPr/>
        </p:nvSpPr>
        <p:spPr>
          <a:xfrm>
            <a:off x="9569359" y="6492875"/>
            <a:ext cx="26226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Cheaib</a:t>
            </a:r>
            <a:r>
              <a:rPr lang="en-US" dirty="0"/>
              <a:t> et al. (in revision)</a:t>
            </a:r>
          </a:p>
        </p:txBody>
      </p:sp>
    </p:spTree>
    <p:extLst>
      <p:ext uri="{BB962C8B-B14F-4D97-AF65-F5344CB8AC3E}">
        <p14:creationId xmlns:p14="http://schemas.microsoft.com/office/powerpoint/2010/main" val="18450097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44D377-D7DA-45A2-8FEE-77564A2736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C0025-EF94-076A-E946-8A002D169E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 2: Soil Water x Soil Nitrogen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1E014A-9472-8942-476A-B4A97E270F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Within leaves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Nitrogen allocation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Phosphorus allocation</a:t>
            </a:r>
          </a:p>
          <a:p>
            <a:r>
              <a:rPr lang="en-US" dirty="0"/>
              <a:t>Whole plant</a:t>
            </a:r>
          </a:p>
          <a:p>
            <a:pPr lvl="1"/>
            <a:r>
              <a:rPr lang="en-US" dirty="0" err="1">
                <a:solidFill>
                  <a:schemeClr val="bg1">
                    <a:lumMod val="85000"/>
                  </a:schemeClr>
                </a:solidFill>
              </a:rPr>
              <a:t>Root:Shoot</a:t>
            </a: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 ratio</a:t>
            </a:r>
          </a:p>
          <a:p>
            <a:pPr lvl="1"/>
            <a:r>
              <a:rPr lang="en-US" dirty="0">
                <a:solidFill>
                  <a:srgbClr val="002060"/>
                </a:solidFill>
              </a:rPr>
              <a:t>Total leaf area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3C79256-89F3-CC03-4AC6-1D837932DE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825625"/>
            <a:ext cx="4793072" cy="420616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D445FC4-8254-DC5A-83C2-EFFD5E11D926}"/>
              </a:ext>
            </a:extLst>
          </p:cNvPr>
          <p:cNvSpPr txBox="1"/>
          <p:nvPr/>
        </p:nvSpPr>
        <p:spPr>
          <a:xfrm>
            <a:off x="458766" y="4935245"/>
            <a:ext cx="517250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Soil N increases TLA</a:t>
            </a:r>
          </a:p>
          <a:p>
            <a:r>
              <a:rPr lang="en-US" sz="2800" dirty="0">
                <a:solidFill>
                  <a:srgbClr val="FF0000"/>
                </a:solidFill>
              </a:rPr>
              <a:t>Drought decreases TLA in high 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8B9C591-7A1E-59B7-53BB-79DE8C491988}"/>
              </a:ext>
            </a:extLst>
          </p:cNvPr>
          <p:cNvSpPr txBox="1"/>
          <p:nvPr/>
        </p:nvSpPr>
        <p:spPr>
          <a:xfrm>
            <a:off x="9569359" y="6492875"/>
            <a:ext cx="26226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Cheaib</a:t>
            </a:r>
            <a:r>
              <a:rPr lang="en-US" dirty="0"/>
              <a:t> et al. (in revision)</a:t>
            </a:r>
          </a:p>
        </p:txBody>
      </p:sp>
    </p:spTree>
    <p:extLst>
      <p:ext uri="{BB962C8B-B14F-4D97-AF65-F5344CB8AC3E}">
        <p14:creationId xmlns:p14="http://schemas.microsoft.com/office/powerpoint/2010/main" val="10990770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C11AE2-5E68-4100-DE52-A23A72967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AB8DDC-2244-C9BF-C85E-6008B9C57E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 3: CO</a:t>
            </a:r>
            <a:r>
              <a:rPr lang="en-US" baseline="-25000" dirty="0"/>
              <a:t>2</a:t>
            </a:r>
            <a:r>
              <a:rPr lang="en-US" dirty="0"/>
              <a:t> x Soil Nitrogen x N-fixation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CA505B-19F3-B2A2-6CFE-48291E97EC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Within leaves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Nitrogen allocation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Phosphorus allocation</a:t>
            </a:r>
          </a:p>
          <a:p>
            <a:r>
              <a:rPr lang="en-US" dirty="0"/>
              <a:t>Whole plant</a:t>
            </a:r>
          </a:p>
          <a:p>
            <a:pPr lvl="1"/>
            <a:r>
              <a:rPr lang="en-US" dirty="0" err="1">
                <a:solidFill>
                  <a:srgbClr val="002060"/>
                </a:solidFill>
              </a:rPr>
              <a:t>Root:Shoot</a:t>
            </a:r>
            <a:r>
              <a:rPr lang="en-US" dirty="0">
                <a:solidFill>
                  <a:srgbClr val="002060"/>
                </a:solidFill>
              </a:rPr>
              <a:t> ratio</a:t>
            </a:r>
          </a:p>
          <a:p>
            <a:pPr lvl="1"/>
            <a:r>
              <a:rPr lang="en-US" dirty="0">
                <a:solidFill>
                  <a:srgbClr val="002060"/>
                </a:solidFill>
              </a:rPr>
              <a:t>Total leaf area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00C5D18-B834-805C-B1AF-3D8E2D6E2D9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152994" y="2122050"/>
            <a:ext cx="3483265" cy="347996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E1295FB-8B32-77D3-0098-B7BFC0626408}"/>
              </a:ext>
            </a:extLst>
          </p:cNvPr>
          <p:cNvSpPr txBox="1"/>
          <p:nvPr/>
        </p:nvSpPr>
        <p:spPr>
          <a:xfrm>
            <a:off x="9795318" y="6473388"/>
            <a:ext cx="23966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Perkowski et al. (2025)</a:t>
            </a:r>
          </a:p>
        </p:txBody>
      </p:sp>
    </p:spTree>
    <p:extLst>
      <p:ext uri="{BB962C8B-B14F-4D97-AF65-F5344CB8AC3E}">
        <p14:creationId xmlns:p14="http://schemas.microsoft.com/office/powerpoint/2010/main" val="35378232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6EAEA-001F-D1FD-AB02-99B1EC143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214284-9B6C-5425-664A-2B559982AA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 3: CO</a:t>
            </a:r>
            <a:r>
              <a:rPr lang="en-US" baseline="-25000" dirty="0"/>
              <a:t>2</a:t>
            </a:r>
            <a:r>
              <a:rPr lang="en-US" dirty="0"/>
              <a:t> x Soil Nitrogen x N-fixation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FE81F4-6EFE-F0E5-440F-C372F32C13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Within leaves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Nitrogen allocation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Phosphorus allocation</a:t>
            </a:r>
          </a:p>
          <a:p>
            <a:r>
              <a:rPr lang="en-US" dirty="0"/>
              <a:t>Whole plant</a:t>
            </a:r>
          </a:p>
          <a:p>
            <a:pPr lvl="1"/>
            <a:r>
              <a:rPr lang="en-US" dirty="0" err="1">
                <a:solidFill>
                  <a:srgbClr val="002060"/>
                </a:solidFill>
              </a:rPr>
              <a:t>Root:Shoot</a:t>
            </a:r>
            <a:r>
              <a:rPr lang="en-US" dirty="0">
                <a:solidFill>
                  <a:srgbClr val="002060"/>
                </a:solidFill>
              </a:rPr>
              <a:t> ratio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Total leaf area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06E85B-57BB-5AF8-37C1-68A6D1DC12E2}"/>
              </a:ext>
            </a:extLst>
          </p:cNvPr>
          <p:cNvSpPr txBox="1"/>
          <p:nvPr/>
        </p:nvSpPr>
        <p:spPr>
          <a:xfrm>
            <a:off x="9795318" y="6473388"/>
            <a:ext cx="23966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Perkowski et al. (2025)</a:t>
            </a:r>
          </a:p>
        </p:txBody>
      </p:sp>
    </p:spTree>
    <p:extLst>
      <p:ext uri="{BB962C8B-B14F-4D97-AF65-F5344CB8AC3E}">
        <p14:creationId xmlns:p14="http://schemas.microsoft.com/office/powerpoint/2010/main" val="31847072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EC810-8C83-B82F-E2CD-7EAE80A150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1E0AC0-7209-DD4D-2FCB-291830B5F7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 3: CO</a:t>
            </a:r>
            <a:r>
              <a:rPr lang="en-US" baseline="-25000" dirty="0"/>
              <a:t>2</a:t>
            </a:r>
            <a:r>
              <a:rPr lang="en-US" dirty="0"/>
              <a:t> x Soil Nitrogen x N-fixation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F92F34-EFA6-B74D-22EA-F09FD356F7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Within leaves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Nitrogen allocation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Phosphorus allocation</a:t>
            </a:r>
          </a:p>
          <a:p>
            <a:r>
              <a:rPr lang="en-US" dirty="0"/>
              <a:t>Whole plant</a:t>
            </a:r>
          </a:p>
          <a:p>
            <a:pPr lvl="1"/>
            <a:r>
              <a:rPr lang="en-US" dirty="0" err="1">
                <a:solidFill>
                  <a:schemeClr val="bg1">
                    <a:lumMod val="85000"/>
                  </a:schemeClr>
                </a:solidFill>
              </a:rPr>
              <a:t>Root:Shoot</a:t>
            </a: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 ratio</a:t>
            </a:r>
          </a:p>
          <a:p>
            <a:pPr lvl="1"/>
            <a:r>
              <a:rPr lang="en-US" dirty="0">
                <a:solidFill>
                  <a:srgbClr val="002060"/>
                </a:solidFill>
              </a:rPr>
              <a:t>Total leaf area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F0F3E1-9A78-F0DB-39C3-23C4B4C0FB8C}"/>
              </a:ext>
            </a:extLst>
          </p:cNvPr>
          <p:cNvSpPr txBox="1"/>
          <p:nvPr/>
        </p:nvSpPr>
        <p:spPr>
          <a:xfrm>
            <a:off x="9795318" y="6473388"/>
            <a:ext cx="23966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Perkowski et al. (2025)</a:t>
            </a:r>
          </a:p>
        </p:txBody>
      </p:sp>
    </p:spTree>
    <p:extLst>
      <p:ext uri="{BB962C8B-B14F-4D97-AF65-F5344CB8AC3E}">
        <p14:creationId xmlns:p14="http://schemas.microsoft.com/office/powerpoint/2010/main" val="31059215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02F14D-3E44-A81C-AFC8-B6B2909516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D8F231-04FB-AD97-077B-571A9FCA3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 4: Light x Soil Phosphorus x C</a:t>
            </a:r>
            <a:r>
              <a:rPr lang="en-US" baseline="-25000" dirty="0"/>
              <a:t>3</a:t>
            </a:r>
            <a:r>
              <a:rPr lang="en-US" dirty="0"/>
              <a:t>/C</a:t>
            </a:r>
            <a:r>
              <a:rPr lang="en-US" baseline="-25000" dirty="0"/>
              <a:t>4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6B5F64-9285-21D1-ADD2-FB4CD0C880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Within leaves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Nitrogen allocation</a:t>
            </a:r>
          </a:p>
          <a:p>
            <a:pPr lvl="1"/>
            <a:r>
              <a:rPr lang="en-US" dirty="0">
                <a:solidFill>
                  <a:srgbClr val="002060"/>
                </a:solidFill>
              </a:rPr>
              <a:t>Phosphorus allocation</a:t>
            </a:r>
          </a:p>
          <a:p>
            <a:r>
              <a:rPr lang="en-US" dirty="0"/>
              <a:t>Whole plant</a:t>
            </a:r>
          </a:p>
          <a:p>
            <a:pPr lvl="1"/>
            <a:r>
              <a:rPr lang="en-US" dirty="0" err="1">
                <a:solidFill>
                  <a:srgbClr val="002060"/>
                </a:solidFill>
              </a:rPr>
              <a:t>Root:Shoot</a:t>
            </a:r>
            <a:r>
              <a:rPr lang="en-US" dirty="0">
                <a:solidFill>
                  <a:srgbClr val="002060"/>
                </a:solidFill>
              </a:rPr>
              <a:t> ratio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Total leaf area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83A612A-0267-8866-DB60-2AB7E47096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7069" y="2837794"/>
            <a:ext cx="2475186" cy="247518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13FAD88-39B6-238C-3451-C356366CBB16}"/>
              </a:ext>
            </a:extLst>
          </p:cNvPr>
          <p:cNvSpPr txBox="1"/>
          <p:nvPr/>
        </p:nvSpPr>
        <p:spPr>
          <a:xfrm>
            <a:off x="10011275" y="6492875"/>
            <a:ext cx="21807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Kelley et al. (in prep)</a:t>
            </a:r>
          </a:p>
        </p:txBody>
      </p:sp>
    </p:spTree>
    <p:extLst>
      <p:ext uri="{BB962C8B-B14F-4D97-AF65-F5344CB8AC3E}">
        <p14:creationId xmlns:p14="http://schemas.microsoft.com/office/powerpoint/2010/main" val="90319590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140997-F770-EB4F-814A-981886E2D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11ECE2-78A4-E98E-7EBF-DB48453FB6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 4: Light x Soil Phosphorus x C</a:t>
            </a:r>
            <a:r>
              <a:rPr lang="en-US" baseline="-25000" dirty="0"/>
              <a:t>3</a:t>
            </a:r>
            <a:r>
              <a:rPr lang="en-US" dirty="0"/>
              <a:t>/C</a:t>
            </a:r>
            <a:r>
              <a:rPr lang="en-US" baseline="-25000" dirty="0"/>
              <a:t>4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3DFCF7-0EFE-2CE8-3049-D20D724E86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Within leaves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Nitrogen allocation</a:t>
            </a:r>
          </a:p>
          <a:p>
            <a:pPr lvl="1"/>
            <a:r>
              <a:rPr lang="en-US" dirty="0">
                <a:solidFill>
                  <a:srgbClr val="002060"/>
                </a:solidFill>
              </a:rPr>
              <a:t>Phosphorus allocation</a:t>
            </a:r>
          </a:p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Whole plant</a:t>
            </a:r>
          </a:p>
          <a:p>
            <a:pPr lvl="1"/>
            <a:r>
              <a:rPr lang="en-US" dirty="0" err="1">
                <a:solidFill>
                  <a:schemeClr val="bg1">
                    <a:lumMod val="85000"/>
                  </a:schemeClr>
                </a:solidFill>
              </a:rPr>
              <a:t>Root:Shoot</a:t>
            </a:r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 ratio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Total leaf area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AD45674-5BE0-7CE3-CFF1-BADC772AE9E3}"/>
              </a:ext>
            </a:extLst>
          </p:cNvPr>
          <p:cNvSpPr txBox="1"/>
          <p:nvPr/>
        </p:nvSpPr>
        <p:spPr>
          <a:xfrm>
            <a:off x="4456386" y="3926252"/>
            <a:ext cx="753706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Digestion system in place; results coming soon!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AF9382-63DC-CAD7-0A2E-0949D5D9FE36}"/>
              </a:ext>
            </a:extLst>
          </p:cNvPr>
          <p:cNvSpPr txBox="1"/>
          <p:nvPr/>
        </p:nvSpPr>
        <p:spPr>
          <a:xfrm>
            <a:off x="10011275" y="6492875"/>
            <a:ext cx="21807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Kelley et al. (in prep)</a:t>
            </a:r>
          </a:p>
        </p:txBody>
      </p:sp>
    </p:spTree>
    <p:extLst>
      <p:ext uri="{BB962C8B-B14F-4D97-AF65-F5344CB8AC3E}">
        <p14:creationId xmlns:p14="http://schemas.microsoft.com/office/powerpoint/2010/main" val="16150542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C1E685-0B31-5A85-50EB-3E56FC66AD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0A14CF-2E51-DBE7-24DC-E31397CCD9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 4: Light x Soil Phosphorus x C</a:t>
            </a:r>
            <a:r>
              <a:rPr lang="en-US" baseline="-25000" dirty="0"/>
              <a:t>3</a:t>
            </a:r>
            <a:r>
              <a:rPr lang="en-US" dirty="0"/>
              <a:t>/C</a:t>
            </a:r>
            <a:r>
              <a:rPr lang="en-US" baseline="-25000" dirty="0"/>
              <a:t>4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068B6B-9B07-04F0-9D71-9F7F22F5E2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Within leaves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Nitrogen allocation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Phosphorus allocation</a:t>
            </a:r>
          </a:p>
          <a:p>
            <a:r>
              <a:rPr lang="en-US" dirty="0"/>
              <a:t>Whole plant</a:t>
            </a:r>
          </a:p>
          <a:p>
            <a:pPr lvl="1"/>
            <a:r>
              <a:rPr lang="en-US" dirty="0" err="1">
                <a:solidFill>
                  <a:srgbClr val="002060"/>
                </a:solidFill>
              </a:rPr>
              <a:t>Root:Shoot</a:t>
            </a:r>
            <a:r>
              <a:rPr lang="en-US" dirty="0">
                <a:solidFill>
                  <a:srgbClr val="002060"/>
                </a:solidFill>
              </a:rPr>
              <a:t> ratio</a:t>
            </a:r>
          </a:p>
          <a:p>
            <a:pPr lvl="1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Total leaf area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80B6CEF-CDA7-697B-BDE7-415D1A87C3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9114" y="1740092"/>
            <a:ext cx="4981437" cy="442969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EA99183-2E21-AC08-5200-9E33085D7FA2}"/>
              </a:ext>
            </a:extLst>
          </p:cNvPr>
          <p:cNvSpPr txBox="1"/>
          <p:nvPr/>
        </p:nvSpPr>
        <p:spPr>
          <a:xfrm>
            <a:off x="662152" y="4750676"/>
            <a:ext cx="422756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0000"/>
                </a:solidFill>
              </a:rPr>
              <a:t>Light increases R:S</a:t>
            </a:r>
          </a:p>
          <a:p>
            <a:r>
              <a:rPr lang="en-US" sz="3600" dirty="0">
                <a:solidFill>
                  <a:srgbClr val="FF0000"/>
                </a:solidFill>
              </a:rPr>
              <a:t>Soil P decreases R:S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007461A-EB0A-47B0-B571-BFE12E6492A8}"/>
              </a:ext>
            </a:extLst>
          </p:cNvPr>
          <p:cNvSpPr txBox="1"/>
          <p:nvPr/>
        </p:nvSpPr>
        <p:spPr>
          <a:xfrm>
            <a:off x="10011275" y="6492875"/>
            <a:ext cx="21807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Kelley et al. (in prep)</a:t>
            </a:r>
          </a:p>
        </p:txBody>
      </p:sp>
    </p:spTree>
    <p:extLst>
      <p:ext uri="{BB962C8B-B14F-4D97-AF65-F5344CB8AC3E}">
        <p14:creationId xmlns:p14="http://schemas.microsoft.com/office/powerpoint/2010/main" val="18154067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BB446A-4EA4-ABFC-50C1-6EB5B4A77E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5D12D7-2D88-7AE1-C094-4910AE60A0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 5: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DE0462-06B7-ADDE-023E-3665A9E736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Within leaves</a:t>
            </a:r>
          </a:p>
          <a:p>
            <a:pPr lvl="1"/>
            <a:r>
              <a:rPr lang="en-US" dirty="0"/>
              <a:t>Nitrogen allocation</a:t>
            </a:r>
          </a:p>
          <a:p>
            <a:pPr lvl="1"/>
            <a:r>
              <a:rPr lang="en-US" dirty="0"/>
              <a:t>Phosphorus allocation</a:t>
            </a:r>
          </a:p>
          <a:p>
            <a:r>
              <a:rPr lang="en-US" dirty="0"/>
              <a:t>Whole plant</a:t>
            </a:r>
          </a:p>
          <a:p>
            <a:pPr lvl="1"/>
            <a:r>
              <a:rPr lang="en-US" dirty="0" err="1"/>
              <a:t>Root:Shoot</a:t>
            </a:r>
            <a:r>
              <a:rPr lang="en-US" dirty="0"/>
              <a:t> ratio</a:t>
            </a:r>
          </a:p>
          <a:p>
            <a:pPr lvl="1"/>
            <a:r>
              <a:rPr lang="en-US" dirty="0"/>
              <a:t>Total leaf area</a:t>
            </a:r>
          </a:p>
        </p:txBody>
      </p:sp>
    </p:spTree>
    <p:extLst>
      <p:ext uri="{BB962C8B-B14F-4D97-AF65-F5344CB8AC3E}">
        <p14:creationId xmlns:p14="http://schemas.microsoft.com/office/powerpoint/2010/main" val="32022832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</TotalTime>
  <Words>599</Words>
  <Application>Microsoft Macintosh PowerPoint</Application>
  <PresentationFormat>Widescreen</PresentationFormat>
  <Paragraphs>149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Aptos</vt:lpstr>
      <vt:lpstr>Aptos Display</vt:lpstr>
      <vt:lpstr>Arial</vt:lpstr>
      <vt:lpstr>Office Theme</vt:lpstr>
      <vt:lpstr>Smith Lab experimental allocation results</vt:lpstr>
      <vt:lpstr>General approach to measuring allocation in experiments</vt:lpstr>
      <vt:lpstr>General approach to measuring allocation in experiments</vt:lpstr>
      <vt:lpstr>General approach to measuring allocation in experiments</vt:lpstr>
      <vt:lpstr>General approach to measuring allocation in experiments</vt:lpstr>
      <vt:lpstr>General approach to measuring allocation in experiments</vt:lpstr>
      <vt:lpstr>General approach to measuring allocation in experiments</vt:lpstr>
      <vt:lpstr>Experiment 1: Light x Soil Nitrogen x N-fixation</vt:lpstr>
      <vt:lpstr>Experiment 1: Light x Soil Nitrogen x N-fixation</vt:lpstr>
      <vt:lpstr>Experiment 1: Light x Soil Nitrogen x N-fixation</vt:lpstr>
      <vt:lpstr>Experiment 2: Soil Water x Soil Nitrogen</vt:lpstr>
      <vt:lpstr>Experiment 2: Soil Water x Soil Nitrogen</vt:lpstr>
      <vt:lpstr>Experiment 2: Soil Water x Soil Nitrogen</vt:lpstr>
      <vt:lpstr>Experiment 3: CO2 x Soil Nitrogen x N-fixation</vt:lpstr>
      <vt:lpstr>Experiment 3: CO2 x Soil Nitrogen x N-fixation</vt:lpstr>
      <vt:lpstr>Experiment 3: CO2 x Soil Nitrogen x N-fixation</vt:lpstr>
      <vt:lpstr>Experiment 4: Light x Soil Phosphorus x C3/C4</vt:lpstr>
      <vt:lpstr>Experiment 4: Light x Soil Phosphorus x C3/C4</vt:lpstr>
      <vt:lpstr>Experiment 4: Light x Soil Phosphorus x C3/C4</vt:lpstr>
      <vt:lpstr>Experiment 5: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Smith, Nick</dc:creator>
  <cp:lastModifiedBy>Smith, Nick</cp:lastModifiedBy>
  <cp:revision>18</cp:revision>
  <dcterms:created xsi:type="dcterms:W3CDTF">2026-05-11T07:25:11Z</dcterms:created>
  <dcterms:modified xsi:type="dcterms:W3CDTF">2026-05-15T17:27:25Z</dcterms:modified>
</cp:coreProperties>
</file>