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82" r:id="rId9"/>
    <p:sldId id="283" r:id="rId10"/>
    <p:sldId id="284" r:id="rId11"/>
    <p:sldId id="286" r:id="rId12"/>
    <p:sldId id="288" r:id="rId13"/>
    <p:sldId id="290" r:id="rId14"/>
    <p:sldId id="289" r:id="rId15"/>
    <p:sldId id="291" r:id="rId16"/>
    <p:sldId id="292" r:id="rId17"/>
    <p:sldId id="293" r:id="rId18"/>
    <p:sldId id="294" r:id="rId19"/>
    <p:sldId id="295" r:id="rId20"/>
    <p:sldId id="296" r:id="rId21"/>
    <p:sldId id="297" r:id="rId22"/>
    <p:sldId id="298" r:id="rId23"/>
    <p:sldId id="299" r:id="rId24"/>
    <p:sldId id="300" r:id="rId25"/>
    <p:sldId id="301" r:id="rId26"/>
    <p:sldId id="302" r:id="rId27"/>
    <p:sldId id="304" r:id="rId28"/>
    <p:sldId id="305" r:id="rId29"/>
    <p:sldId id="306" r:id="rId30"/>
    <p:sldId id="308" r:id="rId31"/>
    <p:sldId id="309" r:id="rId32"/>
    <p:sldId id="310" r:id="rId33"/>
    <p:sldId id="311" r:id="rId34"/>
    <p:sldId id="285" r:id="rId35"/>
    <p:sldId id="287" r:id="rId36"/>
    <p:sldId id="303" r:id="rId37"/>
    <p:sldId id="307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116"/>
    <p:restoredTop sz="94658"/>
  </p:normalViewPr>
  <p:slideViewPr>
    <p:cSldViewPr snapToGrid="0">
      <p:cViewPr varScale="1">
        <p:scale>
          <a:sx n="120" d="100"/>
          <a:sy n="120" d="100"/>
        </p:scale>
        <p:origin x="70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E6887C-D374-F845-9C20-29EF72145A2E}" type="datetimeFigureOut">
              <a:rPr lang="en-US" smtClean="0"/>
              <a:t>5/19/26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47FD78-2F04-6346-8027-D4637A85E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43295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47FD78-2F04-6346-8027-D4637A85E1FF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8362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08B33-31CF-DD99-0FD2-25149CE6E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D68CB8-E395-63C3-4068-CC0EDFD346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24A5AB-9F40-9378-0A11-37A33125A9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18471E-5226-2960-A555-E40073A59B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47FD78-2F04-6346-8027-D4637A85E1FF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6928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7302D-1EE9-954A-809C-3B6D69754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9B2023-ED91-17B0-11F9-B9E97220E5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83E5BE-FEBB-4F3B-A281-7AC0D7EA8F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5EAD85-0A2A-2947-9156-C4A3048847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47FD78-2F04-6346-8027-D4637A85E1FF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0517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15FD42-742B-E931-2ABC-55261955D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5D6F73-F928-ACF6-1CDD-D5CBAAEBB3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3DEFF3-CE5F-49AA-59D9-3FCA5B20F3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B07DA8-4E18-1C60-66BE-36BAA571F2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47FD78-2F04-6346-8027-D4637A85E1FF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5632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47FD78-2F04-6346-8027-D4637A85E1FF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63618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F712A-7F46-3BD2-81F4-70E218981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36ADEF-F91F-3DE2-5F6F-C0CA9B203B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CC8807-E1E3-B130-9597-F01BCB53CD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2AA5B2-41C7-1673-2D6E-6BE948A84D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47FD78-2F04-6346-8027-D4637A85E1FF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2522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3196F-C92F-2D3B-E61B-990B790EAB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417841-528E-733B-8A20-C0D1A34BA5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6524F8-A074-E824-5BC9-754BDFFA4F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914372-A3AC-7946-8026-7C3ECE4DF88D}" type="datetimeFigureOut">
              <a:rPr lang="en-US" smtClean="0"/>
              <a:t>5/19/26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ECDA9C-264C-25C4-6AE8-E7170B26C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0A0C08-6DF3-77A2-2FEB-9543C9E090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EDD7B-270B-2D4C-A092-AD20A45EFE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0601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09374-F9DE-9383-DDA4-0F05053C4E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B42595-B4D2-66DA-1291-A049701C37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19390B-28DA-76CF-0F2F-6F4A3B133E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914372-A3AC-7946-8026-7C3ECE4DF88D}" type="datetimeFigureOut">
              <a:rPr lang="en-US" smtClean="0"/>
              <a:t>5/19/26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23272D-ED14-0E02-7301-8312B7828B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D84E43-6A24-DFFC-A7EE-0695E73EB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EDD7B-270B-2D4C-A092-AD20A45EFE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20628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E93209-BA28-3E28-A624-00129471A2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26C37D-093C-BE8D-6FA2-4D1FF3787E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CD415F-AFA6-C477-3E61-9BAC6D010B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914372-A3AC-7946-8026-7C3ECE4DF88D}" type="datetimeFigureOut">
              <a:rPr lang="en-US" smtClean="0"/>
              <a:t>5/19/26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F8CCEA-92E1-D5F1-BBDD-B23755610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EE6E80-E7CE-BFCA-B325-D3A9DF5A2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EDD7B-270B-2D4C-A092-AD20A45EFE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283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DDA9F-480F-0430-E3B9-DCC8E19C6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93696F-DE65-651D-8143-51A8B7FB37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70BC98-8C3B-8C17-2D8C-3398CA5AD4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8C835B-1D9C-AA0C-0BE2-02C73A27BB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914372-A3AC-7946-8026-7C3ECE4DF88D}" type="datetimeFigureOut">
              <a:rPr lang="en-US" smtClean="0"/>
              <a:t>5/19/26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5C57FD-237D-3984-5FAC-804EDAD899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D61E79-44AC-A23B-E8CB-F7356E413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EDD7B-270B-2D4C-A092-AD20A45EFE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9187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70714-2669-F5E2-25BA-C6763A50F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6F3C84-FA60-2677-A32A-B6B93D1E1C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ACC29-AAA0-D3C2-375D-01DCF09E99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B75C26-A97A-F163-01DB-557168F08A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D89448F-1273-D7BD-A86F-52F9AD8C83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22654C4-FAA2-1C8E-A432-A4C81EFC7D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914372-A3AC-7946-8026-7C3ECE4DF88D}" type="datetimeFigureOut">
              <a:rPr lang="en-US" smtClean="0"/>
              <a:t>5/19/26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0E3D4A3-A796-2DBB-BCD8-C248E42E62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9E2535C-3E3D-662D-72ED-A51C7064ED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EDD7B-270B-2D4C-A092-AD20A45EFE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2046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9ED82-D50C-3C24-0B85-67A72F46DD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CD136C-8527-64E4-B1D8-FE59B06C8E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914372-A3AC-7946-8026-7C3ECE4DF88D}" type="datetimeFigureOut">
              <a:rPr lang="en-US" smtClean="0"/>
              <a:t>5/19/26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07E7F8-5395-266A-297D-B896597696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1F8289-DD4F-05C4-CF9D-94E73DF29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EDD7B-270B-2D4C-A092-AD20A45EFE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3332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08C63B5-864E-E269-F8F2-26FF9EE3B6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914372-A3AC-7946-8026-7C3ECE4DF88D}" type="datetimeFigureOut">
              <a:rPr lang="en-US" smtClean="0"/>
              <a:t>5/19/26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BA4A973-D7F6-E1E6-28EF-B2461AAC8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35B316-BA20-0E49-32F9-B44E4829D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EDD7B-270B-2D4C-A092-AD20A45EFE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901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A523E-61A0-68BC-CEB6-086D64530F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89D128-09D9-B16C-8C2D-8720D095D3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5706E2-63BA-5164-CED0-711E707E65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79B749-B3EF-80DF-9596-A75D5C191B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914372-A3AC-7946-8026-7C3ECE4DF88D}" type="datetimeFigureOut">
              <a:rPr lang="en-US" smtClean="0"/>
              <a:t>5/19/26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0418F3-5EA5-11DB-343F-E45240E13B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395A10-6AFF-CB03-CB70-77FB4EB217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EDD7B-270B-2D4C-A092-AD20A45EFE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984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F6A269-DD40-D179-2284-A0E40AAA87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E31F982-5AAA-7A54-0E4A-799D979229D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854117-D682-1739-AFB7-32E3608D43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7C27EB-8054-F6E4-956C-586EC8CED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914372-A3AC-7946-8026-7C3ECE4DF88D}" type="datetimeFigureOut">
              <a:rPr lang="en-US" smtClean="0"/>
              <a:t>5/19/26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BAF9B5-B4D1-DC81-3D60-6847B8FEC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FE22F2-7EEF-134E-3519-1BEC443BB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EDD7B-270B-2D4C-A092-AD20A45EFE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51790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235B3C-C627-3579-1F46-67CBAD0BE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5388FD-04E7-E897-57DE-CA23338954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84F2CC-8CD1-BB04-4457-7EF5DFDAE3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914372-A3AC-7946-8026-7C3ECE4DF88D}" type="datetimeFigureOut">
              <a:rPr lang="en-US" smtClean="0"/>
              <a:t>5/19/26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1AD33E-ED36-5139-8578-A5BE07902C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E06967-9C01-3221-421D-C7B0E6D498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EDD7B-270B-2D4C-A092-AD20A45EFE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514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EB79543-4B88-E7FD-9FB2-EACC9BF867A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869529-457D-5EF9-32DE-26C06055F2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35B033-CD31-C81B-067F-1D50CD14E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914372-A3AC-7946-8026-7C3ECE4DF88D}" type="datetimeFigureOut">
              <a:rPr lang="en-US" smtClean="0"/>
              <a:t>5/19/26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FEA432-5306-0417-F131-1578B0F337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9C5C4A-A655-3A52-9F7F-E6574DA92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EDD7B-270B-2D4C-A092-AD20A45EFE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4993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19B1B08-19AE-2D20-3AFA-2092DAD4FB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8DF196-D900-68F1-4ECF-718911BAA5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88039F-FCB9-B108-8B9D-E659C02899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914372-A3AC-7946-8026-7C3ECE4DF88D}" type="datetimeFigureOut">
              <a:rPr lang="en-US" smtClean="0"/>
              <a:t>5/19/26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4046B0-6261-1B23-ED2E-758CA1558F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B34D37-FB84-1287-DEC5-064EE7FBFF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2EDD7B-270B-2D4C-A092-AD20A45EFE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4942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tif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jpeg"/><Relationship Id="rId4" Type="http://schemas.openxmlformats.org/officeDocument/2006/relationships/image" Target="../media/image6.jpe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ti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7439FD-29B1-C126-B4C0-EC96A8C1FBB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Allocation results from manipulative experiments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68D351-5F13-1E22-3515-6E452C12083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Nick Smith</a:t>
            </a:r>
          </a:p>
          <a:p>
            <a:r>
              <a:rPr lang="en-US" dirty="0"/>
              <a:t>LEMONTREE Science meeting</a:t>
            </a:r>
          </a:p>
          <a:p>
            <a:r>
              <a:rPr lang="en-US" dirty="0"/>
              <a:t>May 21, 2026</a:t>
            </a:r>
          </a:p>
        </p:txBody>
      </p:sp>
    </p:spTree>
    <p:extLst>
      <p:ext uri="{BB962C8B-B14F-4D97-AF65-F5344CB8AC3E}">
        <p14:creationId xmlns:p14="http://schemas.microsoft.com/office/powerpoint/2010/main" val="276333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13ECAB-C9E5-C4F7-E5EA-81643ACE1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approach to measuring allocation in experiments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F71DA2-61E4-0D0A-6AB4-45B361A67B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54078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EF39DB-A4DD-2D93-F022-AA6B7AC37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175B5-A914-D5B9-F860-9BBE0C6F8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approach to measuring allocation in experiments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598A0A-F88D-94E0-20D4-58419551A6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Within leaves</a:t>
            </a:r>
          </a:p>
          <a:p>
            <a:pPr lvl="1"/>
            <a:r>
              <a:rPr lang="en-US" dirty="0"/>
              <a:t>Nitrogen allocation</a:t>
            </a:r>
          </a:p>
          <a:p>
            <a:pPr lvl="1"/>
            <a:r>
              <a:rPr lang="en-US" dirty="0"/>
              <a:t>Phosphorus allocation</a:t>
            </a:r>
          </a:p>
        </p:txBody>
      </p:sp>
    </p:spTree>
    <p:extLst>
      <p:ext uri="{BB962C8B-B14F-4D97-AF65-F5344CB8AC3E}">
        <p14:creationId xmlns:p14="http://schemas.microsoft.com/office/powerpoint/2010/main" val="22123553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A7B965-64EC-DAF8-0419-450F0DEB4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D6187D-3BCA-EFC9-7864-BFF6DC96A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approach to measuring allocation in experiments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5252D0-68DC-6670-1309-BAB04691D3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Within leaves</a:t>
            </a:r>
          </a:p>
          <a:p>
            <a:pPr lvl="1"/>
            <a:r>
              <a:rPr lang="en-US" dirty="0"/>
              <a:t>Nitrogen allocation</a:t>
            </a:r>
          </a:p>
          <a:p>
            <a:pPr lvl="2"/>
            <a:r>
              <a:rPr lang="en-US" dirty="0"/>
              <a:t>Structure (LMA)</a:t>
            </a:r>
          </a:p>
          <a:p>
            <a:pPr lvl="2"/>
            <a:r>
              <a:rPr lang="en-US" dirty="0" err="1"/>
              <a:t>RuBisCO</a:t>
            </a:r>
            <a:r>
              <a:rPr lang="en-US" dirty="0"/>
              <a:t> (</a:t>
            </a:r>
            <a:r>
              <a:rPr lang="en-US" dirty="0" err="1"/>
              <a:t>V</a:t>
            </a:r>
            <a:r>
              <a:rPr lang="en-US" baseline="-25000" dirty="0" err="1"/>
              <a:t>cmax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Light harvesting (chlorophyll)</a:t>
            </a:r>
          </a:p>
          <a:p>
            <a:pPr lvl="2"/>
            <a:r>
              <a:rPr lang="en-US" dirty="0"/>
              <a:t>Bioenergetics (electron transport; </a:t>
            </a:r>
            <a:r>
              <a:rPr lang="en-US" dirty="0" err="1"/>
              <a:t>J</a:t>
            </a:r>
            <a:r>
              <a:rPr lang="en-US" baseline="-25000" dirty="0" err="1"/>
              <a:t>max</a:t>
            </a:r>
            <a:r>
              <a:rPr lang="en-US" dirty="0"/>
              <a:t>)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Phosphorus allocation</a:t>
            </a:r>
          </a:p>
        </p:txBody>
      </p:sp>
    </p:spTree>
    <p:extLst>
      <p:ext uri="{BB962C8B-B14F-4D97-AF65-F5344CB8AC3E}">
        <p14:creationId xmlns:p14="http://schemas.microsoft.com/office/powerpoint/2010/main" val="29911558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3E56F3-40CA-C4AE-7694-A17D5F88E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179E60-3D5E-BC91-441B-95F01AD67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approach to measuring allocation in experiments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1E2851-6447-F8BC-E53A-83165AFDD8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Within leaves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allocation</a:t>
            </a:r>
          </a:p>
          <a:p>
            <a:pPr lvl="1"/>
            <a:r>
              <a:rPr lang="en-US" dirty="0"/>
              <a:t>Phosphorus allocation</a:t>
            </a:r>
          </a:p>
          <a:p>
            <a:pPr lvl="2"/>
            <a:r>
              <a:rPr lang="en-US" dirty="0"/>
              <a:t>Inorganic phosphate</a:t>
            </a:r>
          </a:p>
          <a:p>
            <a:pPr lvl="2"/>
            <a:r>
              <a:rPr lang="en-US" dirty="0"/>
              <a:t>Nucleic acids</a:t>
            </a:r>
          </a:p>
          <a:p>
            <a:pPr lvl="2"/>
            <a:r>
              <a:rPr lang="en-US" dirty="0"/>
              <a:t>Phospholipids</a:t>
            </a:r>
          </a:p>
          <a:p>
            <a:pPr lvl="2"/>
            <a:r>
              <a:rPr lang="en-US" dirty="0"/>
              <a:t>Metabolites</a:t>
            </a:r>
          </a:p>
          <a:p>
            <a:pPr lvl="2"/>
            <a:r>
              <a:rPr lang="en-US" dirty="0"/>
              <a:t>Residual</a:t>
            </a:r>
          </a:p>
        </p:txBody>
      </p:sp>
    </p:spTree>
    <p:extLst>
      <p:ext uri="{BB962C8B-B14F-4D97-AF65-F5344CB8AC3E}">
        <p14:creationId xmlns:p14="http://schemas.microsoft.com/office/powerpoint/2010/main" val="16951994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119A3-5783-B84C-A320-7E46B8B8A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859FD1-6DE7-93B0-CEA0-8D03EF193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approach to measuring allocation in experiments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65E488-A076-CD8D-69AA-6620902545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Within leaves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allocation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Phosphorus allocation</a:t>
            </a:r>
          </a:p>
          <a:p>
            <a:r>
              <a:rPr lang="en-US" dirty="0"/>
              <a:t>Whole plant</a:t>
            </a:r>
          </a:p>
        </p:txBody>
      </p:sp>
    </p:spTree>
    <p:extLst>
      <p:ext uri="{BB962C8B-B14F-4D97-AF65-F5344CB8AC3E}">
        <p14:creationId xmlns:p14="http://schemas.microsoft.com/office/powerpoint/2010/main" val="21664496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CBC8D9-C0EF-701C-CB6A-0D357E1BB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75E710-FC90-81A6-BE1B-C6B3074EC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approach to measuring allocation in experiments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BCAB8C-3897-E7F4-602F-8472EF896A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Within leaves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allocation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Phosphorus allocation</a:t>
            </a:r>
          </a:p>
          <a:p>
            <a:r>
              <a:rPr lang="en-US" dirty="0"/>
              <a:t>Whole plant</a:t>
            </a:r>
          </a:p>
          <a:p>
            <a:pPr lvl="1"/>
            <a:r>
              <a:rPr lang="en-US" dirty="0" err="1"/>
              <a:t>Root:Shoot</a:t>
            </a:r>
            <a:r>
              <a:rPr lang="en-US" dirty="0"/>
              <a:t> ratio</a:t>
            </a:r>
          </a:p>
          <a:p>
            <a:pPr lvl="1"/>
            <a:r>
              <a:rPr lang="en-US" dirty="0"/>
              <a:t>Total leaf area</a:t>
            </a:r>
          </a:p>
        </p:txBody>
      </p:sp>
    </p:spTree>
    <p:extLst>
      <p:ext uri="{BB962C8B-B14F-4D97-AF65-F5344CB8AC3E}">
        <p14:creationId xmlns:p14="http://schemas.microsoft.com/office/powerpoint/2010/main" val="2901739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CD4C7-68CB-F604-C028-1F9611190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Allocation in manipulative contexts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74DABD-455B-D649-7334-7DC6FF9556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Light availability</a:t>
            </a:r>
          </a:p>
          <a:p>
            <a:r>
              <a:rPr lang="en-US" dirty="0"/>
              <a:t>CO</a:t>
            </a:r>
            <a:r>
              <a:rPr lang="en-US" baseline="-25000" dirty="0"/>
              <a:t>2</a:t>
            </a:r>
            <a:r>
              <a:rPr lang="en-US" dirty="0"/>
              <a:t> availability</a:t>
            </a:r>
          </a:p>
          <a:p>
            <a:r>
              <a:rPr lang="en-US" dirty="0"/>
              <a:t>Vapor pressure deficit</a:t>
            </a:r>
          </a:p>
          <a:p>
            <a:r>
              <a:rPr lang="en-US" dirty="0"/>
              <a:t>Water availability</a:t>
            </a:r>
          </a:p>
          <a:p>
            <a:r>
              <a:rPr lang="en-US" dirty="0"/>
              <a:t>Nitrogen availability</a:t>
            </a:r>
          </a:p>
          <a:p>
            <a:r>
              <a:rPr lang="en-US" dirty="0"/>
              <a:t>Phosphorus availability</a:t>
            </a:r>
          </a:p>
          <a:p>
            <a:r>
              <a:rPr lang="en-US" dirty="0"/>
              <a:t>N-fixing bacteria presence</a:t>
            </a:r>
          </a:p>
          <a:p>
            <a:r>
              <a:rPr lang="en-US" dirty="0"/>
              <a:t>Mycorrhizae presence</a:t>
            </a:r>
          </a:p>
        </p:txBody>
      </p:sp>
    </p:spTree>
    <p:extLst>
      <p:ext uri="{BB962C8B-B14F-4D97-AF65-F5344CB8AC3E}">
        <p14:creationId xmlns:p14="http://schemas.microsoft.com/office/powerpoint/2010/main" val="18728253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DED858-EF0D-830F-0B7C-6FCDC0825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362F5-2844-BD65-AB66-30FA859DF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Allocation in manipulative contexts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BE76EC-923F-E0E2-FD49-C170A2B930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Light availability</a:t>
            </a:r>
          </a:p>
          <a:p>
            <a:r>
              <a:rPr lang="en-US" dirty="0"/>
              <a:t>CO</a:t>
            </a:r>
            <a:r>
              <a:rPr lang="en-US" baseline="-25000" dirty="0"/>
              <a:t>2</a:t>
            </a:r>
            <a:r>
              <a:rPr lang="en-US" dirty="0"/>
              <a:t> availability</a:t>
            </a:r>
          </a:p>
          <a:p>
            <a:r>
              <a:rPr lang="en-US" dirty="0"/>
              <a:t>Vapor pressure deficit</a:t>
            </a:r>
          </a:p>
          <a:p>
            <a:r>
              <a:rPr lang="en-US" dirty="0"/>
              <a:t>Water availability</a:t>
            </a:r>
          </a:p>
          <a:p>
            <a:r>
              <a:rPr lang="en-US" dirty="0"/>
              <a:t>Nitrogen availability</a:t>
            </a:r>
          </a:p>
          <a:p>
            <a:r>
              <a:rPr lang="en-US" dirty="0"/>
              <a:t>Phosphorus availability</a:t>
            </a:r>
          </a:p>
          <a:p>
            <a:r>
              <a:rPr lang="en-US" dirty="0"/>
              <a:t>N-fixing bacteria presence</a:t>
            </a:r>
          </a:p>
          <a:p>
            <a:r>
              <a:rPr lang="en-US" dirty="0"/>
              <a:t>Mycorrhizae presence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D28C23-2B6B-260E-A398-6CCAFE282158}"/>
              </a:ext>
            </a:extLst>
          </p:cNvPr>
          <p:cNvSpPr txBox="1"/>
          <p:nvPr/>
        </p:nvSpPr>
        <p:spPr>
          <a:xfrm>
            <a:off x="5769536" y="3580665"/>
            <a:ext cx="64224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</a:rPr>
              <a:t>Many interactive combinations!</a:t>
            </a:r>
          </a:p>
        </p:txBody>
      </p:sp>
    </p:spTree>
    <p:extLst>
      <p:ext uri="{BB962C8B-B14F-4D97-AF65-F5344CB8AC3E}">
        <p14:creationId xmlns:p14="http://schemas.microsoft.com/office/powerpoint/2010/main" val="10622339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4CCEF-53D8-1C0A-DD73-F3E5B1B0D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08F31-D026-FCB5-96FB-7C91A3096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Allocation in manipulative contexts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66E946-C6F5-DB82-363D-2F95690BB7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Light availability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CO</a:t>
            </a:r>
            <a:r>
              <a:rPr lang="en-US" baseline="-25000" dirty="0">
                <a:solidFill>
                  <a:schemeClr val="bg1">
                    <a:lumMod val="85000"/>
                  </a:schemeClr>
                </a:solidFill>
              </a:rPr>
              <a:t>2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 availability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Vapor pressure deficit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Water availability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availability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Phosphorus availability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N-fixing bacteria presence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Mycorrhizae presence</a:t>
            </a:r>
          </a:p>
        </p:txBody>
      </p:sp>
    </p:spTree>
    <p:extLst>
      <p:ext uri="{BB962C8B-B14F-4D97-AF65-F5344CB8AC3E}">
        <p14:creationId xmlns:p14="http://schemas.microsoft.com/office/powerpoint/2010/main" val="36786380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6F00E-AC88-E0B2-3967-674F8A285D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2A5C2D-9DBD-6732-5360-E1937CA38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u="sng" dirty="0">
                <a:solidFill>
                  <a:srgbClr val="00B050"/>
                </a:solidFill>
              </a:rPr>
              <a:t>Light availability</a:t>
            </a:r>
            <a:r>
              <a:rPr lang="en-US" dirty="0">
                <a:solidFill>
                  <a:srgbClr val="00B050"/>
                </a:solidFill>
              </a:rPr>
              <a:t> </a:t>
            </a:r>
            <a:r>
              <a:rPr lang="en-US" dirty="0"/>
              <a:t>impacts on allocation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00653F-FE0F-D875-6E8B-64E890D7A5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Within leaves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Nitrogen allocation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Phosphorus allocation</a:t>
            </a:r>
          </a:p>
          <a:p>
            <a:r>
              <a:rPr lang="en-US" dirty="0"/>
              <a:t>Whole plant</a:t>
            </a:r>
          </a:p>
          <a:p>
            <a:pPr lvl="1"/>
            <a:r>
              <a:rPr lang="en-US" dirty="0" err="1">
                <a:solidFill>
                  <a:srgbClr val="00B050"/>
                </a:solidFill>
              </a:rPr>
              <a:t>Root:Shoot</a:t>
            </a:r>
            <a:r>
              <a:rPr lang="en-US" dirty="0">
                <a:solidFill>
                  <a:srgbClr val="00B050"/>
                </a:solidFill>
              </a:rPr>
              <a:t> ratio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Total leaf area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CDD35D-A66C-7331-9185-D7453F5D798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43394" y="1852745"/>
            <a:ext cx="2399684" cy="239741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475F023-6DE3-89BF-9171-101B16DBC7D4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00318" y="2370548"/>
            <a:ext cx="2641512" cy="26415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9709F66-1E08-02EA-4277-7FBF648FED4B}"/>
              </a:ext>
            </a:extLst>
          </p:cNvPr>
          <p:cNvSpPr txBox="1"/>
          <p:nvPr/>
        </p:nvSpPr>
        <p:spPr>
          <a:xfrm>
            <a:off x="3352570" y="6488668"/>
            <a:ext cx="87768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Perkowski et al. (2021), Waring et al. (2023), Perkowski et al. (2024), Kelley et al. (in prep)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793EC56-E221-7E31-1D3B-BF8155D392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4149" y="4046225"/>
            <a:ext cx="2157858" cy="2157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9182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75605-CDE6-56FB-3BC6-A94542831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144DF-3E5B-8EBD-14A3-DD9AF34BE1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u="sng" dirty="0">
                <a:solidFill>
                  <a:srgbClr val="00B050"/>
                </a:solidFill>
              </a:rPr>
              <a:t>Light availability</a:t>
            </a:r>
            <a:r>
              <a:rPr lang="en-US" dirty="0">
                <a:solidFill>
                  <a:srgbClr val="00B050"/>
                </a:solidFill>
              </a:rPr>
              <a:t> </a:t>
            </a:r>
            <a:r>
              <a:rPr lang="en-US" dirty="0"/>
              <a:t>impacts on allocation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A0F04D-49AC-BC31-CD89-C0C5678EEB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Within leaves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allocation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Phosphorus allocation</a:t>
            </a:r>
          </a:p>
          <a:p>
            <a:r>
              <a:rPr lang="en-US" dirty="0"/>
              <a:t>Whole plant</a:t>
            </a:r>
          </a:p>
          <a:p>
            <a:pPr lvl="1"/>
            <a:r>
              <a:rPr lang="en-US" dirty="0" err="1">
                <a:solidFill>
                  <a:srgbClr val="00B050"/>
                </a:solidFill>
              </a:rPr>
              <a:t>Root:Shoot</a:t>
            </a:r>
            <a:r>
              <a:rPr lang="en-US" dirty="0">
                <a:solidFill>
                  <a:srgbClr val="00B050"/>
                </a:solidFill>
              </a:rPr>
              <a:t> ratio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Total leaf area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B89503-6942-3B69-2C95-BB51F1DB391E}"/>
              </a:ext>
            </a:extLst>
          </p:cNvPr>
          <p:cNvSpPr txBox="1"/>
          <p:nvPr/>
        </p:nvSpPr>
        <p:spPr>
          <a:xfrm>
            <a:off x="9795318" y="6492875"/>
            <a:ext cx="23966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Perkowski et al. (2021)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C3155CF-2897-5CD9-F358-DEE5E80CDF5D}"/>
              </a:ext>
            </a:extLst>
          </p:cNvPr>
          <p:cNvSpPr txBox="1"/>
          <p:nvPr/>
        </p:nvSpPr>
        <p:spPr>
          <a:xfrm>
            <a:off x="832526" y="5018041"/>
            <a:ext cx="30878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Increasing light increases R:S</a:t>
            </a:r>
          </a:p>
        </p:txBody>
      </p:sp>
      <p:pic>
        <p:nvPicPr>
          <p:cNvPr id="5" name="Picture 4" descr="lizz_LxN_plot.png">
            <a:extLst>
              <a:ext uri="{FF2B5EF4-FFF2-40B4-BE49-F238E27FC236}">
                <a16:creationId xmlns:a16="http://schemas.microsoft.com/office/drawing/2014/main" id="{2BAA2251-E5EE-7C36-44A5-C2272152C13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0806" r="18997"/>
          <a:stretch>
            <a:fillRect/>
          </a:stretch>
        </p:blipFill>
        <p:spPr>
          <a:xfrm>
            <a:off x="5685570" y="2145424"/>
            <a:ext cx="5917850" cy="2567151"/>
          </a:xfrm>
          <a:prstGeom prst="rect">
            <a:avLst/>
          </a:prstGeom>
        </p:spPr>
      </p:pic>
      <p:pic>
        <p:nvPicPr>
          <p:cNvPr id="7" name="Picture 6" descr="lizz_LxN_plot.png">
            <a:extLst>
              <a:ext uri="{FF2B5EF4-FFF2-40B4-BE49-F238E27FC236}">
                <a16:creationId xmlns:a16="http://schemas.microsoft.com/office/drawing/2014/main" id="{5773104F-9C9C-5835-AB47-F1ED1587C94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003" t="39728" b="39124"/>
          <a:stretch>
            <a:fillRect/>
          </a:stretch>
        </p:blipFill>
        <p:spPr>
          <a:xfrm>
            <a:off x="8271642" y="4892976"/>
            <a:ext cx="1387890" cy="1103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71129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33E0D-C8F9-144D-B788-B78C0DF15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0DF38-151C-C035-0578-310155BBD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u="sng" dirty="0">
                <a:solidFill>
                  <a:srgbClr val="00B050"/>
                </a:solidFill>
              </a:rPr>
              <a:t>Light availability</a:t>
            </a:r>
            <a:r>
              <a:rPr lang="en-US" dirty="0">
                <a:solidFill>
                  <a:srgbClr val="00B050"/>
                </a:solidFill>
              </a:rPr>
              <a:t> </a:t>
            </a:r>
            <a:r>
              <a:rPr lang="en-US" dirty="0"/>
              <a:t>impacts on allocation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33C63E-1D52-34DF-10B0-1CB551AB8A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Within leaves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allocation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Phosphorus allocation</a:t>
            </a:r>
          </a:p>
          <a:p>
            <a:r>
              <a:rPr lang="en-US" dirty="0"/>
              <a:t>Whole plant</a:t>
            </a:r>
          </a:p>
          <a:p>
            <a:pPr lvl="1"/>
            <a:r>
              <a:rPr lang="en-US" dirty="0" err="1">
                <a:solidFill>
                  <a:schemeClr val="bg1">
                    <a:lumMod val="85000"/>
                  </a:schemeClr>
                </a:solidFill>
              </a:rPr>
              <a:t>Root:Shoot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 ratio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Total leaf area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9040366-3F18-0654-87DB-B421BC6956C1}"/>
              </a:ext>
            </a:extLst>
          </p:cNvPr>
          <p:cNvSpPr txBox="1"/>
          <p:nvPr/>
        </p:nvSpPr>
        <p:spPr>
          <a:xfrm>
            <a:off x="9795318" y="6492875"/>
            <a:ext cx="23966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Perkowski et al. (2021)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C3B072-A66D-19D7-728A-F30FB585122E}"/>
              </a:ext>
            </a:extLst>
          </p:cNvPr>
          <p:cNvSpPr txBox="1"/>
          <p:nvPr/>
        </p:nvSpPr>
        <p:spPr>
          <a:xfrm>
            <a:off x="832526" y="5018041"/>
            <a:ext cx="31179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Increasing light increases TLA</a:t>
            </a:r>
          </a:p>
        </p:txBody>
      </p:sp>
      <p:pic>
        <p:nvPicPr>
          <p:cNvPr id="5" name="Picture 4" descr="lizz_LxN_plot.png">
            <a:extLst>
              <a:ext uri="{FF2B5EF4-FFF2-40B4-BE49-F238E27FC236}">
                <a16:creationId xmlns:a16="http://schemas.microsoft.com/office/drawing/2014/main" id="{EF16F208-8273-6CF5-B59D-3135EFA2114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32" t="-352" r="18565" b="51158"/>
          <a:stretch>
            <a:fillRect/>
          </a:stretch>
        </p:blipFill>
        <p:spPr>
          <a:xfrm>
            <a:off x="5685570" y="2145424"/>
            <a:ext cx="5917850" cy="2567151"/>
          </a:xfrm>
          <a:prstGeom prst="rect">
            <a:avLst/>
          </a:prstGeom>
        </p:spPr>
      </p:pic>
      <p:pic>
        <p:nvPicPr>
          <p:cNvPr id="7" name="Picture 6" descr="lizz_LxN_plot.png">
            <a:extLst>
              <a:ext uri="{FF2B5EF4-FFF2-40B4-BE49-F238E27FC236}">
                <a16:creationId xmlns:a16="http://schemas.microsoft.com/office/drawing/2014/main" id="{94B08610-759E-47DA-DC12-4FCF9BE03B1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003" t="39728" b="39124"/>
          <a:stretch>
            <a:fillRect/>
          </a:stretch>
        </p:blipFill>
        <p:spPr>
          <a:xfrm>
            <a:off x="8271642" y="4892976"/>
            <a:ext cx="1387890" cy="1103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83884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877EC1-296F-6B0F-78E7-2BED862E9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32EF1-1296-82AA-81AA-705AADCA24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Allocation in manipulative contexts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B95B6A-E761-36A5-F327-B4DC4027AB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Light availability</a:t>
            </a:r>
          </a:p>
          <a:p>
            <a:r>
              <a:rPr lang="en-US" dirty="0"/>
              <a:t>CO</a:t>
            </a:r>
            <a:r>
              <a:rPr lang="en-US" baseline="-25000" dirty="0"/>
              <a:t>2</a:t>
            </a:r>
            <a:r>
              <a:rPr lang="en-US" dirty="0"/>
              <a:t> availability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Vapor pressure deficit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Water availability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availability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Phosphorus availability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N-fixing bacteria presence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Mycorrhizae presence</a:t>
            </a:r>
          </a:p>
        </p:txBody>
      </p:sp>
    </p:spTree>
    <p:extLst>
      <p:ext uri="{BB962C8B-B14F-4D97-AF65-F5344CB8AC3E}">
        <p14:creationId xmlns:p14="http://schemas.microsoft.com/office/powerpoint/2010/main" val="7387727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0A4E8-49EE-94D6-FEA3-2F5F08EC9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6B8CA-42ED-5CF6-927C-956344741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u="sng" dirty="0">
                <a:solidFill>
                  <a:srgbClr val="00B050"/>
                </a:solidFill>
              </a:rPr>
              <a:t>CO</a:t>
            </a:r>
            <a:r>
              <a:rPr lang="en-US" u="sng" baseline="-25000" dirty="0">
                <a:solidFill>
                  <a:srgbClr val="00B050"/>
                </a:solidFill>
              </a:rPr>
              <a:t>2</a:t>
            </a:r>
            <a:r>
              <a:rPr lang="en-US" u="sng" dirty="0">
                <a:solidFill>
                  <a:srgbClr val="00B050"/>
                </a:solidFill>
              </a:rPr>
              <a:t> availability</a:t>
            </a:r>
            <a:r>
              <a:rPr lang="en-US" dirty="0">
                <a:solidFill>
                  <a:srgbClr val="00B050"/>
                </a:solidFill>
              </a:rPr>
              <a:t> </a:t>
            </a:r>
            <a:r>
              <a:rPr lang="en-US" dirty="0"/>
              <a:t>impacts on allocation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45282B-A05A-0E5E-E36A-879204D169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Within leaves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allocation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Phosphorus allocation</a:t>
            </a:r>
          </a:p>
          <a:p>
            <a:r>
              <a:rPr lang="en-US" dirty="0"/>
              <a:t>Whole plant</a:t>
            </a:r>
          </a:p>
          <a:p>
            <a:pPr lvl="1"/>
            <a:r>
              <a:rPr lang="en-US" dirty="0" err="1">
                <a:solidFill>
                  <a:srgbClr val="00B050"/>
                </a:solidFill>
              </a:rPr>
              <a:t>Root:Shoot</a:t>
            </a:r>
            <a:r>
              <a:rPr lang="en-US" dirty="0">
                <a:solidFill>
                  <a:srgbClr val="00B050"/>
                </a:solidFill>
              </a:rPr>
              <a:t> ratio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Total leaf area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2F6E63-B5C3-120E-D667-D0EFC91BE68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43394" y="1852745"/>
            <a:ext cx="2399684" cy="239741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BECCB03-971E-7FC3-16FC-E6B90FCA8426}"/>
              </a:ext>
            </a:extLst>
          </p:cNvPr>
          <p:cNvSpPr txBox="1"/>
          <p:nvPr/>
        </p:nvSpPr>
        <p:spPr>
          <a:xfrm>
            <a:off x="9795318" y="6488668"/>
            <a:ext cx="23966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Perkowski et al. (2024)</a:t>
            </a:r>
          </a:p>
        </p:txBody>
      </p:sp>
    </p:spTree>
    <p:extLst>
      <p:ext uri="{BB962C8B-B14F-4D97-AF65-F5344CB8AC3E}">
        <p14:creationId xmlns:p14="http://schemas.microsoft.com/office/powerpoint/2010/main" val="29878741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4DADE-81FA-024B-39CC-63DC66F87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0449E-8C04-6552-FD17-36C31FA86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u="sng" dirty="0">
                <a:solidFill>
                  <a:srgbClr val="00B050"/>
                </a:solidFill>
              </a:rPr>
              <a:t>CO</a:t>
            </a:r>
            <a:r>
              <a:rPr lang="en-US" u="sng" baseline="-25000" dirty="0">
                <a:solidFill>
                  <a:srgbClr val="00B050"/>
                </a:solidFill>
              </a:rPr>
              <a:t>2</a:t>
            </a:r>
            <a:r>
              <a:rPr lang="en-US" u="sng" dirty="0">
                <a:solidFill>
                  <a:srgbClr val="00B050"/>
                </a:solidFill>
              </a:rPr>
              <a:t> availability</a:t>
            </a:r>
            <a:r>
              <a:rPr lang="en-US" dirty="0">
                <a:solidFill>
                  <a:srgbClr val="00B050"/>
                </a:solidFill>
              </a:rPr>
              <a:t> </a:t>
            </a:r>
            <a:r>
              <a:rPr lang="en-US" dirty="0"/>
              <a:t>impacts on allocation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732EF4-9F34-5EA6-8022-BD59515F05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Within leaves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allocation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Phosphorus allocation</a:t>
            </a:r>
          </a:p>
          <a:p>
            <a:r>
              <a:rPr lang="en-US" dirty="0"/>
              <a:t>Whole plant</a:t>
            </a:r>
          </a:p>
          <a:p>
            <a:pPr lvl="1"/>
            <a:r>
              <a:rPr lang="en-US" dirty="0" err="1">
                <a:solidFill>
                  <a:srgbClr val="00B050"/>
                </a:solidFill>
              </a:rPr>
              <a:t>Root:Shoot</a:t>
            </a:r>
            <a:r>
              <a:rPr lang="en-US" dirty="0">
                <a:solidFill>
                  <a:srgbClr val="00B050"/>
                </a:solidFill>
              </a:rPr>
              <a:t> ratio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Total leaf area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BD2580-F2A2-1491-CEB8-B5E04F34E9C6}"/>
              </a:ext>
            </a:extLst>
          </p:cNvPr>
          <p:cNvSpPr txBox="1"/>
          <p:nvPr/>
        </p:nvSpPr>
        <p:spPr>
          <a:xfrm>
            <a:off x="9795318" y="6488668"/>
            <a:ext cx="23966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Perkowski et al. (2024)</a:t>
            </a:r>
          </a:p>
        </p:txBody>
      </p:sp>
      <p:pic>
        <p:nvPicPr>
          <p:cNvPr id="5" name="Picture 4" descr="NxCO2xI_fig3_wholePlant.png">
            <a:extLst>
              <a:ext uri="{FF2B5EF4-FFF2-40B4-BE49-F238E27FC236}">
                <a16:creationId xmlns:a16="http://schemas.microsoft.com/office/drawing/2014/main" id="{21C637C4-40F1-1438-2C8A-5657DFEDCD8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9791" r="61418"/>
          <a:stretch>
            <a:fillRect/>
          </a:stretch>
        </p:blipFill>
        <p:spPr>
          <a:xfrm>
            <a:off x="7339667" y="2002393"/>
            <a:ext cx="2998734" cy="2601644"/>
          </a:xfrm>
          <a:prstGeom prst="rect">
            <a:avLst/>
          </a:prstGeom>
        </p:spPr>
      </p:pic>
      <p:pic>
        <p:nvPicPr>
          <p:cNvPr id="7" name="Picture 6" descr="NxCO2xI_fig3_wholePlant.png">
            <a:extLst>
              <a:ext uri="{FF2B5EF4-FFF2-40B4-BE49-F238E27FC236}">
                <a16:creationId xmlns:a16="http://schemas.microsoft.com/office/drawing/2014/main" id="{D06517FA-E350-5AA3-3D83-6C1D3F8CE7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093" t="40036" b="39478"/>
          <a:stretch>
            <a:fillRect/>
          </a:stretch>
        </p:blipFill>
        <p:spPr>
          <a:xfrm>
            <a:off x="8315325" y="4780805"/>
            <a:ext cx="1935873" cy="106154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E360AB7-0FF4-1920-572C-DDF3AF1205D6}"/>
              </a:ext>
            </a:extLst>
          </p:cNvPr>
          <p:cNvSpPr txBox="1"/>
          <p:nvPr/>
        </p:nvSpPr>
        <p:spPr>
          <a:xfrm>
            <a:off x="504497" y="5126911"/>
            <a:ext cx="62580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Slight R:S decrease in plants inoculated with N-fixing bacteria</a:t>
            </a:r>
          </a:p>
        </p:txBody>
      </p:sp>
    </p:spTree>
    <p:extLst>
      <p:ext uri="{BB962C8B-B14F-4D97-AF65-F5344CB8AC3E}">
        <p14:creationId xmlns:p14="http://schemas.microsoft.com/office/powerpoint/2010/main" val="37564277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BB162-22DC-5BF6-B4FC-969D20051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0158A2-979F-26A0-5087-E979BE8783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u="sng" dirty="0">
                <a:solidFill>
                  <a:srgbClr val="00B050"/>
                </a:solidFill>
              </a:rPr>
              <a:t>CO</a:t>
            </a:r>
            <a:r>
              <a:rPr lang="en-US" u="sng" baseline="-25000" dirty="0">
                <a:solidFill>
                  <a:srgbClr val="00B050"/>
                </a:solidFill>
              </a:rPr>
              <a:t>2</a:t>
            </a:r>
            <a:r>
              <a:rPr lang="en-US" u="sng" dirty="0">
                <a:solidFill>
                  <a:srgbClr val="00B050"/>
                </a:solidFill>
              </a:rPr>
              <a:t> availability</a:t>
            </a:r>
            <a:r>
              <a:rPr lang="en-US" dirty="0">
                <a:solidFill>
                  <a:srgbClr val="00B050"/>
                </a:solidFill>
              </a:rPr>
              <a:t> </a:t>
            </a:r>
            <a:r>
              <a:rPr lang="en-US" dirty="0"/>
              <a:t>impacts on allocation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94C158-8C7A-7D2D-F2FE-C2F163A774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Within leaves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allocation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Phosphorus allocation</a:t>
            </a:r>
          </a:p>
          <a:p>
            <a:r>
              <a:rPr lang="en-US" dirty="0"/>
              <a:t>Whole plant</a:t>
            </a:r>
          </a:p>
          <a:p>
            <a:pPr lvl="1"/>
            <a:r>
              <a:rPr lang="en-US" dirty="0" err="1">
                <a:solidFill>
                  <a:schemeClr val="bg1">
                    <a:lumMod val="85000"/>
                  </a:schemeClr>
                </a:solidFill>
              </a:rPr>
              <a:t>Root:Shoot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 ratio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Total leaf area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E206E4-488E-0D99-9CB6-03430F0A0442}"/>
              </a:ext>
            </a:extLst>
          </p:cNvPr>
          <p:cNvSpPr txBox="1"/>
          <p:nvPr/>
        </p:nvSpPr>
        <p:spPr>
          <a:xfrm>
            <a:off x="9795318" y="6488668"/>
            <a:ext cx="23966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Perkowski et al. (2024)</a:t>
            </a:r>
          </a:p>
        </p:txBody>
      </p:sp>
      <p:pic>
        <p:nvPicPr>
          <p:cNvPr id="5" name="Picture 4" descr="NxCO2xI_fig3_wholePlant.png">
            <a:extLst>
              <a:ext uri="{FF2B5EF4-FFF2-40B4-BE49-F238E27FC236}">
                <a16:creationId xmlns:a16="http://schemas.microsoft.com/office/drawing/2014/main" id="{8902D68B-8813-FF98-4D3A-8273F6BCD5D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676" t="-1527" r="62094" b="51318"/>
          <a:stretch>
            <a:fillRect/>
          </a:stretch>
        </p:blipFill>
        <p:spPr>
          <a:xfrm>
            <a:off x="7339667" y="2002393"/>
            <a:ext cx="2998734" cy="2601644"/>
          </a:xfrm>
          <a:prstGeom prst="rect">
            <a:avLst/>
          </a:prstGeom>
        </p:spPr>
      </p:pic>
      <p:pic>
        <p:nvPicPr>
          <p:cNvPr id="7" name="Picture 6" descr="NxCO2xI_fig3_wholePlant.png">
            <a:extLst>
              <a:ext uri="{FF2B5EF4-FFF2-40B4-BE49-F238E27FC236}">
                <a16:creationId xmlns:a16="http://schemas.microsoft.com/office/drawing/2014/main" id="{67F7E75F-6774-9C09-95CC-88CFCA906D2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093" t="40036" b="39478"/>
          <a:stretch>
            <a:fillRect/>
          </a:stretch>
        </p:blipFill>
        <p:spPr>
          <a:xfrm>
            <a:off x="8315325" y="4780805"/>
            <a:ext cx="1935873" cy="106154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2017135-CD69-9135-302E-00FDE70BFAEC}"/>
              </a:ext>
            </a:extLst>
          </p:cNvPr>
          <p:cNvSpPr txBox="1"/>
          <p:nvPr/>
        </p:nvSpPr>
        <p:spPr>
          <a:xfrm>
            <a:off x="504497" y="5126911"/>
            <a:ext cx="54763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TLA increased with CO</a:t>
            </a:r>
            <a:r>
              <a:rPr lang="en-US" baseline="-25000" dirty="0">
                <a:solidFill>
                  <a:srgbClr val="FF0000"/>
                </a:solidFill>
              </a:rPr>
              <a:t>2</a:t>
            </a:r>
            <a:r>
              <a:rPr lang="en-US" dirty="0">
                <a:solidFill>
                  <a:srgbClr val="FF0000"/>
                </a:solidFill>
              </a:rPr>
              <a:t>, especially with adequate N</a:t>
            </a:r>
          </a:p>
        </p:txBody>
      </p:sp>
    </p:spTree>
    <p:extLst>
      <p:ext uri="{BB962C8B-B14F-4D97-AF65-F5344CB8AC3E}">
        <p14:creationId xmlns:p14="http://schemas.microsoft.com/office/powerpoint/2010/main" val="1359239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7FB778-E850-696A-4EC9-1C6B31BAC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D4461-2656-7DC0-F494-37BB9DCF3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Allocation in manipulative contexts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DADD39-0171-4296-63A0-DC9DFF54E5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Light availability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CO</a:t>
            </a:r>
            <a:r>
              <a:rPr lang="en-US" baseline="-25000" dirty="0">
                <a:solidFill>
                  <a:schemeClr val="bg1">
                    <a:lumMod val="85000"/>
                  </a:schemeClr>
                </a:solidFill>
              </a:rPr>
              <a:t>2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 availability</a:t>
            </a:r>
          </a:p>
          <a:p>
            <a:r>
              <a:rPr lang="en-US" dirty="0"/>
              <a:t>Vapor pressure deficit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Water availability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availability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Phosphorus availability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N-fixing bacteria presence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Mycorrhizae presence</a:t>
            </a:r>
          </a:p>
        </p:txBody>
      </p:sp>
    </p:spTree>
    <p:extLst>
      <p:ext uri="{BB962C8B-B14F-4D97-AF65-F5344CB8AC3E}">
        <p14:creationId xmlns:p14="http://schemas.microsoft.com/office/powerpoint/2010/main" val="41706341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0A5DE-D20C-3FAE-E2BA-EF03ECF73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34068F-09BF-0D56-492F-D3AE04B50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u="sng" dirty="0">
                <a:solidFill>
                  <a:srgbClr val="00B050"/>
                </a:solidFill>
              </a:rPr>
              <a:t>VPD</a:t>
            </a:r>
            <a:r>
              <a:rPr lang="en-US" dirty="0">
                <a:solidFill>
                  <a:srgbClr val="00B050"/>
                </a:solidFill>
              </a:rPr>
              <a:t> </a:t>
            </a:r>
            <a:r>
              <a:rPr lang="en-US" dirty="0"/>
              <a:t>impacts on allocation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1D8AC5-BDAC-1DB9-CCCE-DF998619BD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Within leaves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allocation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Phosphorus allocation</a:t>
            </a:r>
          </a:p>
          <a:p>
            <a:r>
              <a:rPr lang="en-US" dirty="0"/>
              <a:t>Whole plant</a:t>
            </a:r>
          </a:p>
          <a:p>
            <a:pPr lvl="1"/>
            <a:r>
              <a:rPr lang="en-US" dirty="0" err="1">
                <a:solidFill>
                  <a:srgbClr val="00B050"/>
                </a:solidFill>
              </a:rPr>
              <a:t>Root:Shoot</a:t>
            </a:r>
            <a:r>
              <a:rPr lang="en-US" dirty="0">
                <a:solidFill>
                  <a:srgbClr val="00B050"/>
                </a:solidFill>
              </a:rPr>
              <a:t> ratio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Total leaf area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B8C5B7-4B53-9868-03DE-62B0C7F9F7F2}"/>
              </a:ext>
            </a:extLst>
          </p:cNvPr>
          <p:cNvSpPr txBox="1"/>
          <p:nvPr/>
        </p:nvSpPr>
        <p:spPr>
          <a:xfrm>
            <a:off x="9605907" y="6492875"/>
            <a:ext cx="25860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Freitas et al. (in revision)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682427-F2F3-0F44-168A-AE589655D3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4180" y="2112579"/>
            <a:ext cx="3145872" cy="3170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70936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CB05C7-AC42-7AEB-A044-F50BFDCE85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DBDE7C-3AEF-E1F7-0052-B22DFAD9C2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u="sng" dirty="0">
                <a:solidFill>
                  <a:srgbClr val="00B050"/>
                </a:solidFill>
              </a:rPr>
              <a:t>VPD</a:t>
            </a:r>
            <a:r>
              <a:rPr lang="en-US" dirty="0">
                <a:solidFill>
                  <a:srgbClr val="00B050"/>
                </a:solidFill>
              </a:rPr>
              <a:t> </a:t>
            </a:r>
            <a:r>
              <a:rPr lang="en-US" dirty="0"/>
              <a:t>impacts on allocation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97F0D2-F87F-D515-9700-4AE69CB9A2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Within leaves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allocation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Phosphorus allocation</a:t>
            </a:r>
          </a:p>
          <a:p>
            <a:r>
              <a:rPr lang="en-US" dirty="0"/>
              <a:t>Whole plant</a:t>
            </a:r>
          </a:p>
          <a:p>
            <a:pPr lvl="1"/>
            <a:r>
              <a:rPr lang="en-US" dirty="0" err="1">
                <a:solidFill>
                  <a:srgbClr val="00B050"/>
                </a:solidFill>
              </a:rPr>
              <a:t>Root:Shoot</a:t>
            </a:r>
            <a:r>
              <a:rPr lang="en-US" dirty="0">
                <a:solidFill>
                  <a:srgbClr val="00B050"/>
                </a:solidFill>
              </a:rPr>
              <a:t> ratio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Total leaf area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94F172-BC40-318E-5E9B-5D083211A314}"/>
              </a:ext>
            </a:extLst>
          </p:cNvPr>
          <p:cNvSpPr txBox="1"/>
          <p:nvPr/>
        </p:nvSpPr>
        <p:spPr>
          <a:xfrm>
            <a:off x="9605907" y="6492875"/>
            <a:ext cx="25860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Freitas et al. (in revision)</a:t>
            </a:r>
          </a:p>
        </p:txBody>
      </p:sp>
      <p:pic>
        <p:nvPicPr>
          <p:cNvPr id="4" name="Picture 3" descr="A group of diagrams showing different types of soil content&#10;&#10;AI-generated content may be incorrect.">
            <a:extLst>
              <a:ext uri="{FF2B5EF4-FFF2-40B4-BE49-F238E27FC236}">
                <a16:creationId xmlns:a16="http://schemas.microsoft.com/office/drawing/2014/main" id="{3692FF74-731A-BBAF-1BC8-171B3C61BC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92138" y="1509713"/>
            <a:ext cx="5108575" cy="4086860"/>
          </a:xfrm>
          <a:prstGeom prst="rect">
            <a:avLst/>
          </a:prstGeom>
        </p:spPr>
      </p:pic>
      <p:pic>
        <p:nvPicPr>
          <p:cNvPr id="7" name="Picture 6" descr="A red and blue squares on a black background&#10;&#10;AI-generated content may be incorrect.">
            <a:extLst>
              <a:ext uri="{FF2B5EF4-FFF2-40B4-BE49-F238E27FC236}">
                <a16:creationId xmlns:a16="http://schemas.microsoft.com/office/drawing/2014/main" id="{B831F6ED-9F24-2690-3E86-256B5411B62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764" b="13600"/>
          <a:stretch>
            <a:fillRect/>
          </a:stretch>
        </p:blipFill>
        <p:spPr bwMode="auto">
          <a:xfrm>
            <a:off x="10405240" y="3081655"/>
            <a:ext cx="987425" cy="6946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60912D3-814A-69C1-4EC0-9C10436F0605}"/>
              </a:ext>
            </a:extLst>
          </p:cNvPr>
          <p:cNvSpPr txBox="1"/>
          <p:nvPr/>
        </p:nvSpPr>
        <p:spPr>
          <a:xfrm>
            <a:off x="378372" y="6022428"/>
            <a:ext cx="6308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VPD increases R:S in acquisitive, but not conservative species</a:t>
            </a:r>
          </a:p>
        </p:txBody>
      </p:sp>
    </p:spTree>
    <p:extLst>
      <p:ext uri="{BB962C8B-B14F-4D97-AF65-F5344CB8AC3E}">
        <p14:creationId xmlns:p14="http://schemas.microsoft.com/office/powerpoint/2010/main" val="32090799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8809E-6376-BD04-579C-3E07F07F8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10C18-D5A1-12F0-FE15-99EA7155B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Allocation in manipulative contexts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C48BCC-F535-782D-734B-720B143DBE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Light availability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CO</a:t>
            </a:r>
            <a:r>
              <a:rPr lang="en-US" baseline="-25000" dirty="0">
                <a:solidFill>
                  <a:schemeClr val="bg1">
                    <a:lumMod val="85000"/>
                  </a:schemeClr>
                </a:solidFill>
              </a:rPr>
              <a:t>2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 availability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Vapor pressure deficit</a:t>
            </a:r>
          </a:p>
          <a:p>
            <a:r>
              <a:rPr lang="en-US" dirty="0"/>
              <a:t>Water availability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availability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Phosphorus availability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N-fixing bacteria presence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Mycorrhizae presence</a:t>
            </a:r>
          </a:p>
        </p:txBody>
      </p:sp>
    </p:spTree>
    <p:extLst>
      <p:ext uri="{BB962C8B-B14F-4D97-AF65-F5344CB8AC3E}">
        <p14:creationId xmlns:p14="http://schemas.microsoft.com/office/powerpoint/2010/main" val="33185945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764E2B-D077-2F22-5D44-3FA206A74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533CD-8E6F-EECE-0B20-76820F0D9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u="sng" dirty="0">
                <a:solidFill>
                  <a:srgbClr val="00B050"/>
                </a:solidFill>
              </a:rPr>
              <a:t>Soil water</a:t>
            </a:r>
            <a:r>
              <a:rPr lang="en-US" dirty="0">
                <a:solidFill>
                  <a:srgbClr val="00B050"/>
                </a:solidFill>
              </a:rPr>
              <a:t> </a:t>
            </a:r>
            <a:r>
              <a:rPr lang="en-US" dirty="0"/>
              <a:t>impacts on allocation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75FD35-64DB-3FF2-97C8-229A198623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Within leaves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allocation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Phosphorus allocation</a:t>
            </a:r>
          </a:p>
          <a:p>
            <a:r>
              <a:rPr lang="en-US" dirty="0"/>
              <a:t>Whole plant</a:t>
            </a:r>
          </a:p>
          <a:p>
            <a:pPr lvl="1"/>
            <a:r>
              <a:rPr lang="en-US" dirty="0" err="1">
                <a:solidFill>
                  <a:srgbClr val="00B050"/>
                </a:solidFill>
              </a:rPr>
              <a:t>Root:Shoot</a:t>
            </a:r>
            <a:r>
              <a:rPr lang="en-US" dirty="0">
                <a:solidFill>
                  <a:srgbClr val="00B050"/>
                </a:solidFill>
              </a:rPr>
              <a:t> ratio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Total leaf area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8CB8850-95C4-D69C-BE90-8B3E5686BC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9804" y="1825625"/>
            <a:ext cx="3146486" cy="314648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E6D7729-4859-DD6E-54D9-DE383DC08E93}"/>
              </a:ext>
            </a:extLst>
          </p:cNvPr>
          <p:cNvSpPr txBox="1"/>
          <p:nvPr/>
        </p:nvSpPr>
        <p:spPr>
          <a:xfrm>
            <a:off x="4551319" y="6488668"/>
            <a:ext cx="7640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Cheaib</a:t>
            </a:r>
            <a:r>
              <a:rPr lang="en-US" dirty="0"/>
              <a:t> et al. (in revision), Freitas et al. (in revision), Chatterjee et al. (in prep)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F6BA58D-165F-A6A6-B247-8870183B05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7136" y="3006124"/>
            <a:ext cx="3145872" cy="317083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B4F9E17-780A-9B7A-19AC-EA8D47B6A9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5627" y="4228608"/>
            <a:ext cx="1948355" cy="1948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2989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CBF0E-14F3-0DFD-00E5-3176277958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A2FED-9C7F-15A2-2486-8BF022336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u="sng" dirty="0">
                <a:solidFill>
                  <a:srgbClr val="00B050"/>
                </a:solidFill>
              </a:rPr>
              <a:t>Soil water</a:t>
            </a:r>
            <a:r>
              <a:rPr lang="en-US" dirty="0">
                <a:solidFill>
                  <a:srgbClr val="00B050"/>
                </a:solidFill>
              </a:rPr>
              <a:t> </a:t>
            </a:r>
            <a:r>
              <a:rPr lang="en-US" dirty="0"/>
              <a:t>impacts on allocation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E26687-5AE6-18B4-4318-DF6E1170AA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Within leaves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allocation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Phosphorus allocation</a:t>
            </a:r>
          </a:p>
          <a:p>
            <a:r>
              <a:rPr lang="en-US" dirty="0"/>
              <a:t>Whole plant</a:t>
            </a:r>
          </a:p>
          <a:p>
            <a:pPr lvl="1"/>
            <a:r>
              <a:rPr lang="en-US" dirty="0" err="1">
                <a:solidFill>
                  <a:srgbClr val="00B050"/>
                </a:solidFill>
              </a:rPr>
              <a:t>Root:Shoot</a:t>
            </a:r>
            <a:r>
              <a:rPr lang="en-US" dirty="0">
                <a:solidFill>
                  <a:srgbClr val="00B050"/>
                </a:solidFill>
              </a:rPr>
              <a:t> ratio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Total leaf area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7FC201-414D-4780-CB3F-6EBAF2881EF0}"/>
              </a:ext>
            </a:extLst>
          </p:cNvPr>
          <p:cNvSpPr txBox="1"/>
          <p:nvPr/>
        </p:nvSpPr>
        <p:spPr>
          <a:xfrm>
            <a:off x="9605907" y="6488668"/>
            <a:ext cx="25860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Freitas et al. (in revision)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C1C0CF-9F37-B29E-9AD1-4552DE8D7B8E}"/>
              </a:ext>
            </a:extLst>
          </p:cNvPr>
          <p:cNvSpPr txBox="1"/>
          <p:nvPr/>
        </p:nvSpPr>
        <p:spPr>
          <a:xfrm>
            <a:off x="671776" y="5607367"/>
            <a:ext cx="5573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Water availability not impacting R:S in our experiments</a:t>
            </a:r>
          </a:p>
        </p:txBody>
      </p:sp>
      <p:pic>
        <p:nvPicPr>
          <p:cNvPr id="6" name="Picture 5" descr="A group of diagrams showing different types of soil content&#10;&#10;AI-generated content may be incorrect.">
            <a:extLst>
              <a:ext uri="{FF2B5EF4-FFF2-40B4-BE49-F238E27FC236}">
                <a16:creationId xmlns:a16="http://schemas.microsoft.com/office/drawing/2014/main" id="{36DB9089-7EB9-4147-7D52-C452A1FDA9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581556" y="1638964"/>
            <a:ext cx="5108575" cy="4086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6389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70EDEC-5B6A-8C7B-2B71-285BBB2E7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1B3A5-1ED9-59D9-F7EB-714D59F575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u="sng" dirty="0">
                <a:solidFill>
                  <a:srgbClr val="00B050"/>
                </a:solidFill>
              </a:rPr>
              <a:t>Soil water</a:t>
            </a:r>
            <a:r>
              <a:rPr lang="en-US" dirty="0">
                <a:solidFill>
                  <a:srgbClr val="00B050"/>
                </a:solidFill>
              </a:rPr>
              <a:t> </a:t>
            </a:r>
            <a:r>
              <a:rPr lang="en-US" dirty="0"/>
              <a:t>impacts on allocation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E3D2DF-C1DA-8738-D7DF-E0A734075F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Within leaves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allocation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Phosphorus allocation</a:t>
            </a:r>
          </a:p>
          <a:p>
            <a:r>
              <a:rPr lang="en-US" dirty="0"/>
              <a:t>Whole plant</a:t>
            </a:r>
          </a:p>
          <a:p>
            <a:pPr lvl="1"/>
            <a:r>
              <a:rPr lang="en-US" dirty="0" err="1">
                <a:solidFill>
                  <a:schemeClr val="bg1">
                    <a:lumMod val="85000"/>
                  </a:schemeClr>
                </a:solidFill>
              </a:rPr>
              <a:t>Root:Shoot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 ratio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Total leaf area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BD31A5-00B1-D69B-D1D7-15E7ACB6E9AD}"/>
              </a:ext>
            </a:extLst>
          </p:cNvPr>
          <p:cNvSpPr txBox="1"/>
          <p:nvPr/>
        </p:nvSpPr>
        <p:spPr>
          <a:xfrm>
            <a:off x="9569359" y="6488668"/>
            <a:ext cx="26226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Cheaib</a:t>
            </a:r>
            <a:r>
              <a:rPr lang="en-US" dirty="0"/>
              <a:t> et al. (in revision)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A5C341-383E-FAE7-55DE-6579BE59574E}"/>
              </a:ext>
            </a:extLst>
          </p:cNvPr>
          <p:cNvSpPr txBox="1"/>
          <p:nvPr/>
        </p:nvSpPr>
        <p:spPr>
          <a:xfrm>
            <a:off x="440940" y="5454553"/>
            <a:ext cx="5268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Water availability increases TLA when N is available</a:t>
            </a:r>
          </a:p>
        </p:txBody>
      </p:sp>
      <p:pic>
        <p:nvPicPr>
          <p:cNvPr id="4" name="Picture 3" descr="image.png">
            <a:extLst>
              <a:ext uri="{FF2B5EF4-FFF2-40B4-BE49-F238E27FC236}">
                <a16:creationId xmlns:a16="http://schemas.microsoft.com/office/drawing/2014/main" id="{147E1665-7D2C-56AA-DAB6-0DBEC2C7642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176" b="50857"/>
          <a:stretch>
            <a:fillRect/>
          </a:stretch>
        </p:blipFill>
        <p:spPr>
          <a:xfrm>
            <a:off x="6935424" y="1825625"/>
            <a:ext cx="3945255" cy="3403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231876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CC068-64FC-9474-4DE2-6516B588B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0C7ECA-C172-4678-61A9-5DFF78897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Allocation in manipulative contexts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9BDB88-36BB-64E5-3212-56C3FBE1C3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Light availability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CO</a:t>
            </a:r>
            <a:r>
              <a:rPr lang="en-US" baseline="-25000" dirty="0">
                <a:solidFill>
                  <a:schemeClr val="bg1">
                    <a:lumMod val="85000"/>
                  </a:schemeClr>
                </a:solidFill>
              </a:rPr>
              <a:t>2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 availability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Vapor pressure deficit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Water availability</a:t>
            </a:r>
          </a:p>
          <a:p>
            <a:r>
              <a:rPr lang="en-US" dirty="0"/>
              <a:t>Nitrogen availability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Phosphorus availability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N-fixing bacteria presence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Mycorrhizae presence</a:t>
            </a:r>
          </a:p>
        </p:txBody>
      </p:sp>
    </p:spTree>
    <p:extLst>
      <p:ext uri="{BB962C8B-B14F-4D97-AF65-F5344CB8AC3E}">
        <p14:creationId xmlns:p14="http://schemas.microsoft.com/office/powerpoint/2010/main" val="272763536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E9E65-9646-15B7-7040-0B5770CD7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735A0-781D-84C7-CCDA-8773107BC7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u="sng" dirty="0">
                <a:solidFill>
                  <a:srgbClr val="00B050"/>
                </a:solidFill>
              </a:rPr>
              <a:t>Soil nitrogen</a:t>
            </a:r>
            <a:r>
              <a:rPr lang="en-US" dirty="0">
                <a:solidFill>
                  <a:srgbClr val="00B050"/>
                </a:solidFill>
              </a:rPr>
              <a:t> </a:t>
            </a:r>
            <a:r>
              <a:rPr lang="en-US" dirty="0"/>
              <a:t>impacts on allocation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54AADE-2518-229A-BEAF-6F97DF8412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Within leaves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Nitrogen allocation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Phosphorus allocation</a:t>
            </a:r>
          </a:p>
          <a:p>
            <a:r>
              <a:rPr lang="en-US" dirty="0"/>
              <a:t>Whole plant</a:t>
            </a:r>
          </a:p>
          <a:p>
            <a:pPr lvl="1"/>
            <a:r>
              <a:rPr lang="en-US" dirty="0" err="1">
                <a:solidFill>
                  <a:srgbClr val="00B050"/>
                </a:solidFill>
              </a:rPr>
              <a:t>Root:Shoot</a:t>
            </a:r>
            <a:r>
              <a:rPr lang="en-US" dirty="0">
                <a:solidFill>
                  <a:srgbClr val="00B050"/>
                </a:solidFill>
              </a:rPr>
              <a:t> ratio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Total leaf area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30E3D8F-482F-6C0D-DD78-AE972074DF3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43394" y="1852745"/>
            <a:ext cx="2399684" cy="239741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3048DEC-DDE9-5251-B755-2290E12013C3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00318" y="2370548"/>
            <a:ext cx="2641512" cy="26415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DEEBA6D-E4A2-7167-99F5-AC2B070C4960}"/>
              </a:ext>
            </a:extLst>
          </p:cNvPr>
          <p:cNvSpPr txBox="1"/>
          <p:nvPr/>
        </p:nvSpPr>
        <p:spPr>
          <a:xfrm>
            <a:off x="5343843" y="6487491"/>
            <a:ext cx="68481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Perkowski et al. (2021), Waring et al. (2023), Perkowski et al. (2024)</a:t>
            </a:r>
          </a:p>
        </p:txBody>
      </p:sp>
    </p:spTree>
    <p:extLst>
      <p:ext uri="{BB962C8B-B14F-4D97-AF65-F5344CB8AC3E}">
        <p14:creationId xmlns:p14="http://schemas.microsoft.com/office/powerpoint/2010/main" val="298619451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4AFF1-CD89-F316-5FE3-1F36B367D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DB263-FF49-CBF4-EF7D-CD18E68D2E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u="sng" dirty="0">
                <a:solidFill>
                  <a:srgbClr val="00B050"/>
                </a:solidFill>
              </a:rPr>
              <a:t>Soil nitrogen</a:t>
            </a:r>
            <a:r>
              <a:rPr lang="en-US" dirty="0">
                <a:solidFill>
                  <a:srgbClr val="00B050"/>
                </a:solidFill>
              </a:rPr>
              <a:t> </a:t>
            </a:r>
            <a:r>
              <a:rPr lang="en-US" dirty="0"/>
              <a:t>impacts on allocation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8EFE9C-78E4-32D1-2C80-A820D5FA93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Within leaves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allocation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Phosphorus allocation</a:t>
            </a:r>
          </a:p>
          <a:p>
            <a:r>
              <a:rPr lang="en-US" dirty="0"/>
              <a:t>Whole plant</a:t>
            </a:r>
          </a:p>
          <a:p>
            <a:pPr lvl="1"/>
            <a:r>
              <a:rPr lang="en-US" dirty="0" err="1">
                <a:solidFill>
                  <a:srgbClr val="00B050"/>
                </a:solidFill>
              </a:rPr>
              <a:t>Root:Shoot</a:t>
            </a:r>
            <a:r>
              <a:rPr lang="en-US" dirty="0">
                <a:solidFill>
                  <a:srgbClr val="00B050"/>
                </a:solidFill>
              </a:rPr>
              <a:t> ratio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Total leaf area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A2B822-A2AC-E5EC-5724-0B16EC57B028}"/>
              </a:ext>
            </a:extLst>
          </p:cNvPr>
          <p:cNvSpPr txBox="1"/>
          <p:nvPr/>
        </p:nvSpPr>
        <p:spPr>
          <a:xfrm>
            <a:off x="9795318" y="6492875"/>
            <a:ext cx="23966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Perkowski et al. (2021)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ECFAEF-47F0-537E-871D-268B78C833F2}"/>
              </a:ext>
            </a:extLst>
          </p:cNvPr>
          <p:cNvSpPr txBox="1"/>
          <p:nvPr/>
        </p:nvSpPr>
        <p:spPr>
          <a:xfrm>
            <a:off x="441435" y="4971393"/>
            <a:ext cx="22317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Soil N decreases R:S</a:t>
            </a:r>
          </a:p>
        </p:txBody>
      </p:sp>
      <p:pic>
        <p:nvPicPr>
          <p:cNvPr id="4" name="Picture 3" descr="lizz_LxN_plot.png">
            <a:extLst>
              <a:ext uri="{FF2B5EF4-FFF2-40B4-BE49-F238E27FC236}">
                <a16:creationId xmlns:a16="http://schemas.microsoft.com/office/drawing/2014/main" id="{07C013FE-87B8-1F3E-0198-63D9B416551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1007" r="20004"/>
          <a:stretch>
            <a:fillRect/>
          </a:stretch>
        </p:blipFill>
        <p:spPr>
          <a:xfrm>
            <a:off x="5906288" y="2098840"/>
            <a:ext cx="5844277" cy="2556641"/>
          </a:xfrm>
          <a:prstGeom prst="rect">
            <a:avLst/>
          </a:prstGeom>
        </p:spPr>
      </p:pic>
      <p:pic>
        <p:nvPicPr>
          <p:cNvPr id="5" name="Picture 4" descr="lizz_LxN_plot.png">
            <a:extLst>
              <a:ext uri="{FF2B5EF4-FFF2-40B4-BE49-F238E27FC236}">
                <a16:creationId xmlns:a16="http://schemas.microsoft.com/office/drawing/2014/main" id="{2F7AE3EF-9F0D-0991-0A3B-DC18534BF87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010" t="40471" b="40596"/>
          <a:stretch>
            <a:fillRect/>
          </a:stretch>
        </p:blipFill>
        <p:spPr>
          <a:xfrm>
            <a:off x="8642130" y="4928696"/>
            <a:ext cx="1387365" cy="987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18631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73E72-70E8-DD89-D2F5-D2DE2F29C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698A0E-5713-04FE-8483-DD438C89A2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u="sng" dirty="0">
                <a:solidFill>
                  <a:srgbClr val="00B050"/>
                </a:solidFill>
              </a:rPr>
              <a:t>Soil nitrogen</a:t>
            </a:r>
            <a:r>
              <a:rPr lang="en-US" dirty="0">
                <a:solidFill>
                  <a:srgbClr val="00B050"/>
                </a:solidFill>
              </a:rPr>
              <a:t> </a:t>
            </a:r>
            <a:r>
              <a:rPr lang="en-US" dirty="0"/>
              <a:t>impacts on allocation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994B4D-7D59-4FF3-C8A5-5E07CEE24F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Within leaves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allocation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Phosphorus allocation</a:t>
            </a:r>
          </a:p>
          <a:p>
            <a:r>
              <a:rPr lang="en-US" dirty="0"/>
              <a:t>Whole plant</a:t>
            </a:r>
          </a:p>
          <a:p>
            <a:pPr lvl="1"/>
            <a:r>
              <a:rPr lang="en-US" dirty="0" err="1">
                <a:solidFill>
                  <a:schemeClr val="bg1">
                    <a:lumMod val="85000"/>
                  </a:schemeClr>
                </a:solidFill>
              </a:rPr>
              <a:t>Root:Shoot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 ratio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Total leaf area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E44B51-0456-6835-BBFC-6CA7295C74D5}"/>
              </a:ext>
            </a:extLst>
          </p:cNvPr>
          <p:cNvSpPr txBox="1"/>
          <p:nvPr/>
        </p:nvSpPr>
        <p:spPr>
          <a:xfrm>
            <a:off x="9795318" y="6492875"/>
            <a:ext cx="23966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Perkowski et al. (2021)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BE91BF-598E-56FF-87CE-7AA96A781A11}"/>
              </a:ext>
            </a:extLst>
          </p:cNvPr>
          <p:cNvSpPr txBox="1"/>
          <p:nvPr/>
        </p:nvSpPr>
        <p:spPr>
          <a:xfrm>
            <a:off x="441435" y="4971393"/>
            <a:ext cx="21913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Soil N increases TLA</a:t>
            </a:r>
          </a:p>
        </p:txBody>
      </p:sp>
      <p:pic>
        <p:nvPicPr>
          <p:cNvPr id="4" name="Picture 3" descr="lizz_LxN_plot.png">
            <a:extLst>
              <a:ext uri="{FF2B5EF4-FFF2-40B4-BE49-F238E27FC236}">
                <a16:creationId xmlns:a16="http://schemas.microsoft.com/office/drawing/2014/main" id="{5C6F73B6-1584-72E3-07AE-AD15844EF45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144" t="50" r="20148" b="50957"/>
          <a:stretch>
            <a:fillRect/>
          </a:stretch>
        </p:blipFill>
        <p:spPr>
          <a:xfrm>
            <a:off x="5906288" y="2098840"/>
            <a:ext cx="5844277" cy="2556641"/>
          </a:xfrm>
          <a:prstGeom prst="rect">
            <a:avLst/>
          </a:prstGeom>
        </p:spPr>
      </p:pic>
      <p:pic>
        <p:nvPicPr>
          <p:cNvPr id="5" name="Picture 4" descr="lizz_LxN_plot.png">
            <a:extLst>
              <a:ext uri="{FF2B5EF4-FFF2-40B4-BE49-F238E27FC236}">
                <a16:creationId xmlns:a16="http://schemas.microsoft.com/office/drawing/2014/main" id="{40B91B30-6EBF-D32D-DFE5-03E47BFC39C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010" t="40471" b="40596"/>
          <a:stretch>
            <a:fillRect/>
          </a:stretch>
        </p:blipFill>
        <p:spPr>
          <a:xfrm>
            <a:off x="8642130" y="4928696"/>
            <a:ext cx="1387365" cy="987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21424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FC8998-67E9-FC8F-AAC2-14DD35683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C2475-27DF-DAFA-2F2B-11C4755F1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Allocation in manipulative contexts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C58EEB-7333-D77C-5B4F-47C494DB15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Light availability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CO</a:t>
            </a:r>
            <a:r>
              <a:rPr lang="en-US" baseline="-25000" dirty="0">
                <a:solidFill>
                  <a:schemeClr val="bg1">
                    <a:lumMod val="85000"/>
                  </a:schemeClr>
                </a:solidFill>
              </a:rPr>
              <a:t>2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 availability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Vapor pressure deficit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Water availability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availability</a:t>
            </a:r>
          </a:p>
          <a:p>
            <a:r>
              <a:rPr lang="en-US" dirty="0"/>
              <a:t>Phosphorus availability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N-fixing bacteria presence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Mycorrhizae presence</a:t>
            </a:r>
          </a:p>
        </p:txBody>
      </p:sp>
    </p:spTree>
    <p:extLst>
      <p:ext uri="{BB962C8B-B14F-4D97-AF65-F5344CB8AC3E}">
        <p14:creationId xmlns:p14="http://schemas.microsoft.com/office/powerpoint/2010/main" val="35217259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8C213-82B3-2703-B65E-043F4706B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44791D-7327-58C2-A029-C1C91A969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u="sng" dirty="0">
                <a:solidFill>
                  <a:srgbClr val="00B050"/>
                </a:solidFill>
              </a:rPr>
              <a:t>Soil phosphorus</a:t>
            </a:r>
            <a:r>
              <a:rPr lang="en-US" dirty="0">
                <a:solidFill>
                  <a:srgbClr val="00B050"/>
                </a:solidFill>
              </a:rPr>
              <a:t> </a:t>
            </a:r>
            <a:r>
              <a:rPr lang="en-US" dirty="0"/>
              <a:t>impacts on allocation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C7275E-81A4-96C7-FE5B-560A974B7C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Within leaves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allocation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Phosphorus allocation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Whole plant</a:t>
            </a:r>
          </a:p>
          <a:p>
            <a:pPr lvl="1"/>
            <a:r>
              <a:rPr lang="en-US" dirty="0" err="1">
                <a:solidFill>
                  <a:schemeClr val="bg1">
                    <a:lumMod val="85000"/>
                  </a:schemeClr>
                </a:solidFill>
              </a:rPr>
              <a:t>Root:Shoot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 ratio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Total leaf area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CA86AD-7EA1-7012-094D-879AE1215485}"/>
              </a:ext>
            </a:extLst>
          </p:cNvPr>
          <p:cNvSpPr txBox="1"/>
          <p:nvPr/>
        </p:nvSpPr>
        <p:spPr>
          <a:xfrm>
            <a:off x="10011275" y="6492875"/>
            <a:ext cx="2180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Kelley et al. (in prep)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127551A-6B6A-EE66-CFDF-D839A54D020D}"/>
              </a:ext>
            </a:extLst>
          </p:cNvPr>
          <p:cNvSpPr txBox="1"/>
          <p:nvPr/>
        </p:nvSpPr>
        <p:spPr>
          <a:xfrm>
            <a:off x="441435" y="4971393"/>
            <a:ext cx="3959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P allocation data being collected now!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2900B2-630E-6DBC-18C0-1832008B48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2411" y="2438143"/>
            <a:ext cx="2785498" cy="2785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150524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DE5F9-BAC1-8F9B-CBD9-696F3643B4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10524-6B02-F9CA-3B05-8E945DB54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u="sng" dirty="0">
                <a:solidFill>
                  <a:srgbClr val="00B050"/>
                </a:solidFill>
              </a:rPr>
              <a:t>Soil phosphorus</a:t>
            </a:r>
            <a:r>
              <a:rPr lang="en-US" dirty="0">
                <a:solidFill>
                  <a:srgbClr val="00B050"/>
                </a:solidFill>
              </a:rPr>
              <a:t> </a:t>
            </a:r>
            <a:r>
              <a:rPr lang="en-US" dirty="0"/>
              <a:t>impacts on allocation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F72E19-C58A-2F01-BBCC-56F1598F3D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Within leaves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allocation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Phosphorus allocation</a:t>
            </a:r>
          </a:p>
          <a:p>
            <a:r>
              <a:rPr lang="en-US" dirty="0"/>
              <a:t>Whole plant</a:t>
            </a:r>
          </a:p>
          <a:p>
            <a:pPr lvl="1"/>
            <a:r>
              <a:rPr lang="en-US" dirty="0" err="1">
                <a:solidFill>
                  <a:srgbClr val="00B050"/>
                </a:solidFill>
              </a:rPr>
              <a:t>Root:Shoot</a:t>
            </a:r>
            <a:r>
              <a:rPr lang="en-US" dirty="0">
                <a:solidFill>
                  <a:srgbClr val="00B050"/>
                </a:solidFill>
              </a:rPr>
              <a:t> ratio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Total leaf area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AABF922-0557-823F-8524-44319F653217}"/>
              </a:ext>
            </a:extLst>
          </p:cNvPr>
          <p:cNvSpPr txBox="1"/>
          <p:nvPr/>
        </p:nvSpPr>
        <p:spPr>
          <a:xfrm>
            <a:off x="10011275" y="6492875"/>
            <a:ext cx="2180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Kelley et al. (in prep)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0CA9A2-9261-16A3-8BE6-CD9972B8A254}"/>
              </a:ext>
            </a:extLst>
          </p:cNvPr>
          <p:cNvSpPr txBox="1"/>
          <p:nvPr/>
        </p:nvSpPr>
        <p:spPr>
          <a:xfrm>
            <a:off x="838200" y="5181600"/>
            <a:ext cx="33127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Soil P availability decreases R:S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7C1088-9FF7-7184-02C5-CA7C071278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9114" y="1740092"/>
            <a:ext cx="4981437" cy="4429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977003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142F73-5049-D884-74ED-BC86E1008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FF1D09-C89D-FA15-651B-CC7ED95532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Allocation in manipulative contexts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A9FF77-3C46-6EFB-3E26-D192D009D2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Light availability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CO</a:t>
            </a:r>
            <a:r>
              <a:rPr lang="en-US" baseline="-25000" dirty="0">
                <a:solidFill>
                  <a:schemeClr val="bg1">
                    <a:lumMod val="85000"/>
                  </a:schemeClr>
                </a:solidFill>
              </a:rPr>
              <a:t>2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 availability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Vapor pressure deficit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Water availability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availability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Phosphorus availability</a:t>
            </a:r>
          </a:p>
          <a:p>
            <a:r>
              <a:rPr lang="en-US" dirty="0">
                <a:solidFill>
                  <a:srgbClr val="FF0000"/>
                </a:solidFill>
              </a:rPr>
              <a:t>N-fixing bacteria presence</a:t>
            </a:r>
          </a:p>
          <a:p>
            <a:r>
              <a:rPr lang="en-US" dirty="0">
                <a:solidFill>
                  <a:srgbClr val="FF0000"/>
                </a:solidFill>
              </a:rPr>
              <a:t>Mycorrhizae presence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34BC4BD-D96C-EA64-51ED-AEDC166A80B7}"/>
              </a:ext>
            </a:extLst>
          </p:cNvPr>
          <p:cNvSpPr txBox="1"/>
          <p:nvPr/>
        </p:nvSpPr>
        <p:spPr>
          <a:xfrm>
            <a:off x="6495393" y="3244334"/>
            <a:ext cx="3872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Happy to chat more about these later</a:t>
            </a:r>
          </a:p>
        </p:txBody>
      </p:sp>
    </p:spTree>
    <p:extLst>
      <p:ext uri="{BB962C8B-B14F-4D97-AF65-F5344CB8AC3E}">
        <p14:creationId xmlns:p14="http://schemas.microsoft.com/office/powerpoint/2010/main" val="100571356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208BC0-E260-65B9-BF19-0C8917AB74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2699BE-DE26-DA88-96C9-D728A76B6A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R:S increases with increasing soil resource demand and decreasing soil resource availability</a:t>
            </a:r>
          </a:p>
          <a:p>
            <a:r>
              <a:rPr lang="en-US" dirty="0"/>
              <a:t>TLA increases with resource demand and availability</a:t>
            </a:r>
          </a:p>
        </p:txBody>
      </p:sp>
    </p:spTree>
    <p:extLst>
      <p:ext uri="{BB962C8B-B14F-4D97-AF65-F5344CB8AC3E}">
        <p14:creationId xmlns:p14="http://schemas.microsoft.com/office/powerpoint/2010/main" val="161859107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7A99C-709D-9CDB-4E53-E0C085C44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DF836-AF14-466B-5FEC-DB3450410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u="sng" dirty="0">
                <a:solidFill>
                  <a:srgbClr val="00B050"/>
                </a:solidFill>
              </a:rPr>
              <a:t>Light availability</a:t>
            </a:r>
            <a:r>
              <a:rPr lang="en-US" dirty="0">
                <a:solidFill>
                  <a:srgbClr val="00B050"/>
                </a:solidFill>
              </a:rPr>
              <a:t> </a:t>
            </a:r>
            <a:r>
              <a:rPr lang="en-US" dirty="0"/>
              <a:t>impacts on allocation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BA1EEA-144A-52A6-79FB-F60D776F0F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Within leaves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Nitrogen allocation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Phosphorus allocation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Whole plant</a:t>
            </a:r>
          </a:p>
          <a:p>
            <a:pPr lvl="1"/>
            <a:r>
              <a:rPr lang="en-US" dirty="0" err="1">
                <a:solidFill>
                  <a:schemeClr val="bg1">
                    <a:lumMod val="85000"/>
                  </a:schemeClr>
                </a:solidFill>
              </a:rPr>
              <a:t>Root:Shoot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 ratio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Total leaf area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01EB87-78FF-0E25-3D5C-35AC741CD77A}"/>
              </a:ext>
            </a:extLst>
          </p:cNvPr>
          <p:cNvSpPr txBox="1"/>
          <p:nvPr/>
        </p:nvSpPr>
        <p:spPr>
          <a:xfrm>
            <a:off x="10104505" y="6492875"/>
            <a:ext cx="2087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Waring et al. (2023)</a:t>
            </a:r>
          </a:p>
        </p:txBody>
      </p:sp>
      <p:pic>
        <p:nvPicPr>
          <p:cNvPr id="8" name="New picture">
            <a:extLst>
              <a:ext uri="{FF2B5EF4-FFF2-40B4-BE49-F238E27FC236}">
                <a16:creationId xmlns:a16="http://schemas.microsoft.com/office/drawing/2014/main" id="{43DB706B-F1F9-B56A-C4C1-7E244D573AD4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6934201" y="1473108"/>
            <a:ext cx="4582677" cy="460187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4B2EA8A-80E2-4C11-B3B4-71721AED5E01}"/>
              </a:ext>
            </a:extLst>
          </p:cNvPr>
          <p:cNvSpPr txBox="1"/>
          <p:nvPr/>
        </p:nvSpPr>
        <p:spPr>
          <a:xfrm>
            <a:off x="441435" y="4971393"/>
            <a:ext cx="5174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Light increases leaf N allocation to photosynthesis</a:t>
            </a:r>
          </a:p>
        </p:txBody>
      </p:sp>
    </p:spTree>
    <p:extLst>
      <p:ext uri="{BB962C8B-B14F-4D97-AF65-F5344CB8AC3E}">
        <p14:creationId xmlns:p14="http://schemas.microsoft.com/office/powerpoint/2010/main" val="49568541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3E4E2D-57D7-D574-DE48-018A5D9EF9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0E8680-8C9C-90D2-4AE4-3DE59FA781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u="sng" dirty="0">
                <a:solidFill>
                  <a:srgbClr val="00B050"/>
                </a:solidFill>
              </a:rPr>
              <a:t>Light availability</a:t>
            </a:r>
            <a:r>
              <a:rPr lang="en-US" dirty="0">
                <a:solidFill>
                  <a:srgbClr val="00B050"/>
                </a:solidFill>
              </a:rPr>
              <a:t> </a:t>
            </a:r>
            <a:r>
              <a:rPr lang="en-US" dirty="0"/>
              <a:t>impacts on allocation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E73F84-7D4D-1346-0C6B-7A8E503E9B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Within leaves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allocation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Phosphorus allocation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Whole plant</a:t>
            </a:r>
          </a:p>
          <a:p>
            <a:pPr lvl="1"/>
            <a:r>
              <a:rPr lang="en-US" dirty="0" err="1">
                <a:solidFill>
                  <a:schemeClr val="bg1">
                    <a:lumMod val="85000"/>
                  </a:schemeClr>
                </a:solidFill>
              </a:rPr>
              <a:t>Root:Shoot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 ratio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Total leaf area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EDA69B-5131-E60F-EB06-EB909F8FB451}"/>
              </a:ext>
            </a:extLst>
          </p:cNvPr>
          <p:cNvSpPr txBox="1"/>
          <p:nvPr/>
        </p:nvSpPr>
        <p:spPr>
          <a:xfrm>
            <a:off x="10011275" y="6492875"/>
            <a:ext cx="2180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Kelley et al. (in prep)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6AC378-D704-5702-49E8-A92AB3EC52CB}"/>
              </a:ext>
            </a:extLst>
          </p:cNvPr>
          <p:cNvSpPr txBox="1"/>
          <p:nvPr/>
        </p:nvSpPr>
        <p:spPr>
          <a:xfrm>
            <a:off x="441435" y="4971393"/>
            <a:ext cx="3959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P allocation data being collected now!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B155C52-875C-F1A1-8B32-67CEDD1AF2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2411" y="2438143"/>
            <a:ext cx="2785498" cy="2785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010694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466923-3A6E-333B-5961-3913D888A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9BF63-EF03-8D75-F4D7-D0AE9027E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u="sng" dirty="0">
                <a:solidFill>
                  <a:srgbClr val="00B050"/>
                </a:solidFill>
              </a:rPr>
              <a:t>Soil nitrogen</a:t>
            </a:r>
            <a:r>
              <a:rPr lang="en-US" dirty="0">
                <a:solidFill>
                  <a:srgbClr val="00B050"/>
                </a:solidFill>
              </a:rPr>
              <a:t> </a:t>
            </a:r>
            <a:r>
              <a:rPr lang="en-US" dirty="0"/>
              <a:t>impacts on allocation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142266-5FD6-EE60-528C-26E7D13FAF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Within leaves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Nitrogen allocation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Phosphorus allocation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Whole plant</a:t>
            </a:r>
          </a:p>
          <a:p>
            <a:pPr lvl="1"/>
            <a:r>
              <a:rPr lang="en-US" dirty="0" err="1">
                <a:solidFill>
                  <a:schemeClr val="bg1">
                    <a:lumMod val="85000"/>
                  </a:schemeClr>
                </a:solidFill>
              </a:rPr>
              <a:t>Root:Shoot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 ratio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Total leaf area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373F1A-1C61-53E9-FB1A-4A40EB0FD596}"/>
              </a:ext>
            </a:extLst>
          </p:cNvPr>
          <p:cNvSpPr txBox="1"/>
          <p:nvPr/>
        </p:nvSpPr>
        <p:spPr>
          <a:xfrm>
            <a:off x="10104505" y="6492875"/>
            <a:ext cx="2087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Waring et al. (2023)</a:t>
            </a:r>
          </a:p>
        </p:txBody>
      </p:sp>
      <p:pic>
        <p:nvPicPr>
          <p:cNvPr id="8" name="New picture">
            <a:extLst>
              <a:ext uri="{FF2B5EF4-FFF2-40B4-BE49-F238E27FC236}">
                <a16:creationId xmlns:a16="http://schemas.microsoft.com/office/drawing/2014/main" id="{CDF3295F-F576-2F81-EFEA-AB7A336ABD04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6934201" y="1473108"/>
            <a:ext cx="4582677" cy="460187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B815AC4-5863-5516-3132-F54803EE37E4}"/>
              </a:ext>
            </a:extLst>
          </p:cNvPr>
          <p:cNvSpPr txBox="1"/>
          <p:nvPr/>
        </p:nvSpPr>
        <p:spPr>
          <a:xfrm>
            <a:off x="441435" y="4971393"/>
            <a:ext cx="5294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Soil N decreases leaf N allocation to photosynthesis</a:t>
            </a:r>
          </a:p>
        </p:txBody>
      </p:sp>
    </p:spTree>
    <p:extLst>
      <p:ext uri="{BB962C8B-B14F-4D97-AF65-F5344CB8AC3E}">
        <p14:creationId xmlns:p14="http://schemas.microsoft.com/office/powerpoint/2010/main" val="2736328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C775E5-B864-D566-428C-91D2FF5BC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C6D83-F6A8-3D3F-74B8-F2C3B12255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u="sng" dirty="0">
                <a:solidFill>
                  <a:srgbClr val="00B050"/>
                </a:solidFill>
              </a:rPr>
              <a:t>Soil phosphorus</a:t>
            </a:r>
            <a:r>
              <a:rPr lang="en-US" dirty="0">
                <a:solidFill>
                  <a:srgbClr val="00B050"/>
                </a:solidFill>
              </a:rPr>
              <a:t> </a:t>
            </a:r>
            <a:r>
              <a:rPr lang="en-US" dirty="0"/>
              <a:t>impacts on allocation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5F617-D0FD-BF43-A1C2-B5AFD87BC1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Within leaves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allocation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Phosphorus allocation</a:t>
            </a:r>
          </a:p>
          <a:p>
            <a:r>
              <a:rPr lang="en-US" dirty="0"/>
              <a:t>Whole plant</a:t>
            </a:r>
          </a:p>
          <a:p>
            <a:pPr lvl="1"/>
            <a:r>
              <a:rPr lang="en-US" dirty="0" err="1">
                <a:solidFill>
                  <a:srgbClr val="00B050"/>
                </a:solidFill>
              </a:rPr>
              <a:t>Root:Shoot</a:t>
            </a:r>
            <a:r>
              <a:rPr lang="en-US" dirty="0">
                <a:solidFill>
                  <a:srgbClr val="00B050"/>
                </a:solidFill>
              </a:rPr>
              <a:t> ratio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Total leaf area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A41DE7-F410-494F-D7B6-AB095A4E2F78}"/>
              </a:ext>
            </a:extLst>
          </p:cNvPr>
          <p:cNvSpPr txBox="1"/>
          <p:nvPr/>
        </p:nvSpPr>
        <p:spPr>
          <a:xfrm>
            <a:off x="10011275" y="6492875"/>
            <a:ext cx="2180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Kelley et al. (in prep)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371542-FEE3-CEDB-F2B0-4A07BD4DCD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2411" y="2438143"/>
            <a:ext cx="2785498" cy="2785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9193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</TotalTime>
  <Words>1066</Words>
  <Application>Microsoft Macintosh PowerPoint</Application>
  <PresentationFormat>Widescreen</PresentationFormat>
  <Paragraphs>304</Paragraphs>
  <Slides>37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1" baseType="lpstr">
      <vt:lpstr>Aptos</vt:lpstr>
      <vt:lpstr>Aptos Display</vt:lpstr>
      <vt:lpstr>Arial</vt:lpstr>
      <vt:lpstr>Office Theme</vt:lpstr>
      <vt:lpstr>Allocation results from manipulative experiments</vt:lpstr>
      <vt:lpstr>General approach to measuring allocation in experiments</vt:lpstr>
      <vt:lpstr>General approach to measuring allocation in experiments</vt:lpstr>
      <vt:lpstr>General approach to measuring allocation in experiments</vt:lpstr>
      <vt:lpstr>General approach to measuring allocation in experiments</vt:lpstr>
      <vt:lpstr>General approach to measuring allocation in experiments</vt:lpstr>
      <vt:lpstr>General approach to measuring allocation in experiments</vt:lpstr>
      <vt:lpstr>Allocation in manipulative contexts</vt:lpstr>
      <vt:lpstr>Allocation in manipulative contexts</vt:lpstr>
      <vt:lpstr>Allocation in manipulative contexts</vt:lpstr>
      <vt:lpstr>Light availability impacts on allocation</vt:lpstr>
      <vt:lpstr>Light availability impacts on allocation</vt:lpstr>
      <vt:lpstr>Light availability impacts on allocation</vt:lpstr>
      <vt:lpstr>Allocation in manipulative contexts</vt:lpstr>
      <vt:lpstr>CO2 availability impacts on allocation</vt:lpstr>
      <vt:lpstr>CO2 availability impacts on allocation</vt:lpstr>
      <vt:lpstr>CO2 availability impacts on allocation</vt:lpstr>
      <vt:lpstr>Allocation in manipulative contexts</vt:lpstr>
      <vt:lpstr>VPD impacts on allocation</vt:lpstr>
      <vt:lpstr>VPD impacts on allocation</vt:lpstr>
      <vt:lpstr>Allocation in manipulative contexts</vt:lpstr>
      <vt:lpstr>Soil water impacts on allocation</vt:lpstr>
      <vt:lpstr>Soil water impacts on allocation</vt:lpstr>
      <vt:lpstr>Soil water impacts on allocation</vt:lpstr>
      <vt:lpstr>Allocation in manipulative contexts</vt:lpstr>
      <vt:lpstr>Soil nitrogen impacts on allocation</vt:lpstr>
      <vt:lpstr>Soil nitrogen impacts on allocation</vt:lpstr>
      <vt:lpstr>Soil nitrogen impacts on allocation</vt:lpstr>
      <vt:lpstr>Allocation in manipulative contexts</vt:lpstr>
      <vt:lpstr>Soil phosphorus impacts on allocation</vt:lpstr>
      <vt:lpstr>Soil phosphorus impacts on allocation</vt:lpstr>
      <vt:lpstr>Allocation in manipulative contexts</vt:lpstr>
      <vt:lpstr>Conclusions</vt:lpstr>
      <vt:lpstr>Light availability impacts on allocation</vt:lpstr>
      <vt:lpstr>Light availability impacts on allocation</vt:lpstr>
      <vt:lpstr>Soil nitrogen impacts on allocation</vt:lpstr>
      <vt:lpstr>Soil phosphorus impacts on allocation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Smith, Nick</dc:creator>
  <cp:lastModifiedBy>Smith, Nick</cp:lastModifiedBy>
  <cp:revision>42</cp:revision>
  <dcterms:created xsi:type="dcterms:W3CDTF">2026-05-11T07:25:11Z</dcterms:created>
  <dcterms:modified xsi:type="dcterms:W3CDTF">2026-05-19T14:14:12Z</dcterms:modified>
</cp:coreProperties>
</file>