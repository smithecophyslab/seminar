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74" r:id="rId12"/>
    <p:sldId id="275" r:id="rId13"/>
    <p:sldId id="269" r:id="rId14"/>
    <p:sldId id="276" r:id="rId15"/>
    <p:sldId id="277" r:id="rId16"/>
    <p:sldId id="270" r:id="rId17"/>
    <p:sldId id="278" r:id="rId18"/>
    <p:sldId id="279" r:id="rId19"/>
    <p:sldId id="271" r:id="rId20"/>
    <p:sldId id="27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25"/>
    <p:restoredTop sz="94658"/>
  </p:normalViewPr>
  <p:slideViewPr>
    <p:cSldViewPr snapToGrid="0">
      <p:cViewPr varScale="1">
        <p:scale>
          <a:sx n="120" d="100"/>
          <a:sy n="120" d="100"/>
        </p:scale>
        <p:origin x="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196F-C92F-2D3B-E61B-990B790EA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417841-528E-733B-8A20-C0D1A34BA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524F8-A074-E824-5BC9-754BDFFA4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CDA9C-264C-25C4-6AE8-E7170B26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A0C08-6DF3-77A2-2FEB-9543C9E09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060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09374-F9DE-9383-DDA4-0F05053C4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42595-B4D2-66DA-1291-A049701C3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390B-28DA-76CF-0F2F-6F4A3B133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3272D-ED14-0E02-7301-8312B7828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D84E43-6A24-DFFC-A7EE-0695E73EB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62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93209-BA28-3E28-A624-00129471A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6C37D-093C-BE8D-6FA2-4D1FF3787E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415F-AFA6-C477-3E61-9BAC6D010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8CCEA-92E1-D5F1-BBDD-B2375561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E6E80-E7CE-BFCA-B325-D3A9DF5A2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28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DA9F-480F-0430-E3B9-DCC8E19C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3696F-DE65-651D-8143-51A8B7FB3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70BC98-8C3B-8C17-2D8C-3398CA5AD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C835B-1D9C-AA0C-0BE2-02C73A27B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C57FD-237D-3984-5FAC-804EDAD8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61E79-44AC-A23B-E8CB-F7356E41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18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0714-2669-F5E2-25BA-C6763A50F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6F3C84-FA60-2677-A32A-B6B93D1E1C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ACC29-AAA0-D3C2-375D-01DCF09E9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B75C26-A97A-F163-01DB-557168F08A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89448F-1273-D7BD-A86F-52F9AD8C83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654C4-FAA2-1C8E-A432-A4C81EFC7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E3D4A3-A796-2DBB-BCD8-C248E42E6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E2535C-3E3D-662D-72ED-A51C7064E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04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9ED82-D50C-3C24-0B85-67A72F46D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CD136C-8527-64E4-B1D8-FE59B06C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07E7F8-5395-266A-297D-B89659769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1F8289-DD4F-05C4-CF9D-94E73DF29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33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C63B5-864E-E269-F8F2-26FF9EE3B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4A973-D7F6-E1E6-28EF-B2461AAC8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5B316-BA20-0E49-32F9-B44E4829D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01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A523E-61A0-68BC-CEB6-086D64530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9D128-09D9-B16C-8C2D-8720D095D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706E2-63BA-5164-CED0-711E707E6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9B749-B3EF-80DF-9596-A75D5C191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418F3-5EA5-11DB-343F-E45240E13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395A10-6AFF-CB03-CB70-77FB4EB2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6A269-DD40-D179-2284-A0E40AAA8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31F982-5AAA-7A54-0E4A-799D979229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854117-D682-1739-AFB7-32E3608D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C27EB-8054-F6E4-956C-586EC8CE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AF9B5-B4D1-DC81-3D60-6847B8FE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E22F2-7EEF-134E-3519-1BEC443BB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179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5B3C-C627-3579-1F46-67CBAD0BE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388FD-04E7-E897-57DE-CA2333895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4F2CC-8CD1-BB04-4457-7EF5DFDAE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AD33E-ED36-5139-8578-A5BE0790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06967-9C01-3221-421D-C7B0E6D49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14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B79543-4B88-E7FD-9FB2-EACC9BF86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69529-457D-5EF9-32DE-26C06055F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5B033-CD31-C81B-067F-1D50CD14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EA432-5306-0417-F131-1578B0F33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C5C4A-A655-3A52-9F7F-E6574DA9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499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9B1B08-19AE-2D20-3AFA-2092DAD4F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DF196-D900-68F1-4ECF-718911BAA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8039F-FCB9-B108-8B9D-E659C0289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914372-A3AC-7946-8026-7C3ECE4DF88D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046B0-6261-1B23-ED2E-758CA1558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34D37-FB84-1287-DEC5-064EE7FBF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439FD-29B1-C126-B4C0-EC96A8C1FB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Smith Lab experimental allocation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68D351-5F13-1E22-3515-6E452C1208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LEMONTREE Science meeting May 21, 2026</a:t>
            </a:r>
          </a:p>
        </p:txBody>
      </p:sp>
    </p:spTree>
    <p:extLst>
      <p:ext uri="{BB962C8B-B14F-4D97-AF65-F5344CB8AC3E}">
        <p14:creationId xmlns:p14="http://schemas.microsoft.com/office/powerpoint/2010/main" val="2763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3ECAB-C9E5-C4F7-E5EA-81643ACE1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71DA2-61E4-0D0A-6AB4-45B361A6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407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F39DB-A4DD-2D93-F022-AA6B7AC3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75B5-A914-D5B9-F860-9BBE0C6F8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98A0A-F88D-94E0-20D4-58419551A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</p:txBody>
      </p:sp>
    </p:spTree>
    <p:extLst>
      <p:ext uri="{BB962C8B-B14F-4D97-AF65-F5344CB8AC3E}">
        <p14:creationId xmlns:p14="http://schemas.microsoft.com/office/powerpoint/2010/main" val="2212355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B965-64EC-DAF8-0419-450F0D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6187D-3BCA-EFC9-7864-BFF6DC96A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252D0-68DC-6670-1309-BAB04691D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2"/>
            <a:r>
              <a:rPr lang="en-US" dirty="0"/>
              <a:t>Structure (LMA)</a:t>
            </a:r>
          </a:p>
          <a:p>
            <a:pPr lvl="2"/>
            <a:r>
              <a:rPr lang="en-US" dirty="0" err="1"/>
              <a:t>RuBisCO</a:t>
            </a:r>
            <a:r>
              <a:rPr lang="en-US" dirty="0"/>
              <a:t> (</a:t>
            </a:r>
            <a:r>
              <a:rPr lang="en-US" dirty="0" err="1"/>
              <a:t>V</a:t>
            </a:r>
            <a:r>
              <a:rPr lang="en-US" baseline="-25000" dirty="0" err="1"/>
              <a:t>cmax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Light harvesting (chlorophyll)</a:t>
            </a:r>
          </a:p>
          <a:p>
            <a:pPr lvl="2"/>
            <a:r>
              <a:rPr lang="en-US" dirty="0"/>
              <a:t>Bioenergetics (electron transport; </a:t>
            </a:r>
            <a:r>
              <a:rPr lang="en-US" dirty="0" err="1"/>
              <a:t>J</a:t>
            </a:r>
            <a:r>
              <a:rPr lang="en-US" baseline="-25000" dirty="0" err="1"/>
              <a:t>max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</p:txBody>
      </p:sp>
    </p:spTree>
    <p:extLst>
      <p:ext uri="{BB962C8B-B14F-4D97-AF65-F5344CB8AC3E}">
        <p14:creationId xmlns:p14="http://schemas.microsoft.com/office/powerpoint/2010/main" val="2991155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E56F3-40CA-C4AE-7694-A17D5F88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79E60-3D5E-BC91-441B-95F01AD67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E2851-6447-F8BC-E53A-83165AFDD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  <a:p>
            <a:pPr lvl="2"/>
            <a:r>
              <a:rPr lang="en-US" dirty="0"/>
              <a:t>Inorganic phosphate</a:t>
            </a:r>
          </a:p>
          <a:p>
            <a:pPr lvl="2"/>
            <a:r>
              <a:rPr lang="en-US" dirty="0"/>
              <a:t>Nucleic acids</a:t>
            </a:r>
          </a:p>
          <a:p>
            <a:pPr lvl="2"/>
            <a:r>
              <a:rPr lang="en-US" dirty="0"/>
              <a:t>Phospholipids</a:t>
            </a:r>
          </a:p>
          <a:p>
            <a:pPr lvl="2"/>
            <a:r>
              <a:rPr lang="en-US" dirty="0"/>
              <a:t>Metabolites</a:t>
            </a:r>
          </a:p>
          <a:p>
            <a:pPr lvl="2"/>
            <a:r>
              <a:rPr lang="en-US" dirty="0"/>
              <a:t>Residual</a:t>
            </a:r>
          </a:p>
        </p:txBody>
      </p:sp>
    </p:spTree>
    <p:extLst>
      <p:ext uri="{BB962C8B-B14F-4D97-AF65-F5344CB8AC3E}">
        <p14:creationId xmlns:p14="http://schemas.microsoft.com/office/powerpoint/2010/main" val="1695199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19A3-5783-B84C-A320-7E46B8B8A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59FD1-6DE7-93B0-CEA0-8D03EF193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5E488-A076-CD8D-69AA-662090254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</p:txBody>
      </p:sp>
    </p:spTree>
    <p:extLst>
      <p:ext uri="{BB962C8B-B14F-4D97-AF65-F5344CB8AC3E}">
        <p14:creationId xmlns:p14="http://schemas.microsoft.com/office/powerpoint/2010/main" val="2166449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C8D9-C0EF-701C-CB6A-0D357E1BB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5E710-FC90-81A6-BE1B-C6B3074E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CAB8C-3897-E7F4-602F-8472EF896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/>
              <a:t>Root:Shoot</a:t>
            </a:r>
            <a:r>
              <a:rPr lang="en-US" dirty="0"/>
              <a:t> ratio</a:t>
            </a:r>
          </a:p>
          <a:p>
            <a:pPr lvl="1"/>
            <a:r>
              <a:rPr lang="en-US" dirty="0"/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29017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E3A8B-672C-620A-428E-EB7772F64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B3258-5FE9-70F0-F8D3-A57F7B2CB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19B0A-EE32-18BC-5278-F0EADF76B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/>
              <a:t>Root:Shoot</a:t>
            </a:r>
            <a:r>
              <a:rPr lang="en-US" dirty="0"/>
              <a:t> ratio</a:t>
            </a:r>
          </a:p>
          <a:p>
            <a:pPr lvl="2"/>
            <a:r>
              <a:rPr lang="en-US" dirty="0"/>
              <a:t>Leaves</a:t>
            </a:r>
          </a:p>
          <a:p>
            <a:pPr lvl="2"/>
            <a:r>
              <a:rPr lang="en-US" dirty="0"/>
              <a:t>Stems</a:t>
            </a:r>
          </a:p>
          <a:p>
            <a:pPr lvl="2"/>
            <a:r>
              <a:rPr lang="en-US" dirty="0"/>
              <a:t>Roots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349777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C543C-1F14-DC91-3A39-A7738456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047A5-8649-5873-C9A4-40C63D28C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27290-A96B-DC2E-923E-E9A3E97AB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/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935558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4B8E-FFCB-C7E4-912F-E1E7B8374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0AF7A-3584-14C5-8D91-8E04A4C1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1: Light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BEB87-60E9-D1AD-502B-EBF94F330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2180978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35B5-F04B-6C9F-52D1-F3C6AD3D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87D41-9FE2-9D5A-203F-D1213E8F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1: Light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9FF13-E5CF-A6B8-A870-69D4C81F1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4CE84B-4FC8-1B3D-7DAB-153060C0C815}"/>
              </a:ext>
            </a:extLst>
          </p:cNvPr>
          <p:cNvSpPr txBox="1"/>
          <p:nvPr/>
        </p:nvSpPr>
        <p:spPr>
          <a:xfrm>
            <a:off x="838199" y="4731488"/>
            <a:ext cx="52578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Light increases and soil N decreases leaf N allocation to photosynthesis in N-fixing and non-N-fixing species (Waring et al., 2023).</a:t>
            </a:r>
          </a:p>
        </p:txBody>
      </p:sp>
      <p:pic>
        <p:nvPicPr>
          <p:cNvPr id="5" name="New picture">
            <a:extLst>
              <a:ext uri="{FF2B5EF4-FFF2-40B4-BE49-F238E27FC236}">
                <a16:creationId xmlns:a16="http://schemas.microsoft.com/office/drawing/2014/main" id="{C62D95DF-4132-D77A-BA20-1897BD10C54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934201" y="1473108"/>
            <a:ext cx="5257799" cy="527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993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A3315-CE80-57C6-484F-C02513BAA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B2872-1C80-32B9-2C7E-BAD573AFD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1: Light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77187-7310-AF96-722F-461714952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C68D53-06C4-8443-9C2B-4E41F021F42C}"/>
              </a:ext>
            </a:extLst>
          </p:cNvPr>
          <p:cNvSpPr txBox="1"/>
          <p:nvPr/>
        </p:nvSpPr>
        <p:spPr>
          <a:xfrm>
            <a:off x="6358270" y="2700670"/>
            <a:ext cx="5582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highlight>
                  <a:srgbClr val="FFFF00"/>
                </a:highlight>
              </a:rPr>
              <a:t>Root:shoot</a:t>
            </a:r>
            <a:r>
              <a:rPr lang="en-US" sz="4000" dirty="0">
                <a:highlight>
                  <a:srgbClr val="FFFF00"/>
                </a:highlight>
              </a:rPr>
              <a:t> from either Evan/Lizz or Evan/Joseph </a:t>
            </a:r>
            <a:r>
              <a:rPr lang="en-US" sz="4000" dirty="0" err="1">
                <a:highlight>
                  <a:srgbClr val="FFFF00"/>
                </a:highlight>
              </a:rPr>
              <a:t>expt</a:t>
            </a:r>
            <a:endParaRPr lang="en-US" sz="4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28991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4CC27-D47E-3097-D892-2E46909A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EB03B-F6EC-76D7-FD6C-EC5B062D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2: Soil Water x Soil Nitrogen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9330E-D70B-DB06-7624-A3A3B6619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660234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F6409-6AAD-8C32-E0CC-DEC6E40F4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3223A-96CD-2633-1C71-C7DAFB46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2: Soil Water x Soil Nitrogen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67EA5-5963-E3B1-70CC-EEE889A88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1845009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D377-D7DA-45A2-8FEE-77564A273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0025-EF94-076A-E946-8A002D169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2: Soil Water x Soil Nitrogen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E014A-9472-8942-476A-B4A97E270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1099077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11AE2-5E68-4100-DE52-A23A72967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8DDC-2244-C9BF-C85E-6008B9C57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3: CO</a:t>
            </a:r>
            <a:r>
              <a:rPr lang="en-US" baseline="-25000" dirty="0"/>
              <a:t>2</a:t>
            </a:r>
            <a:r>
              <a:rPr lang="en-US" dirty="0"/>
              <a:t>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A505B-19F3-B2A2-6CFE-48291E97E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537823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EAEA-001F-D1FD-AB02-99B1EC14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14284-9B6C-5425-664A-2B559982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3: CO</a:t>
            </a:r>
            <a:r>
              <a:rPr lang="en-US" baseline="-25000" dirty="0"/>
              <a:t>2</a:t>
            </a:r>
            <a:r>
              <a:rPr lang="en-US" dirty="0"/>
              <a:t>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E81F4-6EFE-F0E5-440F-C372F32C1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184707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C810-8C83-B82F-E2CD-7EAE80A1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0AC0-7209-DD4D-2FCB-291830B5F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3: CO</a:t>
            </a:r>
            <a:r>
              <a:rPr lang="en-US" baseline="-25000" dirty="0"/>
              <a:t>2</a:t>
            </a:r>
            <a:r>
              <a:rPr lang="en-US" dirty="0"/>
              <a:t>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92F34-EFA6-B74D-22EA-F09FD356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105921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40997-F770-EB4F-814A-981886E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1ECE2-78A4-E98E-7EBF-DB48453FB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4: Light x Soil Phosphorus x C</a:t>
            </a:r>
            <a:r>
              <a:rPr lang="en-US" baseline="-25000" dirty="0"/>
              <a:t>3</a:t>
            </a:r>
            <a:r>
              <a:rPr lang="en-US" dirty="0"/>
              <a:t>/C</a:t>
            </a:r>
            <a:r>
              <a:rPr lang="en-US" baseline="-25000" dirty="0"/>
              <a:t>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DFCF7-0EFE-2CE8-3049-D20D724E8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161505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B446A-4EA4-ABFC-50C1-6EB5B4A77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12D7-2D88-7AE1-C094-4910AE60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5: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E0462-06B7-ADDE-023E-3665A9E73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/>
              <a:t>Root:Shoot</a:t>
            </a:r>
            <a:r>
              <a:rPr lang="en-US" dirty="0"/>
              <a:t> ratio</a:t>
            </a:r>
          </a:p>
          <a:p>
            <a:pPr lvl="1"/>
            <a:r>
              <a:rPr lang="en-US" dirty="0"/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202283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464</Words>
  <Application>Microsoft Macintosh PowerPoint</Application>
  <PresentationFormat>Widescreen</PresentationFormat>
  <Paragraphs>133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Smith Lab experimental allocation results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Experiment 1: Light x Soil Nitrogen x N-fixation</vt:lpstr>
      <vt:lpstr>Experiment 1: Light x Soil Nitrogen x N-fixation</vt:lpstr>
      <vt:lpstr>Experiment 1: Light x Soil Nitrogen x N-fixation</vt:lpstr>
      <vt:lpstr>Experiment 2: Soil Water x Soil Nitrogen</vt:lpstr>
      <vt:lpstr>Experiment 2: Soil Water x Soil Nitrogen</vt:lpstr>
      <vt:lpstr>Experiment 2: Soil Water x Soil Nitrogen</vt:lpstr>
      <vt:lpstr>Experiment 3: CO2 x Soil Nitrogen x N-fixation</vt:lpstr>
      <vt:lpstr>Experiment 3: CO2 x Soil Nitrogen x N-fixation</vt:lpstr>
      <vt:lpstr>Experiment 3: CO2 x Soil Nitrogen x N-fixation</vt:lpstr>
      <vt:lpstr>Experiment 4: Light x Soil Phosphorus x C3/C4</vt:lpstr>
      <vt:lpstr>Experiment 5: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14</cp:revision>
  <dcterms:created xsi:type="dcterms:W3CDTF">2026-05-11T07:25:11Z</dcterms:created>
  <dcterms:modified xsi:type="dcterms:W3CDTF">2026-05-11T08:00:39Z</dcterms:modified>
</cp:coreProperties>
</file>