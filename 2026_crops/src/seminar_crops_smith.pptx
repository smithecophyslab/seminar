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604" r:id="rId2"/>
    <p:sldId id="549" r:id="rId3"/>
    <p:sldId id="342" r:id="rId4"/>
    <p:sldId id="258" r:id="rId5"/>
    <p:sldId id="343" r:id="rId6"/>
    <p:sldId id="558" r:id="rId7"/>
    <p:sldId id="485" r:id="rId8"/>
    <p:sldId id="478" r:id="rId9"/>
    <p:sldId id="576" r:id="rId10"/>
    <p:sldId id="444" r:id="rId11"/>
    <p:sldId id="445" r:id="rId12"/>
    <p:sldId id="465" r:id="rId13"/>
    <p:sldId id="358" r:id="rId14"/>
    <p:sldId id="588" r:id="rId15"/>
    <p:sldId id="270" r:id="rId16"/>
    <p:sldId id="526" r:id="rId17"/>
    <p:sldId id="529" r:id="rId18"/>
    <p:sldId id="565" r:id="rId19"/>
    <p:sldId id="450" r:id="rId20"/>
    <p:sldId id="448" r:id="rId21"/>
    <p:sldId id="596" r:id="rId22"/>
    <p:sldId id="449" r:id="rId23"/>
    <p:sldId id="566" r:id="rId24"/>
    <p:sldId id="532" r:id="rId25"/>
    <p:sldId id="395" r:id="rId26"/>
    <p:sldId id="394" r:id="rId27"/>
    <p:sldId id="396" r:id="rId28"/>
    <p:sldId id="398" r:id="rId29"/>
    <p:sldId id="416" r:id="rId30"/>
    <p:sldId id="486" r:id="rId31"/>
    <p:sldId id="420" r:id="rId32"/>
    <p:sldId id="421" r:id="rId33"/>
    <p:sldId id="424" r:id="rId34"/>
    <p:sldId id="422" r:id="rId35"/>
    <p:sldId id="291" r:id="rId36"/>
    <p:sldId id="597" r:id="rId37"/>
    <p:sldId id="533" r:id="rId38"/>
    <p:sldId id="386" r:id="rId39"/>
    <p:sldId id="387" r:id="rId40"/>
    <p:sldId id="561" r:id="rId41"/>
    <p:sldId id="601" r:id="rId42"/>
    <p:sldId id="502" r:id="rId43"/>
    <p:sldId id="568" r:id="rId44"/>
    <p:sldId id="493" r:id="rId45"/>
    <p:sldId id="594" r:id="rId46"/>
    <p:sldId id="542" r:id="rId47"/>
    <p:sldId id="520" r:id="rId48"/>
    <p:sldId id="266" r:id="rId49"/>
    <p:sldId id="272" r:id="rId50"/>
    <p:sldId id="591" r:id="rId51"/>
    <p:sldId id="581" r:id="rId52"/>
    <p:sldId id="488" r:id="rId53"/>
    <p:sldId id="392" r:id="rId54"/>
    <p:sldId id="605" r:id="rId55"/>
    <p:sldId id="606" r:id="rId56"/>
    <p:sldId id="599" r:id="rId57"/>
    <p:sldId id="602" r:id="rId58"/>
    <p:sldId id="603" r:id="rId59"/>
    <p:sldId id="500" r:id="rId60"/>
    <p:sldId id="482" r:id="rId61"/>
    <p:sldId id="484" r:id="rId62"/>
    <p:sldId id="586" r:id="rId63"/>
    <p:sldId id="305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3"/>
    <p:restoredTop sz="94658"/>
  </p:normalViewPr>
  <p:slideViewPr>
    <p:cSldViewPr snapToGrid="0">
      <p:cViewPr varScale="1">
        <p:scale>
          <a:sx n="111" d="100"/>
          <a:sy n="111" d="100"/>
        </p:scale>
        <p:origin x="21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2E575-7F66-6A4A-A039-C91FF1AF845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873-58FE-7B4A-A9AD-BD5522DB8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8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5B92B-3542-F131-717D-99B61F82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07479-576C-1271-0C34-559F928A2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5F616-2C97-F53B-E9AB-6977FAF67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Pm results if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4D1C3-949B-0AC0-8371-9C107572E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873-58FE-7B4A-A9AD-BD5522DB855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71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Pm results if 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873-58FE-7B4A-A9AD-BD5522DB855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59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6B22-CB86-FBCC-05DE-35A216C66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2FA15-84F1-EE13-0AB5-CA01AAF4B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3EB19-EF60-DD7E-1CFF-9F414703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8B010-6D32-79A9-C475-2B666F8A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4FF8F-7738-E501-3F13-CB773D01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1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537D-4C3B-6252-6B08-A538696A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B4F1-1D69-926C-C673-88AA52635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70971-87A1-8B91-2132-DE1126AB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7617C-4555-8D49-DC3D-EECFA9D1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07197-E1B0-6A39-C529-932ED645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1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9F21-1403-C902-428D-87D92209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E0AA4-C09A-7C0C-2EAB-8323DDE9C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65443-5D8C-F931-D7D4-B8BB1654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E0A5C-4581-1A3F-FF18-58C89293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B3097-AB07-9775-E4AF-0AFB4106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9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1309-609D-6040-A1CA-E5591840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24A3-B922-9F10-D31B-82615FACE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F8BB4-5762-3680-8F0E-9B798716B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88D0-2C58-CCAD-83AB-6DA8A5EB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488EB-1123-82F9-FD2D-F731C294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9C5B2-F581-2761-4297-AC9DB352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6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065F-8127-27E3-0612-0B6A49DB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F045D-8C21-AF9D-8844-17DABFDEE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62135-DD24-923D-990E-739E38FB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47A9E-8466-9193-6F9E-E69C92943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E5126-1779-163C-E6BF-8FC7071D22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6944-FE05-0C7C-8845-A49EE23D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B555B-8EE9-C5F9-1028-3F2E04670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DC183-B9F9-D0C6-453E-2179AED5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8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9621-9D69-94B8-D4E6-3F33A466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12454C-32D0-676D-6D2B-E0C9DB460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733DB-A548-FFFA-1272-306D10DD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E31BC-79AE-3493-67FB-43E707E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1B3EC-5443-4E37-8DD5-9627141A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0211A-118A-55C5-E558-08F652BF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AF8EA-F063-ABCC-18F4-8C9C8D6A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0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E112-26C6-BD24-AB86-007EBD09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0FAE-37AD-B983-D536-8900FA89E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9DF8A-D9EC-3ABF-5F64-0B1AEE705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6BEB4-F8F9-EC0F-1968-81E9C015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3B21-2D24-C6E0-D083-C348F6AF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E6FE2-8E6D-19AE-26A3-84AFD245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8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00CC-93AC-538A-054A-839EF460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35800E-8FC7-A548-94A1-D08072DDB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36DB1-C348-507F-300A-3DD913A94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5E72F-48C9-E396-172A-11CC8A7B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34491-DE0B-D8CE-9C3A-F279523E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AEC7-ECBA-7599-8623-A0B1E1F3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8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3F12C-06E7-6634-0BC1-FAEFB7F1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E11B6-AE34-5C9A-21E4-022DD882A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094E8-75D9-596D-EAC4-FDA92E4F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21D9-71E1-A0E3-6B13-DC69B531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CB59D-57A5-633C-ECE1-CFF6C013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6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E30C9-DBC6-780C-036F-DD74B2A70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47C1-EEFA-6E9D-DB1E-D57524AD4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46D6-9374-D697-8A21-74803BAE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AECE7-04AE-14D9-4A80-F0D20CD8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196D0-D546-902E-A82F-F2E822D0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1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74363-2FC1-2FF7-0B36-7A5E2C48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43451-1932-7170-9675-3D1B18CEE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3A1E7-9FB0-C4A5-277F-EF61E80986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ECBEE-7E86-4140-A037-2028DAC40E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EDEB0-30BC-F1FC-6F01-1C03A289E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C33F4-66A6-A544-0D86-69BB5CB2A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CD39B-D9EE-5F49-9433-59BEBB6A5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2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if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62F8-A600-705B-FC85-B84444E5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187934-852B-E677-2C78-E8FEF7D16D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99"/>
          <a:stretch/>
        </p:blipFill>
        <p:spPr>
          <a:xfrm>
            <a:off x="-1" y="7336"/>
            <a:ext cx="12192000" cy="6850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1017D-BDF6-E5E9-7010-C0947388A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5068"/>
            <a:ext cx="9144000" cy="2387600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>
            <a:normAutofit fontScale="90000"/>
          </a:bodyPr>
          <a:lstStyle/>
          <a:p>
            <a:r>
              <a:rPr lang="en-US" sz="4800" dirty="0"/>
              <a:t>What does photosynthetic acclimation mean for the future of terrestrial biogeochemical cycling? </a:t>
            </a:r>
            <a:r>
              <a:rPr lang="en-US" sz="4800" dirty="0">
                <a:solidFill>
                  <a:srgbClr val="011893"/>
                </a:solidFill>
              </a:rPr>
              <a:t>A CO</a:t>
            </a:r>
            <a:r>
              <a:rPr lang="en-US" sz="4800" baseline="-25000" dirty="0">
                <a:solidFill>
                  <a:srgbClr val="011893"/>
                </a:solidFill>
              </a:rPr>
              <a:t>2</a:t>
            </a:r>
            <a:r>
              <a:rPr lang="en-US" sz="4800" dirty="0">
                <a:solidFill>
                  <a:srgbClr val="011893"/>
                </a:solidFill>
              </a:rPr>
              <a:t> story</a:t>
            </a:r>
            <a:endParaRPr lang="en-US" sz="6600" dirty="0">
              <a:solidFill>
                <a:srgbClr val="01189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5BACF-859A-B107-8736-646B1457E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1620" y="3820006"/>
            <a:ext cx="6108758" cy="2236237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>
            <a:normAutofit/>
          </a:bodyPr>
          <a:lstStyle/>
          <a:p>
            <a:r>
              <a:rPr lang="en-US" sz="4400" b="1" dirty="0"/>
              <a:t>Nick Smith</a:t>
            </a:r>
          </a:p>
          <a:p>
            <a:r>
              <a:rPr lang="en-US" dirty="0">
                <a:solidFill>
                  <a:srgbClr val="011893"/>
                </a:solidFill>
              </a:rPr>
              <a:t>Department of Biological Sciences</a:t>
            </a:r>
          </a:p>
          <a:p>
            <a:r>
              <a:rPr lang="en-US" dirty="0">
                <a:solidFill>
                  <a:srgbClr val="011893"/>
                </a:solidFill>
              </a:rPr>
              <a:t>Texas Tech University</a:t>
            </a:r>
          </a:p>
          <a:p>
            <a:r>
              <a:rPr lang="en-US" dirty="0" err="1">
                <a:solidFill>
                  <a:srgbClr val="011893"/>
                </a:solidFill>
              </a:rPr>
              <a:t>nick.smith@ttu.edu</a:t>
            </a:r>
            <a:endParaRPr lang="en-US" dirty="0">
              <a:solidFill>
                <a:srgbClr val="0118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655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9B2D-2822-6D47-B5F1-08CC9995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lab examines </a:t>
            </a:r>
            <a:r>
              <a:rPr lang="en-US" dirty="0">
                <a:solidFill>
                  <a:srgbClr val="FF0000"/>
                </a:solidFill>
              </a:rPr>
              <a:t>photosynthesis</a:t>
            </a:r>
            <a:r>
              <a:rPr lang="en-US" dirty="0"/>
              <a:t> as a regulator of global change impacts on ecosystem services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B3127F-2BBF-B041-9617-FC8A7E98E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4724" y="2297430"/>
            <a:ext cx="7382552" cy="37376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9AB563-9379-D14A-B0F9-961F0874D527}"/>
              </a:ext>
            </a:extLst>
          </p:cNvPr>
          <p:cNvSpPr txBox="1"/>
          <p:nvPr/>
        </p:nvSpPr>
        <p:spPr>
          <a:xfrm>
            <a:off x="9505506" y="6488668"/>
            <a:ext cx="2686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(2024) </a:t>
            </a:r>
            <a:r>
              <a:rPr lang="en-US" i="1" dirty="0"/>
              <a:t>Am J Botany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4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Photosynthesis is important! An example…</a:t>
            </a:r>
          </a:p>
        </p:txBody>
      </p:sp>
    </p:spTree>
    <p:extLst>
      <p:ext uri="{BB962C8B-B14F-4D97-AF65-F5344CB8AC3E}">
        <p14:creationId xmlns:p14="http://schemas.microsoft.com/office/powerpoint/2010/main" val="349524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Photosynthesis is important! An example…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1738" y="1119809"/>
            <a:ext cx="5738192" cy="57381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3FB43E-FC3C-9E4D-8660-2A820841C8EF}"/>
              </a:ext>
            </a:extLst>
          </p:cNvPr>
          <p:cNvSpPr txBox="1"/>
          <p:nvPr/>
        </p:nvSpPr>
        <p:spPr>
          <a:xfrm>
            <a:off x="9760689" y="6492875"/>
            <a:ext cx="243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from IPCC (2013)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60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Photosynthesis is important! An example…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0688" y="6488668"/>
            <a:ext cx="243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from IPCC (2013)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1738" y="1119809"/>
            <a:ext cx="5738192" cy="57381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59643" y="2248930"/>
            <a:ext cx="531341" cy="3015048"/>
          </a:xfrm>
          <a:prstGeom prst="rect">
            <a:avLst/>
          </a:prstGeom>
          <a:noFill/>
          <a:ln w="76200"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1189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39016" y="2076040"/>
            <a:ext cx="270420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11893"/>
                </a:solidFill>
              </a:rPr>
              <a:t>Photosynthesis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090984" y="2445372"/>
            <a:ext cx="1223319" cy="0"/>
          </a:xfrm>
          <a:prstGeom prst="straightConnector1">
            <a:avLst/>
          </a:prstGeom>
          <a:ln w="76200">
            <a:solidFill>
              <a:srgbClr val="0118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17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Photosynthesis is important! An example…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1719" y="6488668"/>
            <a:ext cx="242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from IPCC (2013)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1738" y="1119809"/>
            <a:ext cx="5738192" cy="57381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59643" y="2248930"/>
            <a:ext cx="531341" cy="3015048"/>
          </a:xfrm>
          <a:prstGeom prst="rect">
            <a:avLst/>
          </a:prstGeom>
          <a:noFill/>
          <a:ln w="76200"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1189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39016" y="2076040"/>
            <a:ext cx="270420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11893"/>
                </a:solidFill>
              </a:rPr>
              <a:t>Photosynthesis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090984" y="2445372"/>
            <a:ext cx="1223319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269B47E-5C70-8545-A6FE-09DEF6B6E0D6}"/>
              </a:ext>
            </a:extLst>
          </p:cNvPr>
          <p:cNvSpPr txBox="1"/>
          <p:nvPr/>
        </p:nvSpPr>
        <p:spPr>
          <a:xfrm>
            <a:off x="9087694" y="3064222"/>
            <a:ext cx="24202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 small percentage change in photosynthesis can have large consequences for climate</a:t>
            </a:r>
          </a:p>
        </p:txBody>
      </p:sp>
    </p:spTree>
    <p:extLst>
      <p:ext uri="{BB962C8B-B14F-4D97-AF65-F5344CB8AC3E}">
        <p14:creationId xmlns:p14="http://schemas.microsoft.com/office/powerpoint/2010/main" val="119196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3D9-721C-064A-A57A-3A44213B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predictions are uncertain!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0D588-0002-D24A-B6EC-2AA8E7E454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690688"/>
            <a:ext cx="5909481" cy="4725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5115C7-2111-324D-858D-93814CC38D19}"/>
              </a:ext>
            </a:extLst>
          </p:cNvPr>
          <p:cNvSpPr txBox="1"/>
          <p:nvPr/>
        </p:nvSpPr>
        <p:spPr>
          <a:xfrm>
            <a:off x="8516679" y="6492875"/>
            <a:ext cx="367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Friedlingstein</a:t>
            </a:r>
            <a:r>
              <a:rPr lang="en-US" dirty="0"/>
              <a:t> et al. (2014) </a:t>
            </a:r>
            <a:r>
              <a:rPr lang="en-US" i="1" dirty="0"/>
              <a:t>J Climate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9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3D9-721C-064A-A57A-3A44213B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predictions are uncertain!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0D588-0002-D24A-B6EC-2AA8E7E454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690688"/>
            <a:ext cx="5909481" cy="47250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1B05B3-87F6-C449-A372-72425D50624A}"/>
              </a:ext>
            </a:extLst>
          </p:cNvPr>
          <p:cNvSpPr/>
          <p:nvPr/>
        </p:nvSpPr>
        <p:spPr>
          <a:xfrm>
            <a:off x="5827594" y="2306471"/>
            <a:ext cx="1023582" cy="29888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7700-EC31-6143-A6FE-37B76A637943}"/>
              </a:ext>
            </a:extLst>
          </p:cNvPr>
          <p:cNvSpPr txBox="1"/>
          <p:nvPr/>
        </p:nvSpPr>
        <p:spPr>
          <a:xfrm>
            <a:off x="6927376" y="3400791"/>
            <a:ext cx="49131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Future model uncertainty (14 </a:t>
            </a:r>
            <a:r>
              <a:rPr lang="en-US" sz="2000" dirty="0" err="1">
                <a:solidFill>
                  <a:srgbClr val="FF0000"/>
                </a:solidFill>
              </a:rPr>
              <a:t>Pg</a:t>
            </a:r>
            <a:r>
              <a:rPr lang="en-US" sz="2000" dirty="0">
                <a:solidFill>
                  <a:srgbClr val="FF0000"/>
                </a:solidFill>
              </a:rPr>
              <a:t>) &gt; current fossil fuel emissions (9.5 </a:t>
            </a:r>
            <a:r>
              <a:rPr lang="en-US" sz="2000" dirty="0" err="1">
                <a:solidFill>
                  <a:srgbClr val="FF0000"/>
                </a:solidFill>
              </a:rPr>
              <a:t>Pg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115C7-2111-324D-858D-93814CC38D19}"/>
              </a:ext>
            </a:extLst>
          </p:cNvPr>
          <p:cNvSpPr txBox="1"/>
          <p:nvPr/>
        </p:nvSpPr>
        <p:spPr>
          <a:xfrm>
            <a:off x="8495414" y="6488668"/>
            <a:ext cx="3663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Friedlingstein</a:t>
            </a:r>
            <a:r>
              <a:rPr lang="en-US" dirty="0"/>
              <a:t> et al. (2014) </a:t>
            </a:r>
            <a:r>
              <a:rPr lang="en-US" i="1" dirty="0"/>
              <a:t>J Climate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3D9-721C-064A-A57A-3A44213B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uncertainty is driven by uncertainty in photosynthesis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0D588-0002-D24A-B6EC-2AA8E7E454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690688"/>
            <a:ext cx="5909481" cy="47250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1B05B3-87F6-C449-A372-72425D50624A}"/>
              </a:ext>
            </a:extLst>
          </p:cNvPr>
          <p:cNvSpPr/>
          <p:nvPr/>
        </p:nvSpPr>
        <p:spPr>
          <a:xfrm>
            <a:off x="5827594" y="2306471"/>
            <a:ext cx="1023582" cy="29888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115C7-2111-324D-858D-93814CC38D19}"/>
              </a:ext>
            </a:extLst>
          </p:cNvPr>
          <p:cNvSpPr txBox="1"/>
          <p:nvPr/>
        </p:nvSpPr>
        <p:spPr>
          <a:xfrm>
            <a:off x="0" y="6488668"/>
            <a:ext cx="352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Friedlingstein</a:t>
            </a:r>
            <a:r>
              <a:rPr lang="en-US" dirty="0"/>
              <a:t> et al. (2014) </a:t>
            </a:r>
            <a:r>
              <a:rPr lang="en-US" i="1" dirty="0"/>
              <a:t>J Climate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36B1E-690F-5C42-8249-AC8C57871C5E}"/>
              </a:ext>
            </a:extLst>
          </p:cNvPr>
          <p:cNvSpPr txBox="1"/>
          <p:nvPr/>
        </p:nvSpPr>
        <p:spPr>
          <a:xfrm>
            <a:off x="7648433" y="6488668"/>
            <a:ext cx="454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Keenan et al. (2023) </a:t>
            </a:r>
            <a:r>
              <a:rPr lang="en-US" i="1" dirty="0"/>
              <a:t>Nature Climate Change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BDC337-579E-254E-8F45-C97C36F3D3E2}"/>
              </a:ext>
            </a:extLst>
          </p:cNvPr>
          <p:cNvPicPr/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612"/>
          <a:stretch/>
        </p:blipFill>
        <p:spPr>
          <a:xfrm>
            <a:off x="7297003" y="1470200"/>
            <a:ext cx="4543567" cy="450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67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Why the uncertainty?</a:t>
            </a:r>
            <a:r>
              <a:rPr lang="en-US" dirty="0"/>
              <a:t> Theoretical models for photosynthesis exist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280BF7-E2D7-C446-A4CC-1F206A956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64" y="1840814"/>
            <a:ext cx="9926472" cy="4298241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584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produce short term responses that match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60020"/>
            <a:ext cx="4572000" cy="457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369"/>
          <a:stretch/>
        </p:blipFill>
        <p:spPr>
          <a:xfrm>
            <a:off x="4695568" y="2060020"/>
            <a:ext cx="3686432" cy="457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369"/>
          <a:stretch/>
        </p:blipFill>
        <p:spPr>
          <a:xfrm>
            <a:off x="8505568" y="2060020"/>
            <a:ext cx="368643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7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11893"/>
                </a:solidFill>
              </a:rPr>
              <a:t>Why the uncertainty?</a:t>
            </a:r>
            <a:r>
              <a:rPr lang="en-US" dirty="0"/>
              <a:t> Long-term responses differ from short-term responses due to </a:t>
            </a:r>
            <a:r>
              <a:rPr lang="en-US" u="sng" dirty="0">
                <a:solidFill>
                  <a:srgbClr val="011893"/>
                </a:solidFill>
              </a:rPr>
              <a:t>acclimation</a:t>
            </a:r>
          </a:p>
        </p:txBody>
      </p:sp>
    </p:spTree>
    <p:extLst>
      <p:ext uri="{BB962C8B-B14F-4D97-AF65-F5344CB8AC3E}">
        <p14:creationId xmlns:p14="http://schemas.microsoft.com/office/powerpoint/2010/main" val="258328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&quot;No&quot; Symbol 8">
            <a:extLst>
              <a:ext uri="{FF2B5EF4-FFF2-40B4-BE49-F238E27FC236}">
                <a16:creationId xmlns:a16="http://schemas.microsoft.com/office/drawing/2014/main" id="{D91D5FE1-E1E6-1545-BC06-1AD5F7A2F559}"/>
              </a:ext>
            </a:extLst>
          </p:cNvPr>
          <p:cNvSpPr/>
          <p:nvPr/>
        </p:nvSpPr>
        <p:spPr>
          <a:xfrm>
            <a:off x="4026161" y="2113005"/>
            <a:ext cx="3732975" cy="3645243"/>
          </a:xfrm>
          <a:prstGeom prst="noSmoking">
            <a:avLst>
              <a:gd name="adj" fmla="val 599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D685B-7D73-F046-A16E-D465519A4E7D}"/>
              </a:ext>
            </a:extLst>
          </p:cNvPr>
          <p:cNvSpPr txBox="1"/>
          <p:nvPr/>
        </p:nvSpPr>
        <p:spPr>
          <a:xfrm>
            <a:off x="4340909" y="3550905"/>
            <a:ext cx="31034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Dumb plants</a:t>
            </a:r>
          </a:p>
        </p:txBody>
      </p:sp>
    </p:spTree>
    <p:extLst>
      <p:ext uri="{BB962C8B-B14F-4D97-AF65-F5344CB8AC3E}">
        <p14:creationId xmlns:p14="http://schemas.microsoft.com/office/powerpoint/2010/main" val="3727541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3012" y="1907303"/>
            <a:ext cx="3617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11893"/>
                </a:solidFill>
              </a:rPr>
              <a:t>Acclimated to high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271" y="1907303"/>
            <a:ext cx="35158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Acclimated to low light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855" y="2168913"/>
            <a:ext cx="4572000" cy="457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4611" y="2168913"/>
            <a:ext cx="4572000" cy="4572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8957B7-3CFC-9345-8C20-DF08977A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Acclimation: an example</a:t>
            </a:r>
          </a:p>
        </p:txBody>
      </p:sp>
    </p:spTree>
    <p:extLst>
      <p:ext uri="{BB962C8B-B14F-4D97-AF65-F5344CB8AC3E}">
        <p14:creationId xmlns:p14="http://schemas.microsoft.com/office/powerpoint/2010/main" val="335687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3012" y="1907303"/>
            <a:ext cx="3617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11893"/>
                </a:solidFill>
              </a:rPr>
              <a:t>Acclimated to high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271" y="1907303"/>
            <a:ext cx="35158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Acclimated to low light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855" y="2168913"/>
            <a:ext cx="4572000" cy="457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4611" y="2168913"/>
            <a:ext cx="4572000" cy="4572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8957B7-3CFC-9345-8C20-DF08977A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Acclimation: an example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AB900-405B-C14C-ADF2-622BB5585A42}"/>
              </a:ext>
            </a:extLst>
          </p:cNvPr>
          <p:cNvCxnSpPr/>
          <p:nvPr/>
        </p:nvCxnSpPr>
        <p:spPr>
          <a:xfrm flipV="1">
            <a:off x="3962400" y="3643745"/>
            <a:ext cx="0" cy="18980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754B4D-D408-0349-9760-DA62774653D5}"/>
              </a:ext>
            </a:extLst>
          </p:cNvPr>
          <p:cNvCxnSpPr>
            <a:cxnSpLocks/>
          </p:cNvCxnSpPr>
          <p:nvPr/>
        </p:nvCxnSpPr>
        <p:spPr>
          <a:xfrm flipV="1">
            <a:off x="8049489" y="4668982"/>
            <a:ext cx="0" cy="8728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C0DC352-F631-8C43-8EEE-2D8678BB83C1}"/>
              </a:ext>
            </a:extLst>
          </p:cNvPr>
          <p:cNvSpPr txBox="1"/>
          <p:nvPr/>
        </p:nvSpPr>
        <p:spPr>
          <a:xfrm>
            <a:off x="609600" y="6317673"/>
            <a:ext cx="9554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Photosynthesis peaks a light level close to the level the leaf is acclimated to</a:t>
            </a:r>
          </a:p>
        </p:txBody>
      </p:sp>
    </p:spTree>
    <p:extLst>
      <p:ext uri="{BB962C8B-B14F-4D97-AF65-F5344CB8AC3E}">
        <p14:creationId xmlns:p14="http://schemas.microsoft.com/office/powerpoint/2010/main" val="848472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Acclimation is ubiquitous and well known</a:t>
            </a:r>
            <a:r>
              <a:rPr lang="mr-IN" dirty="0"/>
              <a:t>…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233" y="2829687"/>
            <a:ext cx="4469984" cy="25915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1671" y="2829687"/>
            <a:ext cx="3617259" cy="24012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905" y="2829687"/>
            <a:ext cx="3752328" cy="2301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905" y="2354520"/>
            <a:ext cx="2503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11893"/>
                </a:solidFill>
              </a:rPr>
              <a:t>CO</a:t>
            </a:r>
            <a:r>
              <a:rPr lang="en-US" sz="2400" baseline="-25000" dirty="0">
                <a:solidFill>
                  <a:srgbClr val="011893"/>
                </a:solidFill>
              </a:rPr>
              <a:t>2</a:t>
            </a:r>
            <a:r>
              <a:rPr lang="en-US" sz="2400" dirty="0">
                <a:solidFill>
                  <a:srgbClr val="011893"/>
                </a:solidFill>
              </a:rPr>
              <a:t>: </a:t>
            </a:r>
            <a:r>
              <a:rPr lang="en-US" sz="2400" dirty="0" err="1"/>
              <a:t>Bazzaz</a:t>
            </a:r>
            <a:r>
              <a:rPr lang="en-US" sz="2400" dirty="0"/>
              <a:t> (1990)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2164" y="2354519"/>
            <a:ext cx="3114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11893"/>
                </a:solidFill>
              </a:rPr>
              <a:t>Light: </a:t>
            </a:r>
            <a:r>
              <a:rPr lang="en-US" sz="2400" dirty="0"/>
              <a:t>Boardman (1977)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6217" y="2013421"/>
            <a:ext cx="3595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11893"/>
                </a:solidFill>
              </a:rPr>
              <a:t>Temperature: </a:t>
            </a:r>
            <a:r>
              <a:rPr lang="en-US" sz="2400" dirty="0"/>
              <a:t>Berry &amp; </a:t>
            </a:r>
            <a:r>
              <a:rPr lang="en-US" sz="2400" dirty="0" err="1"/>
              <a:t>Björkman</a:t>
            </a:r>
            <a:r>
              <a:rPr lang="en-US" sz="2400" dirty="0"/>
              <a:t> (1980)</a:t>
            </a:r>
          </a:p>
        </p:txBody>
      </p:sp>
    </p:spTree>
    <p:extLst>
      <p:ext uri="{BB962C8B-B14F-4D97-AF65-F5344CB8AC3E}">
        <p14:creationId xmlns:p14="http://schemas.microsoft.com/office/powerpoint/2010/main" val="761040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…and can impact carbon cycling and climate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4194B-748E-4A43-BC8A-5938EB89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9894"/>
            <a:ext cx="4684929" cy="42836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8C170E-0E82-DE48-8809-BD89FA368F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7" t="49131" r="49328" b="2402"/>
          <a:stretch/>
        </p:blipFill>
        <p:spPr>
          <a:xfrm>
            <a:off x="5959803" y="1909894"/>
            <a:ext cx="5965367" cy="36094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CAEF0E-C957-D244-841C-EF9E082C232C}"/>
              </a:ext>
            </a:extLst>
          </p:cNvPr>
          <p:cNvSpPr txBox="1"/>
          <p:nvPr/>
        </p:nvSpPr>
        <p:spPr>
          <a:xfrm>
            <a:off x="9484242" y="6488668"/>
            <a:ext cx="2707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(2017) </a:t>
            </a:r>
            <a:r>
              <a:rPr lang="en-US" i="1" dirty="0"/>
              <a:t>JAMES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C5678-E5FD-4C4E-98B0-C48719C5FA09}"/>
              </a:ext>
            </a:extLst>
          </p:cNvPr>
          <p:cNvSpPr txBox="1"/>
          <p:nvPr/>
        </p:nvSpPr>
        <p:spPr>
          <a:xfrm>
            <a:off x="0" y="6488668"/>
            <a:ext cx="413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(2017) </a:t>
            </a:r>
            <a:r>
              <a:rPr lang="en-US" i="1" dirty="0"/>
              <a:t>Nature Climate Change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7DA35-D2FC-B745-97C2-A48394B37C2B}"/>
              </a:ext>
            </a:extLst>
          </p:cNvPr>
          <p:cNvSpPr txBox="1"/>
          <p:nvPr/>
        </p:nvSpPr>
        <p:spPr>
          <a:xfrm>
            <a:off x="1336029" y="1653594"/>
            <a:ext cx="440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11893"/>
                </a:solidFill>
              </a:rPr>
              <a:t>Acclimation increase future C storage by ~6%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31473B-A354-F543-A9AE-A2F684F7C008}"/>
              </a:ext>
            </a:extLst>
          </p:cNvPr>
          <p:cNvSpPr txBox="1"/>
          <p:nvPr/>
        </p:nvSpPr>
        <p:spPr>
          <a:xfrm>
            <a:off x="6357111" y="1653594"/>
            <a:ext cx="449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11893"/>
                </a:solidFill>
              </a:rPr>
              <a:t>Acclimation alters future temperature by &gt;1°C</a:t>
            </a:r>
          </a:p>
        </p:txBody>
      </p:sp>
    </p:spTree>
    <p:extLst>
      <p:ext uri="{BB962C8B-B14F-4D97-AF65-F5344CB8AC3E}">
        <p14:creationId xmlns:p14="http://schemas.microsoft.com/office/powerpoint/2010/main" val="2456402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FC7D-571A-634C-830D-66C5FD1C2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Unfortunately,</a:t>
            </a:r>
            <a:br>
              <a:rPr lang="en-US" dirty="0"/>
            </a:br>
            <a:r>
              <a:rPr lang="en-US" dirty="0">
                <a:solidFill>
                  <a:srgbClr val="011893"/>
                </a:solidFill>
              </a:rPr>
              <a:t>no theoretical model for photosynthetic acclimation exists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2CA9-2516-1F4B-AFD5-DFA661CF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42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7689-7842-7641-9458-6647C2D2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theory results in…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41E989-8C69-5345-AA7C-C1A7FCE0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9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7689-7842-7641-9458-6647C2D2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theory results in…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DFAB-023B-044C-8635-933DFB2CE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Unreliable future predictions (overparameterization, tuning)</a:t>
            </a:r>
          </a:p>
          <a:p>
            <a:pPr lvl="1"/>
            <a:r>
              <a:rPr lang="en-US" dirty="0">
                <a:solidFill>
                  <a:srgbClr val="011893"/>
                </a:solidFill>
              </a:rPr>
              <a:t>Reliance on statistical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8664F-15CC-AA4A-B0E2-B2BD9DC1335E}"/>
              </a:ext>
            </a:extLst>
          </p:cNvPr>
          <p:cNvSpPr txBox="1"/>
          <p:nvPr/>
        </p:nvSpPr>
        <p:spPr>
          <a:xfrm>
            <a:off x="0" y="6488668"/>
            <a:ext cx="298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Kattge</a:t>
            </a:r>
            <a:r>
              <a:rPr lang="en-US" dirty="0"/>
              <a:t> and Knorr (2007) </a:t>
            </a:r>
            <a:r>
              <a:rPr lang="en-US" i="1" dirty="0"/>
              <a:t>PC&amp;E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99290-F26F-2C44-A943-EF3627D2C46B}"/>
              </a:ext>
            </a:extLst>
          </p:cNvPr>
          <p:cNvSpPr txBox="1"/>
          <p:nvPr/>
        </p:nvSpPr>
        <p:spPr>
          <a:xfrm>
            <a:off x="9516140" y="6488668"/>
            <a:ext cx="267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(2017) </a:t>
            </a:r>
            <a:r>
              <a:rPr lang="en-US" i="1" dirty="0"/>
              <a:t>JAMES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D9EA17-AABD-8649-B0B9-58859FDCDE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28" r="49685" b="49252"/>
          <a:stretch/>
        </p:blipFill>
        <p:spPr>
          <a:xfrm>
            <a:off x="6226442" y="2532671"/>
            <a:ext cx="5832143" cy="3779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E45BE5-2658-7E48-8EFD-DF92A09E1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68" y="2814431"/>
            <a:ext cx="3702252" cy="33625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67ADE2-9D5E-2D4B-ABBD-878302365D94}"/>
              </a:ext>
            </a:extLst>
          </p:cNvPr>
          <p:cNvSpPr txBox="1"/>
          <p:nvPr/>
        </p:nvSpPr>
        <p:spPr>
          <a:xfrm rot="16200000">
            <a:off x="359688" y="4063839"/>
            <a:ext cx="24232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Physiological parameter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3B8458-EB92-4942-832B-88247BC90F0A}"/>
              </a:ext>
            </a:extLst>
          </p:cNvPr>
          <p:cNvSpPr txBox="1"/>
          <p:nvPr/>
        </p:nvSpPr>
        <p:spPr>
          <a:xfrm>
            <a:off x="2369530" y="5869245"/>
            <a:ext cx="24897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Environmental condition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54205F-1075-7A44-8DD4-9E2B45049AEB}"/>
              </a:ext>
            </a:extLst>
          </p:cNvPr>
          <p:cNvSpPr/>
          <p:nvPr/>
        </p:nvSpPr>
        <p:spPr>
          <a:xfrm>
            <a:off x="2304468" y="3036859"/>
            <a:ext cx="2554846" cy="55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F2C558-C5AD-514C-8C76-DE8AA778B36C}"/>
              </a:ext>
            </a:extLst>
          </p:cNvPr>
          <p:cNvSpPr/>
          <p:nvPr/>
        </p:nvSpPr>
        <p:spPr>
          <a:xfrm>
            <a:off x="3128331" y="3345380"/>
            <a:ext cx="1585183" cy="55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CA409D-323B-6948-A5AB-887D3643AE55}"/>
              </a:ext>
            </a:extLst>
          </p:cNvPr>
          <p:cNvSpPr txBox="1"/>
          <p:nvPr/>
        </p:nvSpPr>
        <p:spPr>
          <a:xfrm>
            <a:off x="6810820" y="2976048"/>
            <a:ext cx="44471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Resulting change in simulated photosynthesis</a:t>
            </a:r>
          </a:p>
        </p:txBody>
      </p:sp>
    </p:spTree>
    <p:extLst>
      <p:ext uri="{BB962C8B-B14F-4D97-AF65-F5344CB8AC3E}">
        <p14:creationId xmlns:p14="http://schemas.microsoft.com/office/powerpoint/2010/main" val="2307214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7689-7842-7641-9458-6647C2D2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theory results in…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DFAB-023B-044C-8635-933DFB2CE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Inability to test mechanisms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64E43-5E77-EA4A-B700-878FA5F885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28" r="49685" b="49252"/>
          <a:stretch/>
        </p:blipFill>
        <p:spPr>
          <a:xfrm>
            <a:off x="6226442" y="2532671"/>
            <a:ext cx="5832143" cy="3779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4D93E5-3B7D-594B-824D-62633E8F4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68" y="2814431"/>
            <a:ext cx="3702252" cy="33625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23CE28-825B-D847-8808-8502222A4ECB}"/>
              </a:ext>
            </a:extLst>
          </p:cNvPr>
          <p:cNvSpPr txBox="1"/>
          <p:nvPr/>
        </p:nvSpPr>
        <p:spPr>
          <a:xfrm>
            <a:off x="0" y="6488668"/>
            <a:ext cx="298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Kattge</a:t>
            </a:r>
            <a:r>
              <a:rPr lang="en-US" dirty="0"/>
              <a:t> and Knorr (2007) </a:t>
            </a:r>
            <a:r>
              <a:rPr lang="en-US" i="1" dirty="0"/>
              <a:t>PC&amp;E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05CD8-5E92-D740-A6B7-8522DDAB0946}"/>
              </a:ext>
            </a:extLst>
          </p:cNvPr>
          <p:cNvSpPr txBox="1"/>
          <p:nvPr/>
        </p:nvSpPr>
        <p:spPr>
          <a:xfrm>
            <a:off x="9537405" y="6488668"/>
            <a:ext cx="265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(2017) </a:t>
            </a:r>
            <a:r>
              <a:rPr lang="en-US" i="1" dirty="0"/>
              <a:t>JAMES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C1289-360F-DC43-B90A-1A02F38D4666}"/>
              </a:ext>
            </a:extLst>
          </p:cNvPr>
          <p:cNvSpPr txBox="1"/>
          <p:nvPr/>
        </p:nvSpPr>
        <p:spPr>
          <a:xfrm rot="16200000">
            <a:off x="359688" y="4063839"/>
            <a:ext cx="24232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Physiological parameter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90AB7F-5EF2-B946-9738-80719793BB48}"/>
              </a:ext>
            </a:extLst>
          </p:cNvPr>
          <p:cNvSpPr txBox="1"/>
          <p:nvPr/>
        </p:nvSpPr>
        <p:spPr>
          <a:xfrm>
            <a:off x="2369530" y="5869245"/>
            <a:ext cx="24897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Environmental condition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3A932-9B77-4D47-81A4-6DC7EBA96BE2}"/>
              </a:ext>
            </a:extLst>
          </p:cNvPr>
          <p:cNvSpPr txBox="1"/>
          <p:nvPr/>
        </p:nvSpPr>
        <p:spPr>
          <a:xfrm>
            <a:off x="6810820" y="2976048"/>
            <a:ext cx="44471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Resulting change in simulated photosynthesis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F478AF-4884-8541-A7A6-59C1DBB91311}"/>
              </a:ext>
            </a:extLst>
          </p:cNvPr>
          <p:cNvSpPr/>
          <p:nvPr/>
        </p:nvSpPr>
        <p:spPr>
          <a:xfrm>
            <a:off x="2304468" y="3036859"/>
            <a:ext cx="2554846" cy="55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0F9873-F7EF-8444-8A24-E3DBBE5BA746}"/>
              </a:ext>
            </a:extLst>
          </p:cNvPr>
          <p:cNvSpPr/>
          <p:nvPr/>
        </p:nvSpPr>
        <p:spPr>
          <a:xfrm>
            <a:off x="3128331" y="3345380"/>
            <a:ext cx="1585183" cy="55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67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7689-7842-7641-9458-6647C2D2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theory results in…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DFAB-023B-044C-8635-933DFB2CE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Inability to test mechanisms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64E43-5E77-EA4A-B700-878FA5F885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28" r="49685" b="49252"/>
          <a:stretch/>
        </p:blipFill>
        <p:spPr>
          <a:xfrm>
            <a:off x="6226442" y="2532671"/>
            <a:ext cx="5832143" cy="3779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4D93E5-3B7D-594B-824D-62633E8F4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68" y="2814431"/>
            <a:ext cx="3702252" cy="33625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705CD8-5E92-D740-A6B7-8522DDAB0946}"/>
              </a:ext>
            </a:extLst>
          </p:cNvPr>
          <p:cNvSpPr txBox="1"/>
          <p:nvPr/>
        </p:nvSpPr>
        <p:spPr>
          <a:xfrm>
            <a:off x="7423259" y="6492875"/>
            <a:ext cx="4768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Kyker-Snowman et al. (2022)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C1289-360F-DC43-B90A-1A02F38D4666}"/>
              </a:ext>
            </a:extLst>
          </p:cNvPr>
          <p:cNvSpPr txBox="1"/>
          <p:nvPr/>
        </p:nvSpPr>
        <p:spPr>
          <a:xfrm rot="16200000">
            <a:off x="359688" y="4063839"/>
            <a:ext cx="24232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Physiological parameter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90AB7F-5EF2-B946-9738-80719793BB48}"/>
              </a:ext>
            </a:extLst>
          </p:cNvPr>
          <p:cNvSpPr txBox="1"/>
          <p:nvPr/>
        </p:nvSpPr>
        <p:spPr>
          <a:xfrm>
            <a:off x="2369530" y="5869245"/>
            <a:ext cx="24897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Environmental condition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3A932-9B77-4D47-81A4-6DC7EBA96BE2}"/>
              </a:ext>
            </a:extLst>
          </p:cNvPr>
          <p:cNvSpPr txBox="1"/>
          <p:nvPr/>
        </p:nvSpPr>
        <p:spPr>
          <a:xfrm>
            <a:off x="6810820" y="2976048"/>
            <a:ext cx="44471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Resulting change in simulated photosynthesis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F478AF-4884-8541-A7A6-59C1DBB91311}"/>
              </a:ext>
            </a:extLst>
          </p:cNvPr>
          <p:cNvSpPr/>
          <p:nvPr/>
        </p:nvSpPr>
        <p:spPr>
          <a:xfrm>
            <a:off x="2304468" y="3036859"/>
            <a:ext cx="2554846" cy="55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0F9873-F7EF-8444-8A24-E3DBBE5BA746}"/>
              </a:ext>
            </a:extLst>
          </p:cNvPr>
          <p:cNvSpPr/>
          <p:nvPr/>
        </p:nvSpPr>
        <p:spPr>
          <a:xfrm>
            <a:off x="3128331" y="3345380"/>
            <a:ext cx="1585183" cy="55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ACB77-DDA9-2144-A455-3F854B477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95350"/>
            <a:ext cx="9144000" cy="50673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DC9785-C8FF-8730-E5C2-30E8B1C4C471}"/>
              </a:ext>
            </a:extLst>
          </p:cNvPr>
          <p:cNvSpPr/>
          <p:nvPr/>
        </p:nvSpPr>
        <p:spPr>
          <a:xfrm>
            <a:off x="1756000" y="3900807"/>
            <a:ext cx="3103314" cy="303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24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938B-F270-6149-BEB8-EF3C1BDA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385" y="851305"/>
            <a:ext cx="10515600" cy="3179929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So, we developed a mechanistic model of photosynthetic acclimation 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Based on </a:t>
            </a:r>
            <a:r>
              <a:rPr lang="en-US" sz="4800" b="1" dirty="0">
                <a:solidFill>
                  <a:srgbClr val="011893"/>
                </a:solidFill>
              </a:rPr>
              <a:t>optimization</a:t>
            </a:r>
            <a:r>
              <a:rPr lang="en-US" sz="4800" dirty="0"/>
              <a:t> and the </a:t>
            </a:r>
            <a:r>
              <a:rPr lang="en-US" sz="4800" b="1" dirty="0">
                <a:solidFill>
                  <a:srgbClr val="011893"/>
                </a:solidFill>
              </a:rPr>
              <a:t>first principles</a:t>
            </a:r>
            <a:r>
              <a:rPr lang="en-US" sz="4800" dirty="0">
                <a:solidFill>
                  <a:srgbClr val="011893"/>
                </a:solidFill>
              </a:rPr>
              <a:t> </a:t>
            </a:r>
            <a:r>
              <a:rPr lang="en-US" sz="4800" dirty="0"/>
              <a:t>of plant physiological theory</a:t>
            </a:r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6D83E8F-D068-D74D-A64F-CE2D3C3EC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09" y="4181211"/>
            <a:ext cx="6807476" cy="230745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A08AC9-0BBD-974A-A98E-4AEAA18B9D30}"/>
              </a:ext>
            </a:extLst>
          </p:cNvPr>
          <p:cNvSpPr txBox="1"/>
          <p:nvPr/>
        </p:nvSpPr>
        <p:spPr>
          <a:xfrm>
            <a:off x="8949061" y="6470210"/>
            <a:ext cx="324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Harrison et al. (2021) </a:t>
            </a:r>
            <a:r>
              <a:rPr lang="en-US" i="1" dirty="0"/>
              <a:t>New </a:t>
            </a:r>
            <a:r>
              <a:rPr lang="en-US" i="1" dirty="0" err="1"/>
              <a:t>Phyt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554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646F-B6FB-844C-B73F-86C9DE51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Optimization: Least cost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06170-9794-4545-8B2B-AB7F8197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solidFill>
                  <a:srgbClr val="011893"/>
                </a:solidFill>
              </a:rPr>
              <a:t>Optimally, plants will maintain fastest rate of photosynthesis at the lowest summed resource cost (water and nutrient use)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65BA7-F5D6-064C-953B-C92F6780C88A}"/>
              </a:ext>
            </a:extLst>
          </p:cNvPr>
          <p:cNvSpPr txBox="1"/>
          <p:nvPr/>
        </p:nvSpPr>
        <p:spPr>
          <a:xfrm>
            <a:off x="8729330" y="6488668"/>
            <a:ext cx="346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Wright et al. (2003) </a:t>
            </a:r>
            <a:r>
              <a:rPr lang="en-US" i="1" dirty="0"/>
              <a:t>Am Naturalist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16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B302-4FD0-5941-9CFF-67A4AB04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photosynthesis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26F48-AE80-394B-9AD4-10B089AE4C94}"/>
              </a:ext>
            </a:extLst>
          </p:cNvPr>
          <p:cNvSpPr txBox="1"/>
          <p:nvPr/>
        </p:nvSpPr>
        <p:spPr>
          <a:xfrm>
            <a:off x="467856" y="2429302"/>
            <a:ext cx="112562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Photosynthesis = </a:t>
            </a:r>
            <a:r>
              <a:rPr lang="en-US" sz="4400" i="1" dirty="0"/>
              <a:t>f</a:t>
            </a:r>
            <a:r>
              <a:rPr lang="en-US" sz="4400" dirty="0"/>
              <a:t>{stomatal conductance, </a:t>
            </a:r>
          </a:p>
          <a:p>
            <a:r>
              <a:rPr lang="en-US" sz="4400" dirty="0"/>
              <a:t>				     photosynthetic biochemistry}</a:t>
            </a:r>
          </a:p>
        </p:txBody>
      </p:sp>
    </p:spTree>
    <p:extLst>
      <p:ext uri="{BB962C8B-B14F-4D97-AF65-F5344CB8AC3E}">
        <p14:creationId xmlns:p14="http://schemas.microsoft.com/office/powerpoint/2010/main" val="39517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B302-4FD0-5941-9CFF-67A4AB04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photosynthesis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26F48-AE80-394B-9AD4-10B089AE4C94}"/>
              </a:ext>
            </a:extLst>
          </p:cNvPr>
          <p:cNvSpPr txBox="1"/>
          <p:nvPr/>
        </p:nvSpPr>
        <p:spPr>
          <a:xfrm>
            <a:off x="467856" y="2429302"/>
            <a:ext cx="112562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Photosynthesis = </a:t>
            </a:r>
            <a:r>
              <a:rPr lang="en-US" sz="4400" i="1" dirty="0"/>
              <a:t>f</a:t>
            </a:r>
            <a:r>
              <a:rPr lang="en-US" sz="4400" dirty="0"/>
              <a:t>{stomatal conductance, </a:t>
            </a:r>
          </a:p>
          <a:p>
            <a:r>
              <a:rPr lang="en-US" sz="4400" dirty="0"/>
              <a:t>				     photosynthetic biochemistry}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D5916-9327-164F-A769-DD7ACCA9CB58}"/>
              </a:ext>
            </a:extLst>
          </p:cNvPr>
          <p:cNvSpPr txBox="1"/>
          <p:nvPr/>
        </p:nvSpPr>
        <p:spPr>
          <a:xfrm>
            <a:off x="4981432" y="4899546"/>
            <a:ext cx="5204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Must predict optimal rates of both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29D990-7457-7948-BF4F-9CA6FD18A1BB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7574507" y="3875852"/>
            <a:ext cx="9112" cy="1023694"/>
          </a:xfrm>
          <a:prstGeom prst="straightConnector1">
            <a:avLst/>
          </a:prstGeom>
          <a:ln w="76200">
            <a:solidFill>
              <a:srgbClr val="0118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477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B302-4FD0-5941-9CFF-67A4AB04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photosynthesis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26F48-AE80-394B-9AD4-10B089AE4C94}"/>
              </a:ext>
            </a:extLst>
          </p:cNvPr>
          <p:cNvSpPr txBox="1"/>
          <p:nvPr/>
        </p:nvSpPr>
        <p:spPr>
          <a:xfrm>
            <a:off x="467856" y="2429302"/>
            <a:ext cx="112562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Photosynthesis = </a:t>
            </a:r>
            <a:r>
              <a:rPr lang="en-US" sz="4400" i="1" dirty="0"/>
              <a:t>f</a:t>
            </a:r>
            <a:r>
              <a:rPr lang="en-US" sz="4400" dirty="0"/>
              <a:t>{</a:t>
            </a:r>
            <a:r>
              <a:rPr lang="en-US" sz="4400" b="1" dirty="0">
                <a:solidFill>
                  <a:srgbClr val="011893"/>
                </a:solidFill>
              </a:rPr>
              <a:t>stomatal conductance</a:t>
            </a:r>
            <a:r>
              <a:rPr lang="en-US" sz="4400" dirty="0"/>
              <a:t>, </a:t>
            </a:r>
          </a:p>
          <a:p>
            <a:r>
              <a:rPr lang="en-US" sz="4400" dirty="0"/>
              <a:t>				     photosynthetic biochemistry}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4375F-2ECA-8146-978F-2F5F16D62528}"/>
              </a:ext>
            </a:extLst>
          </p:cNvPr>
          <p:cNvSpPr txBox="1"/>
          <p:nvPr/>
        </p:nvSpPr>
        <p:spPr>
          <a:xfrm>
            <a:off x="4827181" y="6211669"/>
            <a:ext cx="7364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Prentice et al. (2014)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Wang et al. (2017) </a:t>
            </a:r>
            <a:r>
              <a:rPr lang="en-US" i="1" dirty="0"/>
              <a:t>Nature Plants</a:t>
            </a:r>
            <a:r>
              <a:rPr lang="en-US" dirty="0"/>
              <a:t>; 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58D38-2D2D-B74C-942F-29C2FE73E67B}"/>
              </a:ext>
            </a:extLst>
          </p:cNvPr>
          <p:cNvSpPr txBox="1"/>
          <p:nvPr/>
        </p:nvSpPr>
        <p:spPr>
          <a:xfrm>
            <a:off x="1830504" y="5052944"/>
            <a:ext cx="8530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[TALK TO ME LATER ABOUT THIS IF YOU ARE INTERESTED]</a:t>
            </a:r>
          </a:p>
        </p:txBody>
      </p:sp>
    </p:spTree>
    <p:extLst>
      <p:ext uri="{BB962C8B-B14F-4D97-AF65-F5344CB8AC3E}">
        <p14:creationId xmlns:p14="http://schemas.microsoft.com/office/powerpoint/2010/main" val="460577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B302-4FD0-5941-9CFF-67A4AB04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photosynthesis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26F48-AE80-394B-9AD4-10B089AE4C94}"/>
              </a:ext>
            </a:extLst>
          </p:cNvPr>
          <p:cNvSpPr txBox="1"/>
          <p:nvPr/>
        </p:nvSpPr>
        <p:spPr>
          <a:xfrm>
            <a:off x="467856" y="2429302"/>
            <a:ext cx="1140273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Photosynthesis = </a:t>
            </a:r>
            <a:r>
              <a:rPr lang="en-US" sz="4400" i="1" dirty="0"/>
              <a:t>f</a:t>
            </a:r>
            <a:r>
              <a:rPr lang="en-US" sz="4400" dirty="0"/>
              <a:t>{stomatal conductance, </a:t>
            </a:r>
          </a:p>
          <a:p>
            <a:r>
              <a:rPr lang="en-US" sz="4400" dirty="0">
                <a:solidFill>
                  <a:srgbClr val="009051"/>
                </a:solidFill>
              </a:rPr>
              <a:t>				     </a:t>
            </a:r>
            <a:r>
              <a:rPr lang="en-US" sz="4400" b="1" dirty="0">
                <a:solidFill>
                  <a:srgbClr val="011893"/>
                </a:solidFill>
              </a:rPr>
              <a:t>photosynthetic biochemistry</a:t>
            </a:r>
            <a:r>
              <a:rPr lang="en-US" sz="4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5328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4D7D-296E-504A-9E08-6C58B1D8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Biochemistry optimization</a:t>
            </a:r>
            <a:endParaRPr lang="en-US" dirty="0">
              <a:solidFill>
                <a:srgbClr val="01189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31929-7092-0D44-A5DD-0B3654A915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6171" y="2441750"/>
            <a:ext cx="4194738" cy="3750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85B2DB-D564-9C45-9909-9712E8154E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073668"/>
            <a:ext cx="1699146" cy="1699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F37B2-0740-B84B-8E1B-83A175DB99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2536" y="2060020"/>
            <a:ext cx="1712794" cy="17127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910AF9-10A3-9749-BE99-6535A44D5CE2}"/>
              </a:ext>
            </a:extLst>
          </p:cNvPr>
          <p:cNvSpPr txBox="1"/>
          <p:nvPr/>
        </p:nvSpPr>
        <p:spPr>
          <a:xfrm>
            <a:off x="7294326" y="2441750"/>
            <a:ext cx="37467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11893"/>
                </a:solidFill>
              </a:rPr>
              <a:t>Plant biochemistry setup will aim for equal limitation by all factors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61E9D-5D9F-E246-8801-5B9ADCECEB25}"/>
              </a:ext>
            </a:extLst>
          </p:cNvPr>
          <p:cNvSpPr txBox="1"/>
          <p:nvPr/>
        </p:nvSpPr>
        <p:spPr>
          <a:xfrm>
            <a:off x="2690191" y="6312385"/>
            <a:ext cx="6021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[TALK TO ME LATER ABOUT THE MATHS]</a:t>
            </a:r>
          </a:p>
        </p:txBody>
      </p:sp>
    </p:spTree>
    <p:extLst>
      <p:ext uri="{BB962C8B-B14F-4D97-AF65-F5344CB8AC3E}">
        <p14:creationId xmlns:p14="http://schemas.microsoft.com/office/powerpoint/2010/main" val="1551383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5269-8B2C-B845-B4E6-10EDE8B61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Biochemistry trait</a:t>
            </a:r>
            <a:br>
              <a:rPr lang="en-US" dirty="0"/>
            </a:br>
            <a:r>
              <a:rPr lang="en-US" dirty="0"/>
              <a:t>The maximum rate of Rubisco carboxylation (</a:t>
            </a:r>
            <a:r>
              <a:rPr lang="en-US" i="1" dirty="0" err="1">
                <a:solidFill>
                  <a:srgbClr val="011893"/>
                </a:solidFill>
              </a:rPr>
              <a:t>V</a:t>
            </a:r>
            <a:r>
              <a:rPr lang="en-US" baseline="-25000" dirty="0" err="1">
                <a:solidFill>
                  <a:srgbClr val="011893"/>
                </a:solidFill>
              </a:rPr>
              <a:t>cmax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302AC-BCAE-5743-98C7-B877F4D1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767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285EF-B54B-EC47-979F-5BC743D49492}"/>
              </a:ext>
            </a:extLst>
          </p:cNvPr>
          <p:cNvSpPr txBox="1"/>
          <p:nvPr/>
        </p:nvSpPr>
        <p:spPr>
          <a:xfrm>
            <a:off x="7942997" y="2129051"/>
            <a:ext cx="37531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3600" baseline="-25000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cmax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increases with light because of greater electron transport</a:t>
            </a:r>
            <a:endParaRPr lang="en-US" sz="3600" dirty="0">
              <a:solidFill>
                <a:srgbClr val="01189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36AD6-3EA3-8A4F-A6B5-745C8B4C2B92}"/>
              </a:ext>
            </a:extLst>
          </p:cNvPr>
          <p:cNvSpPr txBox="1"/>
          <p:nvPr/>
        </p:nvSpPr>
        <p:spPr>
          <a:xfrm>
            <a:off x="8038214" y="6211669"/>
            <a:ext cx="4153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A7696-BB68-0144-BB52-D3C03FD0676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99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285EF-B54B-EC47-979F-5BC743D49492}"/>
              </a:ext>
            </a:extLst>
          </p:cNvPr>
          <p:cNvSpPr txBox="1"/>
          <p:nvPr/>
        </p:nvSpPr>
        <p:spPr>
          <a:xfrm>
            <a:off x="7942997" y="2129051"/>
            <a:ext cx="37531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3600" baseline="-25000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cmax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increases with temperature because of greater electron transport and photorespiration</a:t>
            </a:r>
            <a:endParaRPr lang="en-US" sz="3600" dirty="0">
              <a:solidFill>
                <a:srgbClr val="01189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83761-BAA1-0243-8062-791C68C9458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C1A2CD-9836-CBEC-73F7-243E6BAF4C85}"/>
              </a:ext>
            </a:extLst>
          </p:cNvPr>
          <p:cNvSpPr txBox="1"/>
          <p:nvPr/>
        </p:nvSpPr>
        <p:spPr>
          <a:xfrm>
            <a:off x="8038214" y="6211669"/>
            <a:ext cx="4153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854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285EF-B54B-EC47-979F-5BC743D49492}"/>
              </a:ext>
            </a:extLst>
          </p:cNvPr>
          <p:cNvSpPr txBox="1"/>
          <p:nvPr/>
        </p:nvSpPr>
        <p:spPr>
          <a:xfrm>
            <a:off x="7942997" y="2129051"/>
            <a:ext cx="3753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3600" baseline="-25000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cmax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decreases with CO</a:t>
            </a:r>
            <a:r>
              <a:rPr lang="en-US" sz="3600" baseline="-250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because of greater CO</a:t>
            </a:r>
            <a:r>
              <a:rPr lang="en-US" sz="3600" baseline="-250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the leaf and less photorespiration</a:t>
            </a:r>
            <a:endParaRPr lang="en-US" sz="3600" baseline="-25000" dirty="0">
              <a:solidFill>
                <a:srgbClr val="01189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CD000D-7129-C04B-9A80-405EA919037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4207"/>
            <a:ext cx="6858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7B9F19-1720-36DE-1A1F-DD09A7B43964}"/>
              </a:ext>
            </a:extLst>
          </p:cNvPr>
          <p:cNvSpPr txBox="1"/>
          <p:nvPr/>
        </p:nvSpPr>
        <p:spPr>
          <a:xfrm>
            <a:off x="8038214" y="6211669"/>
            <a:ext cx="4153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33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285EF-B54B-EC47-979F-5BC743D49492}"/>
              </a:ext>
            </a:extLst>
          </p:cNvPr>
          <p:cNvSpPr txBox="1"/>
          <p:nvPr/>
        </p:nvSpPr>
        <p:spPr>
          <a:xfrm>
            <a:off x="7942997" y="2129051"/>
            <a:ext cx="3753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3600" baseline="-25000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cmax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decreases with soil N limitation because Rubisco requires a lot of N</a:t>
            </a:r>
            <a:endParaRPr lang="en-US" sz="3600" dirty="0">
              <a:solidFill>
                <a:srgbClr val="01189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3DA74-592A-834D-B8D0-3CAE888456F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B63CDA-7128-A2B1-4935-A11FDA231B34}"/>
              </a:ext>
            </a:extLst>
          </p:cNvPr>
          <p:cNvSpPr txBox="1"/>
          <p:nvPr/>
        </p:nvSpPr>
        <p:spPr>
          <a:xfrm>
            <a:off x="8038214" y="6211669"/>
            <a:ext cx="4153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9048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11306" y="579639"/>
            <a:ext cx="10515600" cy="8720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 can predict optimal traits in different environments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FF4907-D727-8F41-B448-D51133943C0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3398" y="2129421"/>
            <a:ext cx="8591415" cy="4218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975595-53A6-5645-AD53-242B868ED6E0}"/>
              </a:ext>
            </a:extLst>
          </p:cNvPr>
          <p:cNvSpPr txBox="1"/>
          <p:nvPr/>
        </p:nvSpPr>
        <p:spPr>
          <a:xfrm>
            <a:off x="8654902" y="6488668"/>
            <a:ext cx="3537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/>
              <a:t>Ecology Letters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11B8A2-771B-DE48-B3AA-074713D6ED9A}"/>
              </a:ext>
            </a:extLst>
          </p:cNvPr>
          <p:cNvSpPr/>
          <p:nvPr/>
        </p:nvSpPr>
        <p:spPr>
          <a:xfrm>
            <a:off x="9742714" y="4724400"/>
            <a:ext cx="97972" cy="130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37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89D4-A23A-86D5-6850-19DFE2B5F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even predict optimal trait strategies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8C9ACA-DEF6-4A63-996E-8EF33C32F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540" y="1560622"/>
            <a:ext cx="5116919" cy="51169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FD1306-52E8-292E-0CFF-F8931F85FF4C}"/>
              </a:ext>
            </a:extLst>
          </p:cNvPr>
          <p:cNvSpPr txBox="1"/>
          <p:nvPr/>
        </p:nvSpPr>
        <p:spPr>
          <a:xfrm>
            <a:off x="10372719" y="6492875"/>
            <a:ext cx="181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(in review)</a:t>
            </a:r>
          </a:p>
        </p:txBody>
      </p:sp>
    </p:spTree>
    <p:extLst>
      <p:ext uri="{BB962C8B-B14F-4D97-AF65-F5344CB8AC3E}">
        <p14:creationId xmlns:p14="http://schemas.microsoft.com/office/powerpoint/2010/main" val="3936703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4B6B-C4A2-D646-BE50-AD37152B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great, but now what?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61B37-88D7-E44A-9041-6B3B577F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626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4B6B-C4A2-D646-BE50-AD37152B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use the theory as a null model to explore acclimation mechanisms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61B37-88D7-E44A-9041-6B3B577F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35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4B6B-C4A2-D646-BE50-AD37152B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Let’s tackle some big questions in plant ecophysiology!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61B37-88D7-E44A-9041-6B3B577F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53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7B66-13B8-0142-A4AD-B6F96B19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1509B-9FA1-574D-9391-21FDE78FF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Is photosynthesis </a:t>
            </a:r>
            <a:r>
              <a:rPr lang="en-US" sz="3600" dirty="0">
                <a:solidFill>
                  <a:srgbClr val="011893"/>
                </a:solidFill>
              </a:rPr>
              <a:t>optimized</a:t>
            </a:r>
            <a:r>
              <a:rPr lang="en-US" sz="3600" dirty="0"/>
              <a:t> to the environment?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How do plants acclimate to </a:t>
            </a:r>
            <a:r>
              <a:rPr lang="en-US" sz="3600" dirty="0">
                <a:solidFill>
                  <a:srgbClr val="011893"/>
                </a:solidFill>
              </a:rPr>
              <a:t>soil nitrogen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What does acclimation mean for </a:t>
            </a:r>
            <a:r>
              <a:rPr lang="en-US" sz="3600" dirty="0">
                <a:solidFill>
                  <a:srgbClr val="011893"/>
                </a:solidFill>
              </a:rPr>
              <a:t>future</a:t>
            </a:r>
            <a:r>
              <a:rPr lang="en-US" sz="3600" dirty="0"/>
              <a:t> terrestrial biogeochemical cycling?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When is </a:t>
            </a:r>
            <a:r>
              <a:rPr lang="en-US" sz="3600" dirty="0">
                <a:solidFill>
                  <a:srgbClr val="011893"/>
                </a:solidFill>
              </a:rPr>
              <a:t>C</a:t>
            </a:r>
            <a:r>
              <a:rPr lang="en-US" sz="3600" baseline="-25000" dirty="0">
                <a:solidFill>
                  <a:srgbClr val="011893"/>
                </a:solidFill>
              </a:rPr>
              <a:t>4</a:t>
            </a:r>
            <a:r>
              <a:rPr lang="en-US" sz="3600" dirty="0">
                <a:solidFill>
                  <a:srgbClr val="011893"/>
                </a:solidFill>
              </a:rPr>
              <a:t> photosynthesis </a:t>
            </a:r>
            <a:r>
              <a:rPr lang="en-US" sz="3600" dirty="0"/>
              <a:t>an advantage over C</a:t>
            </a:r>
            <a:r>
              <a:rPr lang="en-US" sz="3600" baseline="-25000" dirty="0"/>
              <a:t>3</a:t>
            </a:r>
            <a:r>
              <a:rPr lang="en-US" sz="3600" dirty="0"/>
              <a:t> photosynthesis?</a:t>
            </a:r>
          </a:p>
        </p:txBody>
      </p:sp>
    </p:spTree>
    <p:extLst>
      <p:ext uri="{BB962C8B-B14F-4D97-AF65-F5344CB8AC3E}">
        <p14:creationId xmlns:p14="http://schemas.microsoft.com/office/powerpoint/2010/main" val="4039408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FF1E-050D-2754-F28F-68E69B48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11E9-2D8C-2EF0-1046-31EB88AD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C3F6-01AB-8574-07AA-6E39A6A6A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strike="sngStrike" dirty="0">
                <a:solidFill>
                  <a:schemeClr val="bg1">
                    <a:lumMod val="85000"/>
                  </a:schemeClr>
                </a:solidFill>
              </a:rPr>
              <a:t>Is photosynthesis optimized to the environment?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strike="sngStrike" dirty="0">
                <a:solidFill>
                  <a:schemeClr val="bg1">
                    <a:lumMod val="85000"/>
                  </a:schemeClr>
                </a:solidFill>
              </a:rPr>
              <a:t>How do plants acclimate to soil nitrogen?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What does acclimation mean for </a:t>
            </a:r>
            <a:r>
              <a:rPr lang="en-US" sz="3600" dirty="0">
                <a:solidFill>
                  <a:srgbClr val="011893"/>
                </a:solidFill>
              </a:rPr>
              <a:t>future</a:t>
            </a:r>
            <a:r>
              <a:rPr lang="en-US" sz="3600" dirty="0"/>
              <a:t> terrestrial biogeochemical cycling? </a:t>
            </a:r>
            <a:r>
              <a:rPr lang="en-US" sz="3600" dirty="0">
                <a:solidFill>
                  <a:srgbClr val="FF0000"/>
                </a:solidFill>
              </a:rPr>
              <a:t>A CO</a:t>
            </a:r>
            <a:r>
              <a:rPr lang="en-US" sz="3600" baseline="-25000" dirty="0">
                <a:solidFill>
                  <a:srgbClr val="FF0000"/>
                </a:solidFill>
              </a:rPr>
              <a:t>2</a:t>
            </a:r>
            <a:r>
              <a:rPr lang="en-US" sz="3600" dirty="0">
                <a:solidFill>
                  <a:srgbClr val="FF0000"/>
                </a:solidFill>
              </a:rPr>
              <a:t> story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strike="sngStrike" dirty="0">
                <a:solidFill>
                  <a:schemeClr val="bg1">
                    <a:lumMod val="85000"/>
                  </a:schemeClr>
                </a:solidFill>
              </a:rPr>
              <a:t>When is C</a:t>
            </a:r>
            <a:r>
              <a:rPr lang="en-US" sz="3600" strike="sngStrike" baseline="-25000" dirty="0">
                <a:solidFill>
                  <a:schemeClr val="bg1">
                    <a:lumMod val="85000"/>
                  </a:schemeClr>
                </a:solidFill>
              </a:rPr>
              <a:t>4</a:t>
            </a:r>
            <a:r>
              <a:rPr lang="en-US" sz="3600" strike="sngStrike" dirty="0">
                <a:solidFill>
                  <a:schemeClr val="bg1">
                    <a:lumMod val="85000"/>
                  </a:schemeClr>
                </a:solidFill>
              </a:rPr>
              <a:t> photosynthesis an advantage over C</a:t>
            </a:r>
            <a:r>
              <a:rPr lang="en-US" sz="3600" strike="sngStrike" baseline="-25000" dirty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en-US" sz="3600" strike="sngStrike" dirty="0">
                <a:solidFill>
                  <a:schemeClr val="bg1">
                    <a:lumMod val="85000"/>
                  </a:schemeClr>
                </a:solidFill>
              </a:rPr>
              <a:t> photosynthesis?</a:t>
            </a:r>
          </a:p>
        </p:txBody>
      </p:sp>
    </p:spTree>
    <p:extLst>
      <p:ext uri="{BB962C8B-B14F-4D97-AF65-F5344CB8AC3E}">
        <p14:creationId xmlns:p14="http://schemas.microsoft.com/office/powerpoint/2010/main" val="1853221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D1E7-F62C-6C43-8B6B-B5087EA36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future responses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BB174-CC62-484B-B3B3-DB4FB8967223}"/>
              </a:ext>
            </a:extLst>
          </p:cNvPr>
          <p:cNvSpPr txBox="1"/>
          <p:nvPr/>
        </p:nvSpPr>
        <p:spPr>
          <a:xfrm>
            <a:off x="9016409" y="6488668"/>
            <a:ext cx="317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E4B7E-6BDF-E44A-B2B3-A46348DECCF1}"/>
              </a:ext>
            </a:extLst>
          </p:cNvPr>
          <p:cNvSpPr txBox="1"/>
          <p:nvPr/>
        </p:nvSpPr>
        <p:spPr>
          <a:xfrm>
            <a:off x="7942997" y="2129051"/>
            <a:ext cx="3753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3600" baseline="-25000" dirty="0" err="1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cmax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decreases with CO</a:t>
            </a:r>
            <a:r>
              <a:rPr lang="en-US" sz="3600" baseline="-250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because of greater CO</a:t>
            </a:r>
            <a:r>
              <a:rPr lang="en-US" sz="3600" baseline="-250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the leaf and less photorespiration</a:t>
            </a:r>
            <a:endParaRPr lang="en-US" sz="3600" baseline="-25000" dirty="0">
              <a:solidFill>
                <a:srgbClr val="01189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A2D19-ACB5-6140-870E-3399C68B0E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7666" y="1754032"/>
            <a:ext cx="4734636" cy="473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21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E1BF8F3-9ABE-D544-850D-ACC133A6497C}"/>
              </a:ext>
            </a:extLst>
          </p:cNvPr>
          <p:cNvSpPr txBox="1"/>
          <p:nvPr/>
        </p:nvSpPr>
        <p:spPr>
          <a:xfrm>
            <a:off x="7783033" y="6488668"/>
            <a:ext cx="440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and Keenan (2020)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F1C36-D57B-5F42-8C0F-4125D6C3D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67" y="887894"/>
            <a:ext cx="5022210" cy="51670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FA90AF-F2EA-D64F-85D6-0110B2807CD0}"/>
              </a:ext>
            </a:extLst>
          </p:cNvPr>
          <p:cNvSpPr/>
          <p:nvPr/>
        </p:nvSpPr>
        <p:spPr>
          <a:xfrm>
            <a:off x="1789043" y="1007165"/>
            <a:ext cx="3935896" cy="44527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52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CA64-1C59-1344-AFC7-BE3EF747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586" y="1610829"/>
            <a:ext cx="4621696" cy="1325563"/>
          </a:xfrm>
        </p:spPr>
        <p:txBody>
          <a:bodyPr>
            <a:normAutofit fontScale="90000"/>
          </a:bodyPr>
          <a:lstStyle/>
          <a:p>
            <a:r>
              <a:rPr lang="en-US" i="1" dirty="0" err="1"/>
              <a:t>V</a:t>
            </a:r>
            <a:r>
              <a:rPr lang="en-US" baseline="-25000" dirty="0" err="1"/>
              <a:t>cmax</a:t>
            </a:r>
            <a:r>
              <a:rPr lang="en-US" dirty="0"/>
              <a:t> changes with CO</a:t>
            </a:r>
            <a:r>
              <a:rPr lang="en-US" baseline="-25000" dirty="0"/>
              <a:t>2</a:t>
            </a:r>
            <a:r>
              <a:rPr lang="en-US" dirty="0"/>
              <a:t> in ways expected from optimization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FC865C-322C-4D4E-A40A-8E4592701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67" y="887894"/>
            <a:ext cx="5022210" cy="51670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8470E3-C315-9F4F-AC28-825F93DECC63}"/>
              </a:ext>
            </a:extLst>
          </p:cNvPr>
          <p:cNvSpPr txBox="1"/>
          <p:nvPr/>
        </p:nvSpPr>
        <p:spPr>
          <a:xfrm>
            <a:off x="6810586" y="3858930"/>
            <a:ext cx="49528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Boxes = data = -0.0063 Pa</a:t>
            </a:r>
            <a:r>
              <a:rPr lang="en-US" sz="2800" baseline="30000" dirty="0">
                <a:solidFill>
                  <a:srgbClr val="011893"/>
                </a:solidFill>
              </a:rPr>
              <a:t>-1</a:t>
            </a:r>
            <a:endParaRPr lang="en-US" sz="2800" dirty="0">
              <a:solidFill>
                <a:srgbClr val="011893"/>
              </a:solidFill>
            </a:endParaRPr>
          </a:p>
          <a:p>
            <a:r>
              <a:rPr lang="en-US" sz="2800" dirty="0">
                <a:solidFill>
                  <a:srgbClr val="011893"/>
                </a:solidFill>
              </a:rPr>
              <a:t>Circles = predicted = -0.0066 Pa</a:t>
            </a:r>
            <a:r>
              <a:rPr lang="en-US" sz="2800" baseline="30000" dirty="0">
                <a:solidFill>
                  <a:srgbClr val="011893"/>
                </a:solidFill>
              </a:rPr>
              <a:t>-1</a:t>
            </a:r>
            <a:endParaRPr lang="en-US" sz="2800" dirty="0">
              <a:solidFill>
                <a:srgbClr val="01189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0CB4B-14AA-2144-9976-6CD64B05E1DB}"/>
              </a:ext>
            </a:extLst>
          </p:cNvPr>
          <p:cNvSpPr txBox="1"/>
          <p:nvPr/>
        </p:nvSpPr>
        <p:spPr>
          <a:xfrm>
            <a:off x="7793664" y="6488668"/>
            <a:ext cx="439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and Keenan (2020)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71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types of soil fertilization&#10;&#10;Description automatically generated">
            <a:extLst>
              <a:ext uri="{FF2B5EF4-FFF2-40B4-BE49-F238E27FC236}">
                <a16:creationId xmlns:a16="http://schemas.microsoft.com/office/drawing/2014/main" id="{33816CBF-B17A-0740-99F5-65CD94321196}"/>
              </a:ext>
            </a:extLst>
          </p:cNvPr>
          <p:cNvPicPr/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136" y="1285255"/>
            <a:ext cx="4976950" cy="43840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9B1E95-8470-A841-B9F2-44014CFE66A5}"/>
              </a:ext>
            </a:extLst>
          </p:cNvPr>
          <p:cNvCxnSpPr>
            <a:cxnSpLocks/>
          </p:cNvCxnSpPr>
          <p:nvPr/>
        </p:nvCxnSpPr>
        <p:spPr>
          <a:xfrm>
            <a:off x="4859383" y="2194560"/>
            <a:ext cx="0" cy="74663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492FB3-4BA6-434C-9272-CA0A78F500A8}"/>
              </a:ext>
            </a:extLst>
          </p:cNvPr>
          <p:cNvCxnSpPr>
            <a:cxnSpLocks/>
          </p:cNvCxnSpPr>
          <p:nvPr/>
        </p:nvCxnSpPr>
        <p:spPr>
          <a:xfrm>
            <a:off x="2954383" y="2495006"/>
            <a:ext cx="0" cy="5747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A9E4078-55A3-D54E-8C38-06CE3CC7B76E}"/>
              </a:ext>
            </a:extLst>
          </p:cNvPr>
          <p:cNvSpPr txBox="1">
            <a:spLocks/>
          </p:cNvSpPr>
          <p:nvPr/>
        </p:nvSpPr>
        <p:spPr>
          <a:xfrm>
            <a:off x="6066002" y="864197"/>
            <a:ext cx="5154991" cy="314967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 further confirmed this universality of this response under 18 nitrogen by inoculation treatments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AD324C-E3F8-FB4C-82CF-B5312C319ABF}"/>
              </a:ext>
            </a:extLst>
          </p:cNvPr>
          <p:cNvSpPr txBox="1"/>
          <p:nvPr/>
        </p:nvSpPr>
        <p:spPr>
          <a:xfrm>
            <a:off x="6528391" y="6488668"/>
            <a:ext cx="5663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Perkowski</a:t>
            </a:r>
            <a:r>
              <a:rPr lang="en-US" dirty="0"/>
              <a:t>, </a:t>
            </a:r>
            <a:r>
              <a:rPr lang="en-US" dirty="0" err="1"/>
              <a:t>Ezekannagha</a:t>
            </a:r>
            <a:r>
              <a:rPr lang="en-US" dirty="0"/>
              <a:t>, and Smith (2025) </a:t>
            </a:r>
            <a:r>
              <a:rPr lang="en-US" i="1" dirty="0"/>
              <a:t>J </a:t>
            </a:r>
            <a:r>
              <a:rPr lang="en-US" i="1" dirty="0" err="1"/>
              <a:t>Exp</a:t>
            </a:r>
            <a:r>
              <a:rPr lang="en-US" i="1" dirty="0"/>
              <a:t> Botany</a:t>
            </a:r>
            <a:endParaRPr lang="en-US" dirty="0"/>
          </a:p>
        </p:txBody>
      </p:sp>
      <p:pic>
        <p:nvPicPr>
          <p:cNvPr id="12" name="Picture 11" descr="A diagram of different types of soil fertilization&#10;&#10;Description automatically generated">
            <a:extLst>
              <a:ext uri="{FF2B5EF4-FFF2-40B4-BE49-F238E27FC236}">
                <a16:creationId xmlns:a16="http://schemas.microsoft.com/office/drawing/2014/main" id="{036F630F-5637-7A42-BE43-91C65F086234}"/>
              </a:ext>
            </a:extLst>
          </p:cNvPr>
          <p:cNvPicPr/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1086" y="4271554"/>
            <a:ext cx="3317966" cy="1933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BAE0E0-3E09-504B-AC8C-EE439BEFF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552" y="3670665"/>
            <a:ext cx="1998617" cy="19986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DE7CE2C-9E54-2847-9701-441BCE293E4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7063" y="4833257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209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CA64-1C59-1344-AFC7-BE3EF747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generally suggests lower nitrogen demand under future conditions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6DCC28-E337-934B-AE30-E577F7D6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321" y="1875354"/>
            <a:ext cx="4921357" cy="4797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557BC4-5F1C-F04A-A12F-6BE7FE73C707}"/>
              </a:ext>
            </a:extLst>
          </p:cNvPr>
          <p:cNvSpPr txBox="1"/>
          <p:nvPr/>
        </p:nvSpPr>
        <p:spPr>
          <a:xfrm>
            <a:off x="7793665" y="6488668"/>
            <a:ext cx="439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and Keenan (2020)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118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4B6B-C4A2-D646-BE50-AD37152B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Let’s run a model out into the future!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D8048-DB0D-EC4D-AB09-F63C32866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65" y="4562475"/>
            <a:ext cx="68834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899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5F0D-6BE1-A043-8651-56030958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Photosynthesis increases with elevated CO</a:t>
            </a:r>
            <a:r>
              <a:rPr lang="en-US" baseline="-25000" dirty="0"/>
              <a:t>2</a:t>
            </a:r>
            <a:r>
              <a:rPr lang="en-US" dirty="0"/>
              <a:t> at lower leaf 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F6323-F64E-5147-8411-7A022320D5B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0110" y="1690688"/>
            <a:ext cx="4476196" cy="4476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3C6335-A3FC-514D-ACCA-D038729E0685}"/>
              </a:ext>
            </a:extLst>
          </p:cNvPr>
          <p:cNvSpPr txBox="1"/>
          <p:nvPr/>
        </p:nvSpPr>
        <p:spPr>
          <a:xfrm>
            <a:off x="8474149" y="6488668"/>
            <a:ext cx="371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(2024)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9932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5F0D-6BE1-A043-8651-56030958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N reduction is due to a reduction in photosynthetic capacity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31825-3447-CC46-A2A3-AEC997407A8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2344" y="1690688"/>
            <a:ext cx="4625052" cy="46250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C9541F-0A53-AB87-6DC4-E9152298914F}"/>
              </a:ext>
            </a:extLst>
          </p:cNvPr>
          <p:cNvSpPr txBox="1"/>
          <p:nvPr/>
        </p:nvSpPr>
        <p:spPr>
          <a:xfrm>
            <a:off x="8474149" y="6488668"/>
            <a:ext cx="371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(2024)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52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5F0D-6BE1-A043-8651-56030958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Plants build more leaves and fine roots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7BD6D-A738-EA4B-B4A7-E45452B7A1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4897" y="2233749"/>
            <a:ext cx="9742206" cy="3461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00BEB2-C99F-BFC4-5A74-0192918083D0}"/>
              </a:ext>
            </a:extLst>
          </p:cNvPr>
          <p:cNvSpPr txBox="1"/>
          <p:nvPr/>
        </p:nvSpPr>
        <p:spPr>
          <a:xfrm>
            <a:off x="8474149" y="6488668"/>
            <a:ext cx="371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(2024)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762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0DE3-F828-2443-B6EF-1FF37DDE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N savings increases long-term ecosystem carbon stocks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0C163-4D35-6E46-90AA-F681D8B63D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972491"/>
            <a:ext cx="7587264" cy="3644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943F66-C997-9D4B-B293-B47511D9D9E0}"/>
              </a:ext>
            </a:extLst>
          </p:cNvPr>
          <p:cNvSpPr txBox="1"/>
          <p:nvPr/>
        </p:nvSpPr>
        <p:spPr>
          <a:xfrm>
            <a:off x="8635834" y="2717074"/>
            <a:ext cx="35561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11893"/>
                </a:solidFill>
              </a:rPr>
              <a:t>50% increase in ecosystem carbon from CO</a:t>
            </a:r>
            <a:r>
              <a:rPr lang="en-US" sz="3200" baseline="-25000" dirty="0">
                <a:solidFill>
                  <a:srgbClr val="011893"/>
                </a:solidFill>
              </a:rPr>
              <a:t>2</a:t>
            </a:r>
            <a:r>
              <a:rPr lang="en-US" sz="3200" dirty="0">
                <a:solidFill>
                  <a:srgbClr val="011893"/>
                </a:solidFill>
              </a:rPr>
              <a:t> acclimation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95C4F-CDC9-2103-958C-D14B28D30095}"/>
              </a:ext>
            </a:extLst>
          </p:cNvPr>
          <p:cNvSpPr txBox="1"/>
          <p:nvPr/>
        </p:nvSpPr>
        <p:spPr>
          <a:xfrm>
            <a:off x="8474149" y="6488668"/>
            <a:ext cx="371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(2024)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302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C184-A202-8440-B91E-9B9F287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rethink nutrient limitation in models?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34427-790C-D746-BAF2-7760755EB6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2606723"/>
            <a:ext cx="6397463" cy="3411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BCA37C-780A-B845-90C4-215B49B916D9}"/>
              </a:ext>
            </a:extLst>
          </p:cNvPr>
          <p:cNvSpPr txBox="1"/>
          <p:nvPr/>
        </p:nvSpPr>
        <p:spPr>
          <a:xfrm>
            <a:off x="7383439" y="4462817"/>
            <a:ext cx="4263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“Nutrient limitation” simulations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BF078-A951-3B41-84E9-881603994C86}"/>
              </a:ext>
            </a:extLst>
          </p:cNvPr>
          <p:cNvSpPr txBox="1"/>
          <p:nvPr/>
        </p:nvSpPr>
        <p:spPr>
          <a:xfrm>
            <a:off x="6976355" y="3441509"/>
            <a:ext cx="3446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“No limitation”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334CB-8E57-7A4E-BB19-F79FD5AD52DF}"/>
              </a:ext>
            </a:extLst>
          </p:cNvPr>
          <p:cNvSpPr txBox="1"/>
          <p:nvPr/>
        </p:nvSpPr>
        <p:spPr>
          <a:xfrm>
            <a:off x="10144708" y="6488668"/>
            <a:ext cx="204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Weider et al. (2015)</a:t>
            </a:r>
          </a:p>
        </p:txBody>
      </p:sp>
    </p:spTree>
    <p:extLst>
      <p:ext uri="{BB962C8B-B14F-4D97-AF65-F5344CB8AC3E}">
        <p14:creationId xmlns:p14="http://schemas.microsoft.com/office/powerpoint/2010/main" val="37186170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4B6B-C4A2-D646-BE50-AD37152B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039" y="2271441"/>
            <a:ext cx="10515600" cy="2620599"/>
          </a:xfrm>
        </p:spPr>
        <p:txBody>
          <a:bodyPr>
            <a:noAutofit/>
          </a:bodyPr>
          <a:lstStyle/>
          <a:p>
            <a:r>
              <a:rPr lang="en-US" sz="5400" dirty="0"/>
              <a:t>What does acclimation mean for future terrestrial biogeochemical cycling?</a:t>
            </a:r>
            <a:endParaRPr 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1276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2831A-623E-573D-2301-656B7495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47BF3F-DED8-7377-7764-96C957612CAE}"/>
              </a:ext>
            </a:extLst>
          </p:cNvPr>
          <p:cNvSpPr txBox="1"/>
          <p:nvPr/>
        </p:nvSpPr>
        <p:spPr>
          <a:xfrm>
            <a:off x="592455" y="1305341"/>
            <a:ext cx="11167110" cy="42473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5400" dirty="0"/>
              <a:t>Photosynthetic acclimation to elevated CO</a:t>
            </a:r>
            <a:r>
              <a:rPr lang="en-US" sz="5400" baseline="-25000" dirty="0"/>
              <a:t>2</a:t>
            </a:r>
            <a:r>
              <a:rPr lang="en-US" sz="5400" dirty="0"/>
              <a:t> frees up nutrients that enhance ecosystem carbon uptake and storage beyond what is currently simulated in models</a:t>
            </a:r>
          </a:p>
        </p:txBody>
      </p:sp>
    </p:spTree>
    <p:extLst>
      <p:ext uri="{BB962C8B-B14F-4D97-AF65-F5344CB8AC3E}">
        <p14:creationId xmlns:p14="http://schemas.microsoft.com/office/powerpoint/2010/main" val="29052619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8818-9FDA-5343-9DE7-B0EB161A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4E05-B62A-DC47-6374-9EEB42D3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Looking forward</a:t>
            </a:r>
            <a:r>
              <a:rPr lang="en-US" dirty="0"/>
              <a:t>: coupling CO</a:t>
            </a:r>
            <a:r>
              <a:rPr lang="en-US" baseline="-25000" dirty="0"/>
              <a:t>2</a:t>
            </a:r>
            <a:r>
              <a:rPr lang="en-US" dirty="0"/>
              <a:t> responses of light and dark reactions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830CF-A0A8-1395-97A7-D89B6560B726}"/>
              </a:ext>
            </a:extLst>
          </p:cNvPr>
          <p:cNvSpPr txBox="1"/>
          <p:nvPr/>
        </p:nvSpPr>
        <p:spPr>
          <a:xfrm>
            <a:off x="8414795" y="6488668"/>
            <a:ext cx="3777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Garza, Johnson, and Smith (in prep)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B8153C-8EB4-969B-F57E-A291B4C25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68" y="2571922"/>
            <a:ext cx="8821705" cy="3085229"/>
          </a:xfrm>
          <a:prstGeom prst="rect">
            <a:avLst/>
          </a:prstGeom>
        </p:spPr>
      </p:pic>
      <p:pic>
        <p:nvPicPr>
          <p:cNvPr id="10" name="Picture 9" descr="LED-41L2 - Geneva Scientific">
            <a:extLst>
              <a:ext uri="{FF2B5EF4-FFF2-40B4-BE49-F238E27FC236}">
                <a16:creationId xmlns:a16="http://schemas.microsoft.com/office/drawing/2014/main" id="{CBF5B52D-F1B6-10FE-9826-12C8D6FE7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3" y="2571922"/>
            <a:ext cx="2926053" cy="292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384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0050-F544-4607-B8FA-BD688C12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4B1D-FDB6-3F2E-8960-9D074705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Looking forward</a:t>
            </a:r>
            <a:r>
              <a:rPr lang="en-US" dirty="0"/>
              <a:t>: a simple theory for understanding </a:t>
            </a:r>
            <a:r>
              <a:rPr lang="en-US" dirty="0">
                <a:solidFill>
                  <a:srgbClr val="011893"/>
                </a:solidFill>
              </a:rPr>
              <a:t>photosynthesis-phosphorus</a:t>
            </a:r>
            <a:r>
              <a:rPr lang="en-US" dirty="0"/>
              <a:t> relationships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C80FD-DCFD-0E5C-B87F-81F67D987B45}"/>
              </a:ext>
            </a:extLst>
          </p:cNvPr>
          <p:cNvSpPr txBox="1"/>
          <p:nvPr/>
        </p:nvSpPr>
        <p:spPr>
          <a:xfrm>
            <a:off x="7403996" y="6488668"/>
            <a:ext cx="478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(in prep); Kelley and Smith (in prep)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27F55-2F8B-CE20-4279-0719D6C944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585"/>
          <a:stretch>
            <a:fillRect/>
          </a:stretch>
        </p:blipFill>
        <p:spPr>
          <a:xfrm>
            <a:off x="838200" y="2048122"/>
            <a:ext cx="4293564" cy="4341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0496AA-2260-0A89-95AF-F7E240BA0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987" y="1862158"/>
            <a:ext cx="4788003" cy="2394002"/>
          </a:xfrm>
          <a:prstGeom prst="rect">
            <a:avLst/>
          </a:prstGeom>
        </p:spPr>
      </p:pic>
      <p:pic>
        <p:nvPicPr>
          <p:cNvPr id="3" name="Picture 2" descr="Kjeldahl Digestion System, KJD-T8E - Infitek">
            <a:extLst>
              <a:ext uri="{FF2B5EF4-FFF2-40B4-BE49-F238E27FC236}">
                <a16:creationId xmlns:a16="http://schemas.microsoft.com/office/drawing/2014/main" id="{3B1603E7-9F11-A46C-7BBB-7FC858D4C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543" y="4427630"/>
            <a:ext cx="1786890" cy="17868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E6EEE3-C50A-06EB-31CD-954910F41881}"/>
              </a:ext>
            </a:extLst>
          </p:cNvPr>
          <p:cNvSpPr txBox="1"/>
          <p:nvPr/>
        </p:nvSpPr>
        <p:spPr>
          <a:xfrm>
            <a:off x="8789670" y="5074920"/>
            <a:ext cx="3402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Fractionation into leaf P pools (metabolic, lipid, nucleic acid, inorganic, residual)</a:t>
            </a:r>
          </a:p>
        </p:txBody>
      </p:sp>
    </p:spTree>
    <p:extLst>
      <p:ext uri="{BB962C8B-B14F-4D97-AF65-F5344CB8AC3E}">
        <p14:creationId xmlns:p14="http://schemas.microsoft.com/office/powerpoint/2010/main" val="5642389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D55E-CA01-BD81-C87A-9E95DBD4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Looking forward</a:t>
            </a:r>
            <a:r>
              <a:rPr lang="en-US" dirty="0"/>
              <a:t>: integrating C</a:t>
            </a:r>
            <a:r>
              <a:rPr lang="en-US" baseline="-25000" dirty="0"/>
              <a:t>4</a:t>
            </a:r>
            <a:r>
              <a:rPr lang="en-US" dirty="0"/>
              <a:t> optimization</a:t>
            </a:r>
          </a:p>
        </p:txBody>
      </p:sp>
      <p:pic>
        <p:nvPicPr>
          <p:cNvPr id="3" name="Picture 2" descr="A diagram of different colored circles">
            <a:extLst>
              <a:ext uri="{FF2B5EF4-FFF2-40B4-BE49-F238E27FC236}">
                <a16:creationId xmlns:a16="http://schemas.microsoft.com/office/drawing/2014/main" id="{0FFD0DC9-38B8-DFDD-6979-30E36E4679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45" b="49990"/>
          <a:stretch>
            <a:fillRect/>
          </a:stretch>
        </p:blipFill>
        <p:spPr>
          <a:xfrm>
            <a:off x="283027" y="3259910"/>
            <a:ext cx="6404879" cy="2324462"/>
          </a:xfrm>
          <a:prstGeom prst="rect">
            <a:avLst/>
          </a:prstGeom>
        </p:spPr>
      </p:pic>
      <p:pic>
        <p:nvPicPr>
          <p:cNvPr id="4" name="Picture 3" descr="A diagram of different colored circles">
            <a:extLst>
              <a:ext uri="{FF2B5EF4-FFF2-40B4-BE49-F238E27FC236}">
                <a16:creationId xmlns:a16="http://schemas.microsoft.com/office/drawing/2014/main" id="{DC1EBB69-FB19-7DC9-9AC1-1C332AE5F0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95" t="38986" b="36604"/>
          <a:stretch>
            <a:fillRect/>
          </a:stretch>
        </p:blipFill>
        <p:spPr>
          <a:xfrm>
            <a:off x="838200" y="2247539"/>
            <a:ext cx="1048683" cy="1012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2E0156-F7D1-731A-3139-FA2F51B4C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055" y="1464888"/>
            <a:ext cx="4825744" cy="482574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5A86FF-589F-E4F8-D5A0-12C11230BBFA}"/>
              </a:ext>
            </a:extLst>
          </p:cNvPr>
          <p:cNvCxnSpPr>
            <a:cxnSpLocks/>
          </p:cNvCxnSpPr>
          <p:nvPr/>
        </p:nvCxnSpPr>
        <p:spPr>
          <a:xfrm flipH="1" flipV="1">
            <a:off x="8257215" y="3385718"/>
            <a:ext cx="864676" cy="969092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iagram of different colored circles">
            <a:extLst>
              <a:ext uri="{FF2B5EF4-FFF2-40B4-BE49-F238E27FC236}">
                <a16:creationId xmlns:a16="http://schemas.microsoft.com/office/drawing/2014/main" id="{931DCAA4-2C7C-D557-3721-A7267DA7DA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44" r="16044" b="-20"/>
          <a:stretch>
            <a:fillRect/>
          </a:stretch>
        </p:blipFill>
        <p:spPr>
          <a:xfrm>
            <a:off x="283026" y="5584371"/>
            <a:ext cx="6404879" cy="3381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E08B71-F0AB-AA18-E9B3-D821A3B03555}"/>
              </a:ext>
            </a:extLst>
          </p:cNvPr>
          <p:cNvSpPr/>
          <p:nvPr/>
        </p:nvSpPr>
        <p:spPr>
          <a:xfrm>
            <a:off x="1134737" y="4032173"/>
            <a:ext cx="451692" cy="39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871D4-EDCB-CB11-7F3C-7F5C31F9D020}"/>
              </a:ext>
            </a:extLst>
          </p:cNvPr>
          <p:cNvSpPr/>
          <p:nvPr/>
        </p:nvSpPr>
        <p:spPr>
          <a:xfrm>
            <a:off x="1986447" y="4403152"/>
            <a:ext cx="536416" cy="4993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1E697-3984-5DD0-1659-6D1092A68351}"/>
              </a:ext>
            </a:extLst>
          </p:cNvPr>
          <p:cNvSpPr/>
          <p:nvPr/>
        </p:nvSpPr>
        <p:spPr>
          <a:xfrm>
            <a:off x="3033773" y="4180114"/>
            <a:ext cx="451692" cy="39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FCF48F-81BE-CD28-AD40-6DBD05E16AF9}"/>
              </a:ext>
            </a:extLst>
          </p:cNvPr>
          <p:cNvSpPr/>
          <p:nvPr/>
        </p:nvSpPr>
        <p:spPr>
          <a:xfrm>
            <a:off x="3949522" y="4510620"/>
            <a:ext cx="451692" cy="39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EE2A80-9C11-F8F8-5E62-C06E9FCC384F}"/>
              </a:ext>
            </a:extLst>
          </p:cNvPr>
          <p:cNvSpPr/>
          <p:nvPr/>
        </p:nvSpPr>
        <p:spPr>
          <a:xfrm>
            <a:off x="4900669" y="3635565"/>
            <a:ext cx="451692" cy="39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F4164D-2764-1ECE-9F5B-F4A48E7AA9FD}"/>
              </a:ext>
            </a:extLst>
          </p:cNvPr>
          <p:cNvSpPr/>
          <p:nvPr/>
        </p:nvSpPr>
        <p:spPr>
          <a:xfrm>
            <a:off x="5781734" y="4250937"/>
            <a:ext cx="451692" cy="39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66B907-3688-7D62-2D5C-D2046C501E84}"/>
              </a:ext>
            </a:extLst>
          </p:cNvPr>
          <p:cNvSpPr/>
          <p:nvPr/>
        </p:nvSpPr>
        <p:spPr>
          <a:xfrm>
            <a:off x="4726897" y="3997548"/>
            <a:ext cx="351879" cy="39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FE5F56-6FFF-DF4C-B539-8175611434C1}"/>
              </a:ext>
            </a:extLst>
          </p:cNvPr>
          <p:cNvSpPr/>
          <p:nvPr/>
        </p:nvSpPr>
        <p:spPr>
          <a:xfrm>
            <a:off x="838200" y="3327684"/>
            <a:ext cx="451692" cy="39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7FD045-780A-9CB0-90CE-F476B998F21F}"/>
              </a:ext>
            </a:extLst>
          </p:cNvPr>
          <p:cNvSpPr txBox="1"/>
          <p:nvPr/>
        </p:nvSpPr>
        <p:spPr>
          <a:xfrm>
            <a:off x="4401214" y="6488668"/>
            <a:ext cx="779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Ezekannagha</a:t>
            </a:r>
            <a:r>
              <a:rPr lang="en-US" dirty="0"/>
              <a:t> and Smith (in prep); Kelley and Smith (in prep); Smith (in review)</a:t>
            </a:r>
          </a:p>
        </p:txBody>
      </p:sp>
    </p:spTree>
    <p:extLst>
      <p:ext uri="{BB962C8B-B14F-4D97-AF65-F5344CB8AC3E}">
        <p14:creationId xmlns:p14="http://schemas.microsoft.com/office/powerpoint/2010/main" val="36464448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CEAC-1BF2-D81C-AFE5-11866F35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4FC8-89DA-7B07-F397-A8D4CF98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Looking forward</a:t>
            </a:r>
            <a:r>
              <a:rPr lang="en-US" dirty="0"/>
              <a:t>: mycorrhizae-CO</a:t>
            </a:r>
            <a:r>
              <a:rPr lang="en-US" baseline="-25000" dirty="0"/>
              <a:t>2</a:t>
            </a:r>
            <a:r>
              <a:rPr lang="en-US" dirty="0"/>
              <a:t> interactions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15F7B2-0932-A85F-B078-142DDFEDB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85" y="2622039"/>
            <a:ext cx="6873421" cy="387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7D4E42-02CD-284A-BEDD-A0736865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627" y="1412512"/>
            <a:ext cx="4463143" cy="44631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246876-A7F1-BE31-06D4-8E29C3C47851}"/>
              </a:ext>
            </a:extLst>
          </p:cNvPr>
          <p:cNvSpPr txBox="1"/>
          <p:nvPr/>
        </p:nvSpPr>
        <p:spPr>
          <a:xfrm>
            <a:off x="9032096" y="6488668"/>
            <a:ext cx="315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Chatterjee and Smith (in prep)</a:t>
            </a:r>
          </a:p>
        </p:txBody>
      </p:sp>
    </p:spTree>
    <p:extLst>
      <p:ext uri="{BB962C8B-B14F-4D97-AF65-F5344CB8AC3E}">
        <p14:creationId xmlns:p14="http://schemas.microsoft.com/office/powerpoint/2010/main" val="445910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21CC-FC52-704C-BE0A-2E233ED6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0733113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21CC-FC52-704C-BE0A-2E233ED6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B14C3-1AC8-DB4E-A580-8EB7A2B1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82624" cy="4351338"/>
          </a:xfrm>
        </p:spPr>
        <p:txBody>
          <a:bodyPr>
            <a:normAutofit/>
          </a:bodyPr>
          <a:lstStyle/>
          <a:p>
            <a:r>
              <a:rPr lang="en-US" sz="4400" dirty="0"/>
              <a:t>Plants aren’t dumb!</a:t>
            </a:r>
          </a:p>
          <a:p>
            <a:pPr lvl="1"/>
            <a:r>
              <a:rPr lang="en-US" sz="3600" dirty="0">
                <a:solidFill>
                  <a:srgbClr val="011893"/>
                </a:solidFill>
              </a:rPr>
              <a:t>Assuming plants don’t dynamically respond to their environment can lead to poor understanding of ecological functioning from individuals to the Earth system</a:t>
            </a:r>
          </a:p>
        </p:txBody>
      </p:sp>
      <p:sp>
        <p:nvSpPr>
          <p:cNvPr id="4" name="&quot;No&quot; Symbol 3">
            <a:extLst>
              <a:ext uri="{FF2B5EF4-FFF2-40B4-BE49-F238E27FC236}">
                <a16:creationId xmlns:a16="http://schemas.microsoft.com/office/drawing/2014/main" id="{C14A22FB-5EB5-0F4A-B405-0F7D97B86B09}"/>
              </a:ext>
            </a:extLst>
          </p:cNvPr>
          <p:cNvSpPr/>
          <p:nvPr/>
        </p:nvSpPr>
        <p:spPr>
          <a:xfrm>
            <a:off x="7620825" y="3043575"/>
            <a:ext cx="3732975" cy="3645243"/>
          </a:xfrm>
          <a:prstGeom prst="noSmoking">
            <a:avLst>
              <a:gd name="adj" fmla="val 599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00F9F-ECA0-2D44-8F84-C87BB603D6EA}"/>
              </a:ext>
            </a:extLst>
          </p:cNvPr>
          <p:cNvSpPr txBox="1"/>
          <p:nvPr/>
        </p:nvSpPr>
        <p:spPr>
          <a:xfrm>
            <a:off x="7935573" y="4481475"/>
            <a:ext cx="31034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Dumb plants</a:t>
            </a:r>
          </a:p>
        </p:txBody>
      </p:sp>
    </p:spTree>
    <p:extLst>
      <p:ext uri="{BB962C8B-B14F-4D97-AF65-F5344CB8AC3E}">
        <p14:creationId xmlns:p14="http://schemas.microsoft.com/office/powerpoint/2010/main" val="9698221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21CC-FC52-704C-BE0A-2E233ED6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B14C3-1AC8-DB4E-A580-8EB7A2B16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Quantified physiological theory can: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dirty="0">
                <a:solidFill>
                  <a:srgbClr val="011893"/>
                </a:solidFill>
              </a:rPr>
              <a:t>Improve mechanistic understanding of physiological processes that underlie higher level responses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dirty="0">
                <a:solidFill>
                  <a:srgbClr val="011893"/>
                </a:solidFill>
              </a:rPr>
              <a:t>Produce more reliable future projections</a:t>
            </a:r>
          </a:p>
        </p:txBody>
      </p:sp>
      <p:pic>
        <p:nvPicPr>
          <p:cNvPr id="6" name="Picture 5" descr="A red flower with green leaves&#10;&#10;Description automatically generated with low confidence">
            <a:extLst>
              <a:ext uri="{FF2B5EF4-FFF2-40B4-BE49-F238E27FC236}">
                <a16:creationId xmlns:a16="http://schemas.microsoft.com/office/drawing/2014/main" id="{C4EB8DE1-6AC1-B149-8CEC-7E8C15343BD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834" y="4001294"/>
            <a:ext cx="1971799" cy="2629065"/>
          </a:xfrm>
          <a:prstGeom prst="rect">
            <a:avLst/>
          </a:prstGeom>
        </p:spPr>
      </p:pic>
      <p:pic>
        <p:nvPicPr>
          <p:cNvPr id="10" name="Picture 9" descr="A picture containing tree, outdoor, plant, forest&#10;&#10;Description automatically generated">
            <a:extLst>
              <a:ext uri="{FF2B5EF4-FFF2-40B4-BE49-F238E27FC236}">
                <a16:creationId xmlns:a16="http://schemas.microsoft.com/office/drawing/2014/main" id="{78E89A93-F457-AC41-B6B6-23B00E11A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162" y="4228932"/>
            <a:ext cx="3325505" cy="2494129"/>
          </a:xfrm>
          <a:prstGeom prst="rect">
            <a:avLst/>
          </a:prstGeom>
        </p:spPr>
      </p:pic>
      <p:pic>
        <p:nvPicPr>
          <p:cNvPr id="12" name="Picture 11" descr="A landscape with hills and trees&#10;&#10;Description automatically generated with low confidence">
            <a:extLst>
              <a:ext uri="{FF2B5EF4-FFF2-40B4-BE49-F238E27FC236}">
                <a16:creationId xmlns:a16="http://schemas.microsoft.com/office/drawing/2014/main" id="{1DD1925E-55CE-8642-BDD4-E0E9D1815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197" y="4228933"/>
            <a:ext cx="3325504" cy="249412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B1D9F7-1F83-A541-BEE8-4FCFF2DD13D5}"/>
              </a:ext>
            </a:extLst>
          </p:cNvPr>
          <p:cNvCxnSpPr>
            <a:stCxn id="6" idx="3"/>
          </p:cNvCxnSpPr>
          <p:nvPr/>
        </p:nvCxnSpPr>
        <p:spPr>
          <a:xfrm flipV="1">
            <a:off x="2976633" y="5315826"/>
            <a:ext cx="1034529" cy="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ED5EFD-422B-E245-97CE-84DF21EA2A81}"/>
              </a:ext>
            </a:extLst>
          </p:cNvPr>
          <p:cNvCxnSpPr/>
          <p:nvPr/>
        </p:nvCxnSpPr>
        <p:spPr>
          <a:xfrm flipV="1">
            <a:off x="7336667" y="5315826"/>
            <a:ext cx="1034529" cy="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C1EC434-7566-5B42-9C59-A8B5D8F7FE38}"/>
              </a:ext>
            </a:extLst>
          </p:cNvPr>
          <p:cNvSpPr txBox="1"/>
          <p:nvPr/>
        </p:nvSpPr>
        <p:spPr>
          <a:xfrm>
            <a:off x="3108204" y="4719224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2400" dirty="0">
                <a:solidFill>
                  <a:srgbClr val="011893"/>
                </a:solidFill>
              </a:rPr>
              <a:t>(x)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F697E4-63D3-3747-9381-15C219E4E13F}"/>
              </a:ext>
            </a:extLst>
          </p:cNvPr>
          <p:cNvSpPr txBox="1"/>
          <p:nvPr/>
        </p:nvSpPr>
        <p:spPr>
          <a:xfrm>
            <a:off x="7524143" y="4719224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2400" dirty="0">
                <a:solidFill>
                  <a:srgbClr val="011893"/>
                </a:solidFill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8397104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9B2D-2822-6D47-B5F1-08CC9995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And ultimately lead to a better understanding of how future ecosystem services will be impacts by global change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B3127F-2BBF-B041-9617-FC8A7E98E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4724" y="2297430"/>
            <a:ext cx="7382552" cy="37376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EFEA93-021D-EF31-93EC-9DEFBCF97AA5}"/>
              </a:ext>
            </a:extLst>
          </p:cNvPr>
          <p:cNvSpPr txBox="1"/>
          <p:nvPr/>
        </p:nvSpPr>
        <p:spPr>
          <a:xfrm>
            <a:off x="9528093" y="6492875"/>
            <a:ext cx="2684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(2024) </a:t>
            </a:r>
            <a:r>
              <a:rPr lang="en-US" i="1" dirty="0"/>
              <a:t>Am J Botany</a:t>
            </a:r>
          </a:p>
        </p:txBody>
      </p:sp>
    </p:spTree>
    <p:extLst>
      <p:ext uri="{BB962C8B-B14F-4D97-AF65-F5344CB8AC3E}">
        <p14:creationId xmlns:p14="http://schemas.microsoft.com/office/powerpoint/2010/main" val="41023639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1004" y="19484"/>
            <a:ext cx="9630770" cy="6838516"/>
          </a:xfrm>
          <a:prstGeom prst="rect">
            <a:avLst/>
          </a:prstGeom>
        </p:spPr>
      </p:pic>
      <p:sp>
        <p:nvSpPr>
          <p:cNvPr id="4" name="Oval Callout 3"/>
          <p:cNvSpPr/>
          <p:nvPr/>
        </p:nvSpPr>
        <p:spPr>
          <a:xfrm>
            <a:off x="7812741" y="2286000"/>
            <a:ext cx="2070847" cy="1452282"/>
          </a:xfrm>
          <a:prstGeom prst="wedgeEllipseCallout">
            <a:avLst>
              <a:gd name="adj1" fmla="val -76028"/>
              <a:gd name="adj2" fmla="val 8472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Thanks!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F0BB1-5183-D24C-9A32-AECF3E7CDD10}"/>
              </a:ext>
            </a:extLst>
          </p:cNvPr>
          <p:cNvSpPr txBox="1"/>
          <p:nvPr/>
        </p:nvSpPr>
        <p:spPr>
          <a:xfrm>
            <a:off x="1460311" y="169588"/>
            <a:ext cx="813025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Presentation available at: 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SmithEcophysLab</a:t>
            </a:r>
            <a:r>
              <a:rPr lang="en-US" sz="2000" dirty="0"/>
              <a:t>/seminar/</a:t>
            </a:r>
          </a:p>
          <a:p>
            <a:endParaRPr lang="en-US" sz="2000" dirty="0"/>
          </a:p>
          <a:p>
            <a:r>
              <a:rPr lang="en-US" sz="2000" dirty="0"/>
              <a:t>Contact: nsmith87@unl.edu</a:t>
            </a:r>
          </a:p>
        </p:txBody>
      </p:sp>
    </p:spTree>
    <p:extLst>
      <p:ext uri="{BB962C8B-B14F-4D97-AF65-F5344CB8AC3E}">
        <p14:creationId xmlns:p14="http://schemas.microsoft.com/office/powerpoint/2010/main" val="406669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1416</Words>
  <Application>Microsoft Macintosh PowerPoint</Application>
  <PresentationFormat>Widescreen</PresentationFormat>
  <Paragraphs>175</Paragraphs>
  <Slides>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Aptos</vt:lpstr>
      <vt:lpstr>Aptos Display</vt:lpstr>
      <vt:lpstr>Arial</vt:lpstr>
      <vt:lpstr>Calibri</vt:lpstr>
      <vt:lpstr>Office Theme</vt:lpstr>
      <vt:lpstr>What does photosynthetic acclimation mean for the future of terrestrial biogeochemical cycling? A CO2 story</vt:lpstr>
      <vt:lpstr>Our lab examines photosynthesis as a regulator of global change impacts on ecosystem services</vt:lpstr>
      <vt:lpstr>Photosynthesis is important! An example…</vt:lpstr>
      <vt:lpstr>Photosynthesis is important! An example…</vt:lpstr>
      <vt:lpstr>Photosynthesis is important! An example…</vt:lpstr>
      <vt:lpstr>Photosynthesis is important! An example…</vt:lpstr>
      <vt:lpstr>But predictions are uncertain!</vt:lpstr>
      <vt:lpstr>But predictions are uncertain!</vt:lpstr>
      <vt:lpstr>This uncertainty is driven by uncertainty in photosynthesis</vt:lpstr>
      <vt:lpstr>Why the uncertainty? Theoretical models for photosynthesis exist</vt:lpstr>
      <vt:lpstr>These produce short term responses that match data</vt:lpstr>
      <vt:lpstr>Why the uncertainty? Long-term responses differ from short-term responses due to acclimation</vt:lpstr>
      <vt:lpstr>PowerPoint Presentation</vt:lpstr>
      <vt:lpstr>Acclimation: an example</vt:lpstr>
      <vt:lpstr>Acclimation: an example</vt:lpstr>
      <vt:lpstr>Acclimation is ubiquitous and well known…</vt:lpstr>
      <vt:lpstr>…and can impact carbon cycling and climate</vt:lpstr>
      <vt:lpstr>Unfortunately, no theoretical model for photosynthetic acclimation exists</vt:lpstr>
      <vt:lpstr>Lack of theory results in…</vt:lpstr>
      <vt:lpstr>Lack of theory results in…</vt:lpstr>
      <vt:lpstr>Lack of theory results in…</vt:lpstr>
      <vt:lpstr>Lack of theory results in…</vt:lpstr>
      <vt:lpstr>So, we developed a mechanistic model of photosynthetic acclimation   Based on optimization and the first principles of plant physiological theory</vt:lpstr>
      <vt:lpstr>Optimization: Least cost theory</vt:lpstr>
      <vt:lpstr>Optimal photosynthesis </vt:lpstr>
      <vt:lpstr>Optimal photosynthesis </vt:lpstr>
      <vt:lpstr>Optimal photosynthesis </vt:lpstr>
      <vt:lpstr>Optimal photosynthesis </vt:lpstr>
      <vt:lpstr>Biochemistry optimization</vt:lpstr>
      <vt:lpstr>Biochemistry trait The maximum rate of Rubisco carboxylation (Vcmax)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can even predict optimal trait strategies</vt:lpstr>
      <vt:lpstr>Ok, great, but now what?</vt:lpstr>
      <vt:lpstr>We can use the theory as a null model to explore acclimation mechanisms</vt:lpstr>
      <vt:lpstr>Let’s tackle some big questions in plant ecophysiology!</vt:lpstr>
      <vt:lpstr>Big questions</vt:lpstr>
      <vt:lpstr>Big questions</vt:lpstr>
      <vt:lpstr>Expected future responses</vt:lpstr>
      <vt:lpstr>PowerPoint Presentation</vt:lpstr>
      <vt:lpstr>Vcmax changes with CO2 in ways expected from optimization</vt:lpstr>
      <vt:lpstr>PowerPoint Presentation</vt:lpstr>
      <vt:lpstr>This generally suggests lower nitrogen demand under future conditions</vt:lpstr>
      <vt:lpstr>Let’s run a model out into the future!</vt:lpstr>
      <vt:lpstr>Photosynthesis increases with elevated CO2 at lower leaf N</vt:lpstr>
      <vt:lpstr>Leaf N reduction is due to a reduction in photosynthetic capacity</vt:lpstr>
      <vt:lpstr>Plants build more leaves and fine roots</vt:lpstr>
      <vt:lpstr>Leaf N savings increases long-term ecosystem carbon stocks</vt:lpstr>
      <vt:lpstr>Need to rethink nutrient limitation in models?</vt:lpstr>
      <vt:lpstr>What does acclimation mean for future terrestrial biogeochemical cycling?</vt:lpstr>
      <vt:lpstr>PowerPoint Presentation</vt:lpstr>
      <vt:lpstr>Looking forward: coupling CO2 responses of light and dark reactions</vt:lpstr>
      <vt:lpstr>Looking forward: a simple theory for understanding photosynthesis-phosphorus relationships</vt:lpstr>
      <vt:lpstr>Looking forward: integrating C4 optimization</vt:lpstr>
      <vt:lpstr>Looking forward: mycorrhizae-CO2 interactions</vt:lpstr>
      <vt:lpstr>Conclusions</vt:lpstr>
      <vt:lpstr>Conclusions</vt:lpstr>
      <vt:lpstr>Conclusions</vt:lpstr>
      <vt:lpstr>And ultimately lead to a better understanding of how future ecosystem services will be impacts by global change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Nick</dc:creator>
  <cp:lastModifiedBy>Smith, Nick</cp:lastModifiedBy>
  <cp:revision>33</cp:revision>
  <dcterms:created xsi:type="dcterms:W3CDTF">2026-05-03T10:49:56Z</dcterms:created>
  <dcterms:modified xsi:type="dcterms:W3CDTF">2026-09-14T14:42:05Z</dcterms:modified>
</cp:coreProperties>
</file>